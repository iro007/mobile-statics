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Times New Roman MT" charset="1" panose="02030502070405020303"/>
      <p:regular r:id="rId39"/>
    </p:embeddedFont>
    <p:embeddedFont>
      <p:font typeface="Times New Roman MT Bold" charset="1" panose="02030802070405020303"/>
      <p:regular r:id="rId40"/>
    </p:embeddedFont>
    <p:embeddedFont>
      <p:font typeface="Open Sans" charset="1" panose="020B0606030504020204"/>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xatakamovil.com/procesadores/que-ghz-procesador-que-no-buen-valor-que-medir-su-potencia?form=MG0AV3" TargetMode="External" Type="http://schemas.openxmlformats.org/officeDocument/2006/relationships/hyperlink"/><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 Id="rId6" Target="../media/image5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png" Type="http://schemas.openxmlformats.org/officeDocument/2006/relationships/image"/><Relationship Id="rId4" Target="../media/image6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50.png" Type="http://schemas.openxmlformats.org/officeDocument/2006/relationships/image"/><Relationship Id="rId4" Target="../media/image51.svg" Type="http://schemas.openxmlformats.org/officeDocument/2006/relationships/image"/><Relationship Id="rId5" Target="../media/image6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jpeg" Type="http://schemas.openxmlformats.org/officeDocument/2006/relationships/image"/><Relationship Id="rId3" Target="../media/image7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398780"/>
            <a:ext cx="18288000" cy="970915"/>
          </a:xfrm>
          <a:prstGeom prst="rect">
            <a:avLst/>
          </a:prstGeom>
        </p:spPr>
        <p:txBody>
          <a:bodyPr anchor="t" rtlCol="false" tIns="0" lIns="0" bIns="0" rIns="0">
            <a:spAutoFit/>
          </a:bodyPr>
          <a:lstStyle/>
          <a:p>
            <a:pPr algn="ctr">
              <a:lnSpc>
                <a:spcPts val="2419"/>
              </a:lnSpc>
            </a:pPr>
            <a:r>
              <a:rPr lang="en-US" sz="2199">
                <a:solidFill>
                  <a:srgbClr val="000000"/>
                </a:solidFill>
                <a:latin typeface="Times New Roman MT"/>
                <a:ea typeface="Times New Roman MT"/>
                <a:cs typeface="Times New Roman MT"/>
                <a:sym typeface="Times New Roman MT"/>
              </a:rPr>
              <a:t>Universidad Central de Venezuela</a:t>
            </a:r>
          </a:p>
          <a:p>
            <a:pPr algn="ctr">
              <a:lnSpc>
                <a:spcPts val="2419"/>
              </a:lnSpc>
            </a:pPr>
            <a:r>
              <a:rPr lang="en-US" sz="2199">
                <a:solidFill>
                  <a:srgbClr val="000000"/>
                </a:solidFill>
                <a:latin typeface="Times New Roman MT"/>
                <a:ea typeface="Times New Roman MT"/>
                <a:cs typeface="Times New Roman MT"/>
                <a:sym typeface="Times New Roman MT"/>
              </a:rPr>
              <a:t>Facultad de Ciencias Económicas y Sociales</a:t>
            </a:r>
          </a:p>
          <a:p>
            <a:pPr algn="ctr">
              <a:lnSpc>
                <a:spcPts val="2419"/>
              </a:lnSpc>
              <a:spcBef>
                <a:spcPct val="0"/>
              </a:spcBef>
            </a:pPr>
            <a:r>
              <a:rPr lang="en-US" sz="2199">
                <a:solidFill>
                  <a:srgbClr val="000000"/>
                </a:solidFill>
                <a:latin typeface="Times New Roman MT"/>
                <a:ea typeface="Times New Roman MT"/>
                <a:cs typeface="Times New Roman MT"/>
                <a:sym typeface="Times New Roman MT"/>
              </a:rPr>
              <a:t>Escuela de Estadística y Ciencias Acturiales  </a:t>
            </a:r>
          </a:p>
        </p:txBody>
      </p:sp>
      <p:sp>
        <p:nvSpPr>
          <p:cNvPr name="TextBox 3" id="3"/>
          <p:cNvSpPr txBox="true"/>
          <p:nvPr/>
        </p:nvSpPr>
        <p:spPr>
          <a:xfrm rot="0">
            <a:off x="0" y="4408170"/>
            <a:ext cx="18288000" cy="994410"/>
          </a:xfrm>
          <a:prstGeom prst="rect">
            <a:avLst/>
          </a:prstGeom>
        </p:spPr>
        <p:txBody>
          <a:bodyPr anchor="t" rtlCol="false" tIns="0" lIns="0" bIns="0" rIns="0">
            <a:spAutoFit/>
          </a:bodyPr>
          <a:lstStyle/>
          <a:p>
            <a:pPr algn="ctr">
              <a:lnSpc>
                <a:spcPts val="3629"/>
              </a:lnSpc>
            </a:pPr>
            <a:r>
              <a:rPr lang="en-US" sz="3299" b="true">
                <a:solidFill>
                  <a:srgbClr val="000000"/>
                </a:solidFill>
                <a:latin typeface="Times New Roman MT Bold"/>
                <a:ea typeface="Times New Roman MT Bold"/>
                <a:cs typeface="Times New Roman MT Bold"/>
                <a:sym typeface="Times New Roman MT Bold"/>
              </a:rPr>
              <a:t>Análisis de Regresión lineal bivariante</a:t>
            </a:r>
          </a:p>
          <a:p>
            <a:pPr algn="ctr">
              <a:lnSpc>
                <a:spcPts val="3629"/>
              </a:lnSpc>
              <a:spcBef>
                <a:spcPct val="0"/>
              </a:spcBef>
            </a:pPr>
            <a:r>
              <a:rPr lang="en-US" b="true" sz="3299">
                <a:solidFill>
                  <a:srgbClr val="000000"/>
                </a:solidFill>
                <a:latin typeface="Times New Roman MT Bold"/>
                <a:ea typeface="Times New Roman MT Bold"/>
                <a:cs typeface="Times New Roman MT Bold"/>
                <a:sym typeface="Times New Roman MT Bold"/>
              </a:rPr>
              <a:t> entre los Ghz del procesador y el precio $ para teléfonos</a:t>
            </a:r>
          </a:p>
        </p:txBody>
      </p:sp>
      <p:sp>
        <p:nvSpPr>
          <p:cNvPr name="TextBox 4" id="4"/>
          <p:cNvSpPr txBox="true"/>
          <p:nvPr/>
        </p:nvSpPr>
        <p:spPr>
          <a:xfrm rot="0">
            <a:off x="15710833" y="7512955"/>
            <a:ext cx="954286" cy="400685"/>
          </a:xfrm>
          <a:prstGeom prst="rect">
            <a:avLst/>
          </a:prstGeom>
        </p:spPr>
        <p:txBody>
          <a:bodyPr anchor="t" rtlCol="false" tIns="0" lIns="0" bIns="0" rIns="0">
            <a:spAutoFit/>
          </a:bodyPr>
          <a:lstStyle/>
          <a:p>
            <a:pPr algn="ctr">
              <a:lnSpc>
                <a:spcPts val="2860"/>
              </a:lnSpc>
              <a:spcBef>
                <a:spcPct val="0"/>
              </a:spcBef>
            </a:pPr>
            <a:r>
              <a:rPr lang="en-US" sz="2200">
                <a:solidFill>
                  <a:srgbClr val="000000"/>
                </a:solidFill>
                <a:latin typeface="Times New Roman MT"/>
                <a:ea typeface="Times New Roman MT"/>
                <a:cs typeface="Times New Roman MT"/>
                <a:sym typeface="Times New Roman MT"/>
              </a:rPr>
              <a:t>Autores</a:t>
            </a:r>
          </a:p>
        </p:txBody>
      </p:sp>
      <p:sp>
        <p:nvSpPr>
          <p:cNvPr name="TextBox 5" id="5"/>
          <p:cNvSpPr txBox="true"/>
          <p:nvPr/>
        </p:nvSpPr>
        <p:spPr>
          <a:xfrm rot="0">
            <a:off x="14082728" y="8081550"/>
            <a:ext cx="1282154" cy="337820"/>
          </a:xfrm>
          <a:prstGeom prst="rect">
            <a:avLst/>
          </a:prstGeom>
        </p:spPr>
        <p:txBody>
          <a:bodyPr anchor="t" rtlCol="false" tIns="0" lIns="0" bIns="0" rIns="0">
            <a:spAutoFit/>
          </a:bodyPr>
          <a:lstStyle/>
          <a:p>
            <a:pPr algn="ctr" marL="0" indent="0" lvl="0">
              <a:lnSpc>
                <a:spcPts val="2470"/>
              </a:lnSpc>
              <a:spcBef>
                <a:spcPct val="0"/>
              </a:spcBef>
            </a:pPr>
            <a:r>
              <a:rPr lang="en-US" sz="1900" strike="noStrike" u="none">
                <a:solidFill>
                  <a:srgbClr val="000000"/>
                </a:solidFill>
                <a:latin typeface="Times New Roman MT"/>
                <a:ea typeface="Times New Roman MT"/>
                <a:cs typeface="Times New Roman MT"/>
                <a:sym typeface="Times New Roman MT"/>
              </a:rPr>
              <a:t>Miguel Sanz</a:t>
            </a:r>
          </a:p>
        </p:txBody>
      </p:sp>
      <p:sp>
        <p:nvSpPr>
          <p:cNvPr name="TextBox 6" id="6"/>
          <p:cNvSpPr txBox="true"/>
          <p:nvPr/>
        </p:nvSpPr>
        <p:spPr>
          <a:xfrm rot="0">
            <a:off x="13801755" y="8590820"/>
            <a:ext cx="1628477" cy="337820"/>
          </a:xfrm>
          <a:prstGeom prst="rect">
            <a:avLst/>
          </a:prstGeom>
        </p:spPr>
        <p:txBody>
          <a:bodyPr anchor="t" rtlCol="false" tIns="0" lIns="0" bIns="0" rIns="0">
            <a:spAutoFit/>
          </a:bodyPr>
          <a:lstStyle/>
          <a:p>
            <a:pPr algn="ctr" marL="0" indent="0" lvl="0">
              <a:lnSpc>
                <a:spcPts val="2470"/>
              </a:lnSpc>
              <a:spcBef>
                <a:spcPct val="0"/>
              </a:spcBef>
            </a:pPr>
            <a:r>
              <a:rPr lang="en-US" sz="1900" strike="noStrike" u="none">
                <a:solidFill>
                  <a:srgbClr val="000000"/>
                </a:solidFill>
                <a:latin typeface="Times New Roman MT"/>
                <a:ea typeface="Times New Roman MT"/>
                <a:cs typeface="Times New Roman MT"/>
                <a:sym typeface="Times New Roman MT"/>
              </a:rPr>
              <a:t>Ignacio Rosales</a:t>
            </a:r>
          </a:p>
        </p:txBody>
      </p:sp>
      <p:sp>
        <p:nvSpPr>
          <p:cNvPr name="TextBox 7" id="7"/>
          <p:cNvSpPr txBox="true"/>
          <p:nvPr/>
        </p:nvSpPr>
        <p:spPr>
          <a:xfrm rot="0">
            <a:off x="0" y="7679960"/>
            <a:ext cx="3430488" cy="382905"/>
          </a:xfrm>
          <a:prstGeom prst="rect">
            <a:avLst/>
          </a:prstGeom>
        </p:spPr>
        <p:txBody>
          <a:bodyPr anchor="t" rtlCol="false" tIns="0" lIns="0" bIns="0" rIns="0">
            <a:spAutoFit/>
          </a:bodyPr>
          <a:lstStyle/>
          <a:p>
            <a:pPr algn="ctr">
              <a:lnSpc>
                <a:spcPts val="2730"/>
              </a:lnSpc>
              <a:spcBef>
                <a:spcPct val="0"/>
              </a:spcBef>
            </a:pPr>
            <a:r>
              <a:rPr lang="en-US" sz="2100">
                <a:solidFill>
                  <a:srgbClr val="000000"/>
                </a:solidFill>
                <a:latin typeface="Times New Roman MT"/>
                <a:ea typeface="Times New Roman MT"/>
                <a:cs typeface="Times New Roman MT"/>
                <a:sym typeface="Times New Roman MT"/>
              </a:rPr>
              <a:t>Docente</a:t>
            </a:r>
          </a:p>
        </p:txBody>
      </p:sp>
      <p:sp>
        <p:nvSpPr>
          <p:cNvPr name="TextBox 8" id="8"/>
          <p:cNvSpPr txBox="true"/>
          <p:nvPr/>
        </p:nvSpPr>
        <p:spPr>
          <a:xfrm rot="0">
            <a:off x="1715244" y="8162079"/>
            <a:ext cx="1351836" cy="337820"/>
          </a:xfrm>
          <a:prstGeom prst="rect">
            <a:avLst/>
          </a:prstGeom>
        </p:spPr>
        <p:txBody>
          <a:bodyPr anchor="t" rtlCol="false" tIns="0" lIns="0" bIns="0" rIns="0">
            <a:spAutoFit/>
          </a:bodyPr>
          <a:lstStyle/>
          <a:p>
            <a:pPr algn="ctr">
              <a:lnSpc>
                <a:spcPts val="2470"/>
              </a:lnSpc>
              <a:spcBef>
                <a:spcPct val="0"/>
              </a:spcBef>
            </a:pPr>
            <a:r>
              <a:rPr lang="en-US" sz="1900">
                <a:solidFill>
                  <a:srgbClr val="000000"/>
                </a:solidFill>
                <a:latin typeface="Times New Roman MT"/>
                <a:ea typeface="Times New Roman MT"/>
                <a:cs typeface="Times New Roman MT"/>
                <a:sym typeface="Times New Roman MT"/>
              </a:rPr>
              <a:t>Sandra Pinto</a:t>
            </a:r>
          </a:p>
        </p:txBody>
      </p:sp>
      <p:sp>
        <p:nvSpPr>
          <p:cNvPr name="Freeform 9" id="9"/>
          <p:cNvSpPr/>
          <p:nvPr/>
        </p:nvSpPr>
        <p:spPr>
          <a:xfrm flipH="false" flipV="false" rot="0">
            <a:off x="1028700" y="427355"/>
            <a:ext cx="2017363" cy="1988126"/>
          </a:xfrm>
          <a:custGeom>
            <a:avLst/>
            <a:gdLst/>
            <a:ahLst/>
            <a:cxnLst/>
            <a:rect r="r" b="b" t="t" l="l"/>
            <a:pathLst>
              <a:path h="1988126" w="2017363">
                <a:moveTo>
                  <a:pt x="0" y="0"/>
                </a:moveTo>
                <a:lnTo>
                  <a:pt x="2017363" y="0"/>
                </a:lnTo>
                <a:lnTo>
                  <a:pt x="2017363" y="1988126"/>
                </a:lnTo>
                <a:lnTo>
                  <a:pt x="0" y="1988126"/>
                </a:lnTo>
                <a:lnTo>
                  <a:pt x="0" y="0"/>
                </a:lnTo>
                <a:close/>
              </a:path>
            </a:pathLst>
          </a:custGeom>
          <a:blipFill>
            <a:blip r:embed="rId2"/>
            <a:stretch>
              <a:fillRect l="0" t="0" r="0" b="0"/>
            </a:stretch>
          </a:blipFill>
        </p:spPr>
      </p:sp>
      <p:sp>
        <p:nvSpPr>
          <p:cNvPr name="Freeform 10" id="10"/>
          <p:cNvSpPr/>
          <p:nvPr/>
        </p:nvSpPr>
        <p:spPr>
          <a:xfrm flipH="false" flipV="false" rot="0">
            <a:off x="14362539" y="427355"/>
            <a:ext cx="3120715" cy="1415880"/>
          </a:xfrm>
          <a:custGeom>
            <a:avLst/>
            <a:gdLst/>
            <a:ahLst/>
            <a:cxnLst/>
            <a:rect r="r" b="b" t="t" l="l"/>
            <a:pathLst>
              <a:path h="1415880" w="3120715">
                <a:moveTo>
                  <a:pt x="0" y="0"/>
                </a:moveTo>
                <a:lnTo>
                  <a:pt x="3120715" y="0"/>
                </a:lnTo>
                <a:lnTo>
                  <a:pt x="3120715" y="1415880"/>
                </a:lnTo>
                <a:lnTo>
                  <a:pt x="0" y="1415880"/>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grpSp>
        <p:nvGrpSpPr>
          <p:cNvPr name="Group 2" id="2"/>
          <p:cNvGrpSpPr/>
          <p:nvPr/>
        </p:nvGrpSpPr>
        <p:grpSpPr>
          <a:xfrm rot="0">
            <a:off x="1311626" y="2516254"/>
            <a:ext cx="7832374" cy="5254493"/>
            <a:chOff x="0" y="0"/>
            <a:chExt cx="10443166" cy="7005991"/>
          </a:xfrm>
        </p:grpSpPr>
        <p:sp>
          <p:nvSpPr>
            <p:cNvPr name="TextBox 3" id="3"/>
            <p:cNvSpPr txBox="true"/>
            <p:nvPr/>
          </p:nvSpPr>
          <p:spPr>
            <a:xfrm rot="0">
              <a:off x="127000" y="969843"/>
              <a:ext cx="10316166" cy="4514877"/>
            </a:xfrm>
            <a:prstGeom prst="rect">
              <a:avLst/>
            </a:prstGeom>
          </p:spPr>
          <p:txBody>
            <a:bodyPr anchor="t" rtlCol="false" tIns="0" lIns="0" bIns="0" rIns="0">
              <a:spAutoFit/>
            </a:bodyPr>
            <a:lstStyle/>
            <a:p>
              <a:pPr algn="l">
                <a:lnSpc>
                  <a:spcPts val="6601"/>
                </a:lnSpc>
              </a:pPr>
              <a:r>
                <a:rPr lang="en-US" sz="6001">
                  <a:solidFill>
                    <a:srgbClr val="FFFFFF"/>
                  </a:solidFill>
                  <a:latin typeface="Open Sans"/>
                  <a:ea typeface="Open Sans"/>
                  <a:cs typeface="Open Sans"/>
                  <a:sym typeface="Open Sans"/>
                </a:rPr>
                <a:t>Análisis de regresión lineal bivariante para los Ghz y el precio de teléfonos</a:t>
              </a:r>
            </a:p>
          </p:txBody>
        </p:sp>
        <p:sp>
          <p:nvSpPr>
            <p:cNvPr name="TextBox 4" id="4"/>
            <p:cNvSpPr txBox="true"/>
            <p:nvPr/>
          </p:nvSpPr>
          <p:spPr>
            <a:xfrm rot="0">
              <a:off x="127000" y="6458832"/>
              <a:ext cx="10316166" cy="547158"/>
            </a:xfrm>
            <a:prstGeom prst="rect">
              <a:avLst/>
            </a:prstGeom>
          </p:spPr>
          <p:txBody>
            <a:bodyPr anchor="t" rtlCol="false" tIns="0" lIns="0" bIns="0" rIns="0">
              <a:spAutoFit/>
            </a:bodyPr>
            <a:lstStyle/>
            <a:p>
              <a:pPr algn="l">
                <a:lnSpc>
                  <a:spcPts val="3499"/>
                </a:lnSpc>
              </a:pPr>
              <a:r>
                <a:rPr lang="en-US" sz="2499">
                  <a:solidFill>
                    <a:srgbClr val="FFFFFF"/>
                  </a:solidFill>
                  <a:latin typeface="Open Sans"/>
                  <a:ea typeface="Open Sans"/>
                  <a:cs typeface="Open Sans"/>
                  <a:sym typeface="Open Sans"/>
                </a:rPr>
                <a:t>Presentación</a:t>
              </a:r>
            </a:p>
          </p:txBody>
        </p:sp>
        <p:sp>
          <p:nvSpPr>
            <p:cNvPr name="TextBox 5" id="5"/>
            <p:cNvSpPr txBox="true"/>
            <p:nvPr/>
          </p:nvSpPr>
          <p:spPr>
            <a:xfrm rot="0">
              <a:off x="127000" y="-47625"/>
              <a:ext cx="10316166" cy="547158"/>
            </a:xfrm>
            <a:prstGeom prst="rect">
              <a:avLst/>
            </a:prstGeom>
          </p:spPr>
          <p:txBody>
            <a:bodyPr anchor="t" rtlCol="false" tIns="0" lIns="0" bIns="0" rIns="0">
              <a:spAutoFit/>
            </a:bodyPr>
            <a:lstStyle/>
            <a:p>
              <a:pPr algn="l">
                <a:lnSpc>
                  <a:spcPts val="3499"/>
                </a:lnSpc>
              </a:pPr>
            </a:p>
          </p:txBody>
        </p:sp>
        <p:sp>
          <p:nvSpPr>
            <p:cNvPr name="AutoShape 6" id="6"/>
            <p:cNvSpPr/>
            <p:nvPr/>
          </p:nvSpPr>
          <p:spPr>
            <a:xfrm>
              <a:off x="0" y="5823238"/>
              <a:ext cx="10316166" cy="0"/>
            </a:xfrm>
            <a:prstGeom prst="line">
              <a:avLst/>
            </a:prstGeom>
            <a:ln cap="flat" w="139700">
              <a:solidFill>
                <a:srgbClr val="FA632A"/>
              </a:solidFill>
              <a:prstDash val="solid"/>
              <a:headEnd type="none" len="sm" w="sm"/>
              <a:tailEnd type="none" len="sm" w="sm"/>
            </a:ln>
          </p:spPr>
        </p:sp>
      </p:grpSp>
      <p:sp>
        <p:nvSpPr>
          <p:cNvPr name="Freeform 7" id="7"/>
          <p:cNvSpPr/>
          <p:nvPr/>
        </p:nvSpPr>
        <p:spPr>
          <a:xfrm flipH="false" flipV="false" rot="0">
            <a:off x="10332067" y="0"/>
            <a:ext cx="7955933" cy="10287000"/>
          </a:xfrm>
          <a:custGeom>
            <a:avLst/>
            <a:gdLst/>
            <a:ahLst/>
            <a:cxnLst/>
            <a:rect r="r" b="b" t="t" l="l"/>
            <a:pathLst>
              <a:path h="10287000" w="7955933">
                <a:moveTo>
                  <a:pt x="0" y="0"/>
                </a:moveTo>
                <a:lnTo>
                  <a:pt x="7955933" y="0"/>
                </a:lnTo>
                <a:lnTo>
                  <a:pt x="7955933" y="10287000"/>
                </a:lnTo>
                <a:lnTo>
                  <a:pt x="0" y="10287000"/>
                </a:lnTo>
                <a:lnTo>
                  <a:pt x="0" y="0"/>
                </a:lnTo>
                <a:close/>
              </a:path>
            </a:pathLst>
          </a:custGeom>
          <a:blipFill>
            <a:blip r:embed="rId2"/>
            <a:stretch>
              <a:fillRect l="-120767" t="0" r="-13770" b="-2032"/>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Freeform 2" id="2"/>
          <p:cNvSpPr/>
          <p:nvPr/>
        </p:nvSpPr>
        <p:spPr>
          <a:xfrm flipH="false" flipV="false" rot="-1658382">
            <a:off x="12828103" y="-740825"/>
            <a:ext cx="7028830" cy="7028830"/>
          </a:xfrm>
          <a:custGeom>
            <a:avLst/>
            <a:gdLst/>
            <a:ahLst/>
            <a:cxnLst/>
            <a:rect r="r" b="b" t="t" l="l"/>
            <a:pathLst>
              <a:path h="7028830" w="7028830">
                <a:moveTo>
                  <a:pt x="0" y="0"/>
                </a:moveTo>
                <a:lnTo>
                  <a:pt x="7028830" y="0"/>
                </a:lnTo>
                <a:lnTo>
                  <a:pt x="7028830" y="7028830"/>
                </a:lnTo>
                <a:lnTo>
                  <a:pt x="0" y="70288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90633" y="500290"/>
            <a:ext cx="11439106" cy="2273300"/>
          </a:xfrm>
          <a:prstGeom prst="rect">
            <a:avLst/>
          </a:prstGeom>
        </p:spPr>
        <p:txBody>
          <a:bodyPr anchor="t" rtlCol="false" tIns="0" lIns="0" bIns="0" rIns="0">
            <a:spAutoFit/>
          </a:bodyPr>
          <a:lstStyle/>
          <a:p>
            <a:pPr algn="l">
              <a:lnSpc>
                <a:spcPts val="15400"/>
              </a:lnSpc>
            </a:pPr>
            <a:r>
              <a:rPr lang="en-US" sz="14000">
                <a:solidFill>
                  <a:srgbClr val="FFFFFF"/>
                </a:solidFill>
                <a:latin typeface="Times New Roman MT"/>
                <a:ea typeface="Times New Roman MT"/>
                <a:cs typeface="Times New Roman MT"/>
                <a:sym typeface="Times New Roman MT"/>
              </a:rPr>
              <a:t>Introducción </a:t>
            </a:r>
          </a:p>
        </p:txBody>
      </p:sp>
      <p:sp>
        <p:nvSpPr>
          <p:cNvPr name="AutoShape 4" id="4"/>
          <p:cNvSpPr/>
          <p:nvPr/>
        </p:nvSpPr>
        <p:spPr>
          <a:xfrm>
            <a:off x="590633" y="2475186"/>
            <a:ext cx="11439106" cy="0"/>
          </a:xfrm>
          <a:prstGeom prst="line">
            <a:avLst/>
          </a:prstGeom>
          <a:ln cap="flat" w="104775">
            <a:solidFill>
              <a:srgbClr val="FA632A"/>
            </a:solidFill>
            <a:prstDash val="solid"/>
            <a:headEnd type="none" len="sm" w="sm"/>
            <a:tailEnd type="none" len="sm" w="sm"/>
          </a:ln>
        </p:spPr>
      </p:sp>
      <p:sp>
        <p:nvSpPr>
          <p:cNvPr name="TextBox 5" id="5"/>
          <p:cNvSpPr txBox="true"/>
          <p:nvPr/>
        </p:nvSpPr>
        <p:spPr>
          <a:xfrm rot="0">
            <a:off x="590633" y="4420955"/>
            <a:ext cx="11439106" cy="469900"/>
          </a:xfrm>
          <a:prstGeom prst="rect">
            <a:avLst/>
          </a:prstGeom>
        </p:spPr>
        <p:txBody>
          <a:bodyPr anchor="t" rtlCol="false" tIns="0" lIns="0" bIns="0" rIns="0">
            <a:spAutoFit/>
          </a:bodyPr>
          <a:lstStyle/>
          <a:p>
            <a:pPr algn="l">
              <a:lnSpc>
                <a:spcPts val="3499"/>
              </a:lnSpc>
            </a:pPr>
          </a:p>
        </p:txBody>
      </p:sp>
      <p:sp>
        <p:nvSpPr>
          <p:cNvPr name="TextBox 6" id="6"/>
          <p:cNvSpPr txBox="true"/>
          <p:nvPr/>
        </p:nvSpPr>
        <p:spPr>
          <a:xfrm rot="0">
            <a:off x="590633" y="3408626"/>
            <a:ext cx="15360601" cy="5010150"/>
          </a:xfrm>
          <a:prstGeom prst="rect">
            <a:avLst/>
          </a:prstGeom>
        </p:spPr>
        <p:txBody>
          <a:bodyPr anchor="t" rtlCol="false" tIns="0" lIns="0" bIns="0" rIns="0">
            <a:spAutoFit/>
          </a:bodyPr>
          <a:lstStyle/>
          <a:p>
            <a:pPr algn="just">
              <a:lnSpc>
                <a:spcPts val="3900"/>
              </a:lnSpc>
            </a:pPr>
            <a:r>
              <a:rPr lang="en-US" sz="3000">
                <a:solidFill>
                  <a:srgbClr val="FFFFFF"/>
                </a:solidFill>
                <a:latin typeface="Times New Roman MT"/>
                <a:ea typeface="Times New Roman MT"/>
                <a:cs typeface="Times New Roman MT"/>
                <a:sym typeface="Times New Roman MT"/>
              </a:rPr>
              <a:t>Para los consumidores y expertos en teléfonos, es esencial encontrar un equilibrio  entre calidad y precio. Factores como Ghz del procesador influyen en esta decisión. A simple vista, parece haber una correlación positiva entre teléfonos más caros y procesadores con más Ghz, pero se requiere un análisis más detallado para confirmar si esta relación es consistente con el modelo de regresión lineal planteado. </a:t>
            </a:r>
          </a:p>
          <a:p>
            <a:pPr algn="just">
              <a:lnSpc>
                <a:spcPts val="3900"/>
              </a:lnSpc>
            </a:pPr>
          </a:p>
          <a:p>
            <a:pPr algn="just">
              <a:lnSpc>
                <a:spcPts val="3900"/>
              </a:lnSpc>
              <a:spcBef>
                <a:spcPct val="0"/>
              </a:spcBef>
            </a:pPr>
            <a:r>
              <a:rPr lang="en-US" sz="3000">
                <a:solidFill>
                  <a:srgbClr val="FFFFFF"/>
                </a:solidFill>
                <a:latin typeface="Times New Roman MT"/>
                <a:ea typeface="Times New Roman MT"/>
                <a:cs typeface="Times New Roman MT"/>
                <a:sym typeface="Times New Roman MT"/>
              </a:rPr>
              <a:t>Este estudio tiene como propósito investigar la relación lineal entre los GHz del procesador y el precio en dólares, el objetivo es proporcionar evidencia empírica sobre el impacto de los GHz en el precio, permitiendo decisiones de compra mejor informadas y entendiendo porque los procesadores más potentes suelen ser más costosos. </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grpSp>
        <p:nvGrpSpPr>
          <p:cNvPr name="Group 2" id="2"/>
          <p:cNvGrpSpPr/>
          <p:nvPr/>
        </p:nvGrpSpPr>
        <p:grpSpPr>
          <a:xfrm rot="0">
            <a:off x="471053" y="256324"/>
            <a:ext cx="13022616" cy="3642841"/>
            <a:chOff x="0" y="0"/>
            <a:chExt cx="17363488" cy="4857121"/>
          </a:xfrm>
        </p:grpSpPr>
        <p:sp>
          <p:nvSpPr>
            <p:cNvPr name="TextBox 3" id="3"/>
            <p:cNvSpPr txBox="true"/>
            <p:nvPr/>
          </p:nvSpPr>
          <p:spPr>
            <a:xfrm rot="0">
              <a:off x="0" y="-180975"/>
              <a:ext cx="17363488" cy="3838575"/>
            </a:xfrm>
            <a:prstGeom prst="rect">
              <a:avLst/>
            </a:prstGeom>
          </p:spPr>
          <p:txBody>
            <a:bodyPr anchor="t" rtlCol="false" tIns="0" lIns="0" bIns="0" rIns="0">
              <a:spAutoFit/>
            </a:bodyPr>
            <a:lstStyle/>
            <a:p>
              <a:pPr algn="l">
                <a:lnSpc>
                  <a:spcPts val="10800"/>
                </a:lnSpc>
              </a:pPr>
              <a:r>
                <a:rPr lang="en-US" sz="9000">
                  <a:solidFill>
                    <a:srgbClr val="FFFFFF"/>
                  </a:solidFill>
                  <a:latin typeface="Times New Roman MT"/>
                  <a:ea typeface="Times New Roman MT"/>
                  <a:cs typeface="Times New Roman MT"/>
                  <a:sym typeface="Times New Roman MT"/>
                </a:rPr>
                <a:t>OBJETIVOS DE LA INVESTIGACION</a:t>
              </a:r>
            </a:p>
          </p:txBody>
        </p:sp>
        <p:sp>
          <p:nvSpPr>
            <p:cNvPr name="TextBox 4" id="4"/>
            <p:cNvSpPr txBox="true"/>
            <p:nvPr/>
          </p:nvSpPr>
          <p:spPr>
            <a:xfrm rot="0">
              <a:off x="0" y="4152271"/>
              <a:ext cx="17363488" cy="704850"/>
            </a:xfrm>
            <a:prstGeom prst="rect">
              <a:avLst/>
            </a:prstGeom>
          </p:spPr>
          <p:txBody>
            <a:bodyPr anchor="t" rtlCol="false" tIns="0" lIns="0" bIns="0" rIns="0">
              <a:spAutoFit/>
            </a:bodyPr>
            <a:lstStyle/>
            <a:p>
              <a:pPr algn="l">
                <a:lnSpc>
                  <a:spcPts val="3900"/>
                </a:lnSpc>
              </a:pPr>
            </a:p>
          </p:txBody>
        </p:sp>
      </p:grpSp>
      <p:sp>
        <p:nvSpPr>
          <p:cNvPr name="TextBox 5" id="5"/>
          <p:cNvSpPr txBox="true"/>
          <p:nvPr/>
        </p:nvSpPr>
        <p:spPr>
          <a:xfrm rot="0">
            <a:off x="1028700" y="3822964"/>
            <a:ext cx="13365191" cy="863600"/>
          </a:xfrm>
          <a:prstGeom prst="rect">
            <a:avLst/>
          </a:prstGeom>
        </p:spPr>
        <p:txBody>
          <a:bodyPr anchor="t" rtlCol="false" tIns="0" lIns="0" bIns="0" rIns="0">
            <a:spAutoFit/>
          </a:bodyPr>
          <a:lstStyle/>
          <a:p>
            <a:pPr algn="l">
              <a:lnSpc>
                <a:spcPts val="3249"/>
              </a:lnSpc>
            </a:pPr>
          </a:p>
          <a:p>
            <a:pPr algn="l" marL="539749" indent="-269875" lvl="1">
              <a:lnSpc>
                <a:spcPts val="3249"/>
              </a:lnSpc>
              <a:buFont typeface="Arial"/>
              <a:buChar char="•"/>
            </a:pPr>
            <a:r>
              <a:rPr lang="en-US" sz="2499">
                <a:solidFill>
                  <a:srgbClr val="FFFFFF"/>
                </a:solidFill>
                <a:latin typeface="Times New Roman MT"/>
                <a:ea typeface="Times New Roman MT"/>
                <a:cs typeface="Times New Roman MT"/>
                <a:sym typeface="Times New Roman MT"/>
              </a:rPr>
              <a:t> </a:t>
            </a:r>
            <a:r>
              <a:rPr lang="en-US" sz="2499">
                <a:solidFill>
                  <a:srgbClr val="FFFFFF"/>
                </a:solidFill>
                <a:latin typeface="Times New Roman MT"/>
                <a:ea typeface="Times New Roman MT"/>
                <a:cs typeface="Times New Roman MT"/>
                <a:sym typeface="Times New Roman MT"/>
              </a:rPr>
              <a:t>Analizar la relación entre los Ghz del procesador y el precio en USD de los teléfonos.</a:t>
            </a:r>
          </a:p>
        </p:txBody>
      </p:sp>
      <p:sp>
        <p:nvSpPr>
          <p:cNvPr name="TextBox 6" id="6"/>
          <p:cNvSpPr txBox="true"/>
          <p:nvPr/>
        </p:nvSpPr>
        <p:spPr>
          <a:xfrm rot="0">
            <a:off x="471053" y="4991364"/>
            <a:ext cx="4013837" cy="1477645"/>
          </a:xfrm>
          <a:prstGeom prst="rect">
            <a:avLst/>
          </a:prstGeom>
        </p:spPr>
        <p:txBody>
          <a:bodyPr anchor="t" rtlCol="false" tIns="0" lIns="0" bIns="0" rIns="0">
            <a:spAutoFit/>
          </a:bodyPr>
          <a:lstStyle/>
          <a:p>
            <a:pPr algn="l">
              <a:lnSpc>
                <a:spcPts val="3769"/>
              </a:lnSpc>
            </a:pPr>
          </a:p>
          <a:p>
            <a:pPr algn="l" marL="626107" indent="-313054" lvl="1">
              <a:lnSpc>
                <a:spcPts val="3769"/>
              </a:lnSpc>
              <a:buFont typeface="Arial"/>
              <a:buChar char="•"/>
            </a:pPr>
            <a:r>
              <a:rPr lang="en-US" b="true" sz="2899">
                <a:solidFill>
                  <a:srgbClr val="FFFFFF"/>
                </a:solidFill>
                <a:latin typeface="Times New Roman MT Bold"/>
                <a:ea typeface="Times New Roman MT Bold"/>
                <a:cs typeface="Times New Roman MT Bold"/>
                <a:sym typeface="Times New Roman MT Bold"/>
              </a:rPr>
              <a:t>Objetivos Específico</a:t>
            </a:r>
          </a:p>
          <a:p>
            <a:pPr algn="l">
              <a:lnSpc>
                <a:spcPts val="3769"/>
              </a:lnSpc>
            </a:pPr>
          </a:p>
        </p:txBody>
      </p:sp>
      <p:sp>
        <p:nvSpPr>
          <p:cNvPr name="TextBox 7" id="7"/>
          <p:cNvSpPr txBox="true"/>
          <p:nvPr/>
        </p:nvSpPr>
        <p:spPr>
          <a:xfrm rot="0">
            <a:off x="1028700" y="5439039"/>
            <a:ext cx="17533943" cy="4140200"/>
          </a:xfrm>
          <a:prstGeom prst="rect">
            <a:avLst/>
          </a:prstGeom>
        </p:spPr>
        <p:txBody>
          <a:bodyPr anchor="t" rtlCol="false" tIns="0" lIns="0" bIns="0" rIns="0">
            <a:spAutoFit/>
          </a:bodyPr>
          <a:lstStyle/>
          <a:p>
            <a:pPr algn="l">
              <a:lnSpc>
                <a:spcPts val="3249"/>
              </a:lnSpc>
            </a:pPr>
          </a:p>
          <a:p>
            <a:pPr algn="l">
              <a:lnSpc>
                <a:spcPts val="3249"/>
              </a:lnSpc>
            </a:pPr>
          </a:p>
          <a:p>
            <a:pPr algn="l" marL="539749" indent="-269875" lvl="1">
              <a:lnSpc>
                <a:spcPts val="3249"/>
              </a:lnSpc>
              <a:buFont typeface="Arial"/>
              <a:buChar char="•"/>
            </a:pPr>
            <a:r>
              <a:rPr lang="en-US" sz="2499">
                <a:solidFill>
                  <a:srgbClr val="FFFFFF"/>
                </a:solidFill>
                <a:latin typeface="Times New Roman MT"/>
                <a:ea typeface="Times New Roman MT"/>
                <a:cs typeface="Times New Roman MT"/>
                <a:sym typeface="Times New Roman MT"/>
              </a:rPr>
              <a:t>Determinar si existe una relación lineal significativa entre los Ghz del procesador y el precio del USD de los teléfonos.</a:t>
            </a:r>
          </a:p>
          <a:p>
            <a:pPr algn="l" marL="539749" indent="-269875" lvl="1">
              <a:lnSpc>
                <a:spcPts val="3249"/>
              </a:lnSpc>
              <a:buFont typeface="Arial"/>
              <a:buChar char="•"/>
            </a:pPr>
            <a:r>
              <a:rPr lang="en-US" sz="2499">
                <a:solidFill>
                  <a:srgbClr val="FFFFFF"/>
                </a:solidFill>
                <a:latin typeface="Times New Roman MT"/>
                <a:ea typeface="Times New Roman MT"/>
                <a:cs typeface="Times New Roman MT"/>
                <a:sym typeface="Times New Roman MT"/>
              </a:rPr>
              <a:t>Calcular el coeficiente de determinación R cuadrado para evaluar cuánto de la variabilidad en el precio en USD es explicada por los Ghz del procesador. </a:t>
            </a:r>
          </a:p>
          <a:p>
            <a:pPr algn="l" marL="539749" indent="-269875" lvl="1">
              <a:lnSpc>
                <a:spcPts val="3249"/>
              </a:lnSpc>
              <a:buFont typeface="Arial"/>
              <a:buChar char="•"/>
            </a:pPr>
            <a:r>
              <a:rPr lang="en-US" sz="2499">
                <a:solidFill>
                  <a:srgbClr val="FFFFFF"/>
                </a:solidFill>
                <a:latin typeface="Times New Roman MT"/>
                <a:ea typeface="Times New Roman MT"/>
                <a:cs typeface="Times New Roman MT"/>
                <a:sym typeface="Times New Roman MT"/>
              </a:rPr>
              <a:t>Proporcionar recomendaciones prácticas basadas en los resultados obtenidos.</a:t>
            </a:r>
          </a:p>
          <a:p>
            <a:pPr algn="l">
              <a:lnSpc>
                <a:spcPts val="3249"/>
              </a:lnSpc>
            </a:pPr>
          </a:p>
          <a:p>
            <a:pPr algn="l">
              <a:lnSpc>
                <a:spcPts val="3249"/>
              </a:lnSpc>
            </a:pPr>
          </a:p>
          <a:p>
            <a:pPr algn="l">
              <a:lnSpc>
                <a:spcPts val="3249"/>
              </a:lnSpc>
            </a:pPr>
            <a:r>
              <a:rPr lang="en-US" sz="2499">
                <a:solidFill>
                  <a:srgbClr val="FFFFFF"/>
                </a:solidFill>
                <a:latin typeface="Times New Roman MT"/>
                <a:ea typeface="Times New Roman MT"/>
                <a:cs typeface="Times New Roman MT"/>
                <a:sym typeface="Times New Roman MT"/>
              </a:rPr>
              <a:t>Este estudio se centrará en hoja de datos scrapeados de la página web Smartprix sobre teléfonos hasta el 2024.</a:t>
            </a:r>
          </a:p>
          <a:p>
            <a:pPr algn="l">
              <a:lnSpc>
                <a:spcPts val="3249"/>
              </a:lnSpc>
            </a:pPr>
          </a:p>
        </p:txBody>
      </p:sp>
      <p:sp>
        <p:nvSpPr>
          <p:cNvPr name="AutoShape 8" id="8">
            <a:extLst>
              <a:ext uri="{C183D7F6-B498-43B3-948B-1728B52AA6E4}">
                <adec:decorative xmlns:adec="http://schemas.microsoft.com/office/drawing/2017/decorative" val="1"/>
              </a:ext>
            </a:extLst>
          </p:cNvPr>
          <p:cNvSpPr/>
          <p:nvPr/>
        </p:nvSpPr>
        <p:spPr>
          <a:xfrm>
            <a:off x="471053" y="3018684"/>
            <a:ext cx="10961021" cy="0"/>
          </a:xfrm>
          <a:prstGeom prst="line">
            <a:avLst/>
          </a:prstGeom>
          <a:ln cap="flat" w="104775">
            <a:solidFill>
              <a:srgbClr val="FA632A"/>
            </a:solidFill>
            <a:prstDash val="solid"/>
            <a:headEnd type="none" len="sm" w="sm"/>
            <a:tailEnd type="none" len="sm" w="sm"/>
          </a:ln>
        </p:spPr>
      </p:sp>
      <p:sp>
        <p:nvSpPr>
          <p:cNvPr name="TextBox 9" id="9"/>
          <p:cNvSpPr txBox="true"/>
          <p:nvPr/>
        </p:nvSpPr>
        <p:spPr>
          <a:xfrm rot="0">
            <a:off x="471053" y="3374019"/>
            <a:ext cx="3653006" cy="525145"/>
          </a:xfrm>
          <a:prstGeom prst="rect">
            <a:avLst/>
          </a:prstGeom>
        </p:spPr>
        <p:txBody>
          <a:bodyPr anchor="t" rtlCol="false" tIns="0" lIns="0" bIns="0" rIns="0">
            <a:spAutoFit/>
          </a:bodyPr>
          <a:lstStyle/>
          <a:p>
            <a:pPr algn="l" marL="626107" indent="-313054" lvl="1">
              <a:lnSpc>
                <a:spcPts val="3769"/>
              </a:lnSpc>
              <a:buFont typeface="Arial"/>
              <a:buChar char="•"/>
            </a:pPr>
            <a:r>
              <a:rPr lang="en-US" b="true" sz="2899">
                <a:solidFill>
                  <a:srgbClr val="FFFFFF"/>
                </a:solidFill>
                <a:latin typeface="Times New Roman MT Bold"/>
                <a:ea typeface="Times New Roman MT Bold"/>
                <a:cs typeface="Times New Roman MT Bold"/>
                <a:sym typeface="Times New Roman MT Bold"/>
              </a:rPr>
              <a:t>Objetivo General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632A"/>
        </a:solidFill>
      </p:bgPr>
    </p:bg>
    <p:spTree>
      <p:nvGrpSpPr>
        <p:cNvPr id="1" name=""/>
        <p:cNvGrpSpPr/>
        <p:nvPr/>
      </p:nvGrpSpPr>
      <p:grpSpPr>
        <a:xfrm>
          <a:off x="0" y="0"/>
          <a:ext cx="0" cy="0"/>
          <a:chOff x="0" y="0"/>
          <a:chExt cx="0" cy="0"/>
        </a:xfrm>
      </p:grpSpPr>
      <p:sp>
        <p:nvSpPr>
          <p:cNvPr name="Freeform 2" id="2" descr="a person is using an iphone with an app on the screen"/>
          <p:cNvSpPr/>
          <p:nvPr/>
        </p:nvSpPr>
        <p:spPr>
          <a:xfrm flipH="false" flipV="false" rot="0">
            <a:off x="0" y="2979419"/>
            <a:ext cx="18288000" cy="5427762"/>
          </a:xfrm>
          <a:custGeom>
            <a:avLst/>
            <a:gdLst/>
            <a:ahLst/>
            <a:cxnLst/>
            <a:rect r="r" b="b" t="t" l="l"/>
            <a:pathLst>
              <a:path h="5427762" w="18288000">
                <a:moveTo>
                  <a:pt x="0" y="0"/>
                </a:moveTo>
                <a:lnTo>
                  <a:pt x="18288000" y="0"/>
                </a:lnTo>
                <a:lnTo>
                  <a:pt x="18288000" y="5427762"/>
                </a:lnTo>
                <a:lnTo>
                  <a:pt x="0" y="5427762"/>
                </a:lnTo>
                <a:lnTo>
                  <a:pt x="0" y="0"/>
                </a:lnTo>
                <a:close/>
              </a:path>
            </a:pathLst>
          </a:custGeom>
          <a:blipFill>
            <a:blip r:embed="rId2"/>
            <a:stretch>
              <a:fillRect l="0" t="-202700" r="0" b="-202700"/>
            </a:stretch>
          </a:blipFill>
        </p:spPr>
      </p:sp>
      <p:grpSp>
        <p:nvGrpSpPr>
          <p:cNvPr name="Group 3" id="3"/>
          <p:cNvGrpSpPr/>
          <p:nvPr/>
        </p:nvGrpSpPr>
        <p:grpSpPr>
          <a:xfrm rot="0">
            <a:off x="2818195" y="1157999"/>
            <a:ext cx="12651610" cy="3642841"/>
            <a:chOff x="0" y="0"/>
            <a:chExt cx="16868813" cy="4857121"/>
          </a:xfrm>
        </p:grpSpPr>
        <p:sp>
          <p:nvSpPr>
            <p:cNvPr name="TextBox 4" id="4"/>
            <p:cNvSpPr txBox="true"/>
            <p:nvPr/>
          </p:nvSpPr>
          <p:spPr>
            <a:xfrm rot="0">
              <a:off x="0" y="-180975"/>
              <a:ext cx="16868813" cy="3838575"/>
            </a:xfrm>
            <a:prstGeom prst="rect">
              <a:avLst/>
            </a:prstGeom>
          </p:spPr>
          <p:txBody>
            <a:bodyPr anchor="t" rtlCol="false" tIns="0" lIns="0" bIns="0" rIns="0">
              <a:spAutoFit/>
            </a:bodyPr>
            <a:lstStyle/>
            <a:p>
              <a:pPr algn="ctr">
                <a:lnSpc>
                  <a:spcPts val="10800"/>
                </a:lnSpc>
              </a:pPr>
              <a:r>
                <a:rPr lang="en-US" sz="9000">
                  <a:solidFill>
                    <a:srgbClr val="14110F"/>
                  </a:solidFill>
                  <a:latin typeface="Times New Roman MT"/>
                  <a:ea typeface="Times New Roman MT"/>
                  <a:cs typeface="Times New Roman MT"/>
                  <a:sym typeface="Times New Roman MT"/>
                </a:rPr>
                <a:t>MARCO TEÓRICO</a:t>
              </a:r>
            </a:p>
            <a:p>
              <a:pPr algn="ctr">
                <a:lnSpc>
                  <a:spcPts val="10800"/>
                </a:lnSpc>
              </a:pPr>
            </a:p>
          </p:txBody>
        </p:sp>
        <p:sp>
          <p:nvSpPr>
            <p:cNvPr name="TextBox 5" id="5"/>
            <p:cNvSpPr txBox="true"/>
            <p:nvPr/>
          </p:nvSpPr>
          <p:spPr>
            <a:xfrm rot="0">
              <a:off x="0" y="4152271"/>
              <a:ext cx="16868813" cy="704850"/>
            </a:xfrm>
            <a:prstGeom prst="rect">
              <a:avLst/>
            </a:prstGeom>
          </p:spPr>
          <p:txBody>
            <a:bodyPr anchor="t" rtlCol="false" tIns="0" lIns="0" bIns="0" rIns="0">
              <a:spAutoFit/>
            </a:bodyPr>
            <a:lstStyle/>
            <a:p>
              <a:pPr algn="ctr">
                <a:lnSpc>
                  <a:spcPts val="390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1637" y="261703"/>
            <a:ext cx="6554038" cy="2676525"/>
          </a:xfrm>
          <a:prstGeom prst="rect">
            <a:avLst/>
          </a:prstGeom>
        </p:spPr>
        <p:txBody>
          <a:bodyPr anchor="t" rtlCol="false" tIns="0" lIns="0" bIns="0" rIns="0">
            <a:spAutoFit/>
          </a:bodyPr>
          <a:lstStyle/>
          <a:p>
            <a:pPr algn="l">
              <a:lnSpc>
                <a:spcPts val="6778"/>
              </a:lnSpc>
            </a:pPr>
            <a:r>
              <a:rPr lang="en-US" sz="5648" b="true">
                <a:solidFill>
                  <a:srgbClr val="14110F"/>
                </a:solidFill>
                <a:latin typeface="Times New Roman MT Bold"/>
                <a:ea typeface="Times New Roman MT Bold"/>
                <a:cs typeface="Times New Roman MT Bold"/>
                <a:sym typeface="Times New Roman MT Bold"/>
              </a:rPr>
              <a:t>MARCO TEÓRICO</a:t>
            </a:r>
          </a:p>
          <a:p>
            <a:pPr algn="l">
              <a:lnSpc>
                <a:spcPts val="6778"/>
              </a:lnSpc>
            </a:pPr>
          </a:p>
          <a:p>
            <a:pPr algn="l">
              <a:lnSpc>
                <a:spcPts val="6778"/>
              </a:lnSpc>
            </a:pPr>
          </a:p>
        </p:txBody>
      </p:sp>
      <p:grpSp>
        <p:nvGrpSpPr>
          <p:cNvPr name="Group 3" id="3"/>
          <p:cNvGrpSpPr/>
          <p:nvPr/>
        </p:nvGrpSpPr>
        <p:grpSpPr>
          <a:xfrm rot="0">
            <a:off x="9144000" y="6385836"/>
            <a:ext cx="8473641" cy="3901164"/>
            <a:chOff x="0" y="0"/>
            <a:chExt cx="11298189" cy="5201552"/>
          </a:xfrm>
        </p:grpSpPr>
        <p:sp>
          <p:nvSpPr>
            <p:cNvPr name="AutoShape 4" id="4"/>
            <p:cNvSpPr/>
            <p:nvPr/>
          </p:nvSpPr>
          <p:spPr>
            <a:xfrm rot="0">
              <a:off x="0" y="0"/>
              <a:ext cx="11298189" cy="5201552"/>
            </a:xfrm>
            <a:prstGeom prst="rect">
              <a:avLst/>
            </a:prstGeom>
            <a:solidFill>
              <a:srgbClr val="FFFFFF"/>
            </a:solidFill>
            <a:ln w="76200" cap="sq">
              <a:solidFill>
                <a:srgbClr val="FA632A"/>
              </a:solidFill>
              <a:prstDash val="dash"/>
              <a:miter/>
            </a:ln>
          </p:spPr>
        </p:sp>
        <p:sp>
          <p:nvSpPr>
            <p:cNvPr name="TextBox 5" id="5"/>
            <p:cNvSpPr txBox="true"/>
            <p:nvPr/>
          </p:nvSpPr>
          <p:spPr>
            <a:xfrm rot="0">
              <a:off x="1444088" y="424551"/>
              <a:ext cx="8704281" cy="4259288"/>
            </a:xfrm>
            <a:prstGeom prst="rect">
              <a:avLst/>
            </a:prstGeom>
          </p:spPr>
          <p:txBody>
            <a:bodyPr anchor="t" rtlCol="false" tIns="0" lIns="0" bIns="0" rIns="0">
              <a:spAutoFit/>
            </a:bodyPr>
            <a:lstStyle/>
            <a:p>
              <a:pPr algn="l">
                <a:lnSpc>
                  <a:spcPts val="2801"/>
                </a:lnSpc>
              </a:pPr>
              <a:r>
                <a:rPr lang="en-US" sz="2154" b="true">
                  <a:solidFill>
                    <a:srgbClr val="000000"/>
                  </a:solidFill>
                  <a:latin typeface="Times New Roman MT Bold"/>
                  <a:ea typeface="Times New Roman MT Bold"/>
                  <a:cs typeface="Times New Roman MT Bold"/>
                  <a:sym typeface="Times New Roman MT Bold"/>
                </a:rPr>
                <a:t>Ejemplo </a:t>
              </a:r>
            </a:p>
            <a:p>
              <a:pPr algn="l">
                <a:lnSpc>
                  <a:spcPts val="2801"/>
                </a:lnSpc>
              </a:pPr>
            </a:p>
            <a:p>
              <a:pPr algn="l" marL="465212" indent="-232606" lvl="1">
                <a:lnSpc>
                  <a:spcPts val="2801"/>
                </a:lnSpc>
                <a:buFont typeface="Arial"/>
                <a:buChar char="•"/>
              </a:pPr>
              <a:r>
                <a:rPr lang="en-US" b="true" sz="2154">
                  <a:solidFill>
                    <a:srgbClr val="000000"/>
                  </a:solidFill>
                  <a:latin typeface="Times New Roman MT Bold"/>
                  <a:ea typeface="Times New Roman MT Bold"/>
                  <a:cs typeface="Times New Roman MT Bold"/>
                  <a:sym typeface="Times New Roman MT Bold"/>
                </a:rPr>
                <a:t>1 Ghz puede re</a:t>
              </a:r>
              <a:r>
                <a:rPr lang="en-US" b="true" sz="2154">
                  <a:solidFill>
                    <a:srgbClr val="000000"/>
                  </a:solidFill>
                  <a:latin typeface="Times New Roman MT Bold"/>
                  <a:ea typeface="Times New Roman MT Bold"/>
                  <a:cs typeface="Times New Roman MT Bold"/>
                  <a:sym typeface="Times New Roman MT Bold"/>
                </a:rPr>
                <a:t>alizar 1.000 millones de ciclos de reloj por segundo.</a:t>
              </a:r>
            </a:p>
            <a:p>
              <a:pPr algn="l">
                <a:lnSpc>
                  <a:spcPts val="2801"/>
                </a:lnSpc>
              </a:pPr>
            </a:p>
            <a:p>
              <a:pPr algn="l">
                <a:lnSpc>
                  <a:spcPts val="2801"/>
                </a:lnSpc>
              </a:pPr>
              <a:r>
                <a:rPr lang="en-US" sz="2154" b="true">
                  <a:solidFill>
                    <a:srgbClr val="000000"/>
                  </a:solidFill>
                  <a:latin typeface="Times New Roman MT Bold"/>
                  <a:ea typeface="Times New Roman MT Bold"/>
                  <a:cs typeface="Times New Roman MT Bold"/>
                  <a:sym typeface="Times New Roman MT Bold"/>
                </a:rPr>
                <a:t>Los procesadores más avanzados cuentan con 3 Ghz en el procesador, un procesador considerado lento cuenta con 1 Ghz o menos. </a:t>
              </a:r>
            </a:p>
            <a:p>
              <a:pPr algn="l">
                <a:lnSpc>
                  <a:spcPts val="2801"/>
                </a:lnSpc>
              </a:pPr>
            </a:p>
          </p:txBody>
        </p:sp>
      </p:grpSp>
      <p:grpSp>
        <p:nvGrpSpPr>
          <p:cNvPr name="Group 6" id="6"/>
          <p:cNvGrpSpPr/>
          <p:nvPr/>
        </p:nvGrpSpPr>
        <p:grpSpPr>
          <a:xfrm rot="0">
            <a:off x="9144000" y="1199357"/>
            <a:ext cx="8370965" cy="5186479"/>
            <a:chOff x="0" y="0"/>
            <a:chExt cx="11161287" cy="6915305"/>
          </a:xfrm>
        </p:grpSpPr>
        <p:grpSp>
          <p:nvGrpSpPr>
            <p:cNvPr name="Group 7" id="7"/>
            <p:cNvGrpSpPr/>
            <p:nvPr/>
          </p:nvGrpSpPr>
          <p:grpSpPr>
            <a:xfrm rot="0">
              <a:off x="0" y="0"/>
              <a:ext cx="11161287" cy="6915305"/>
              <a:chOff x="0" y="0"/>
              <a:chExt cx="43766031" cy="27116539"/>
            </a:xfrm>
          </p:grpSpPr>
          <p:sp>
            <p:nvSpPr>
              <p:cNvPr name="Freeform 8" id="8"/>
              <p:cNvSpPr/>
              <p:nvPr/>
            </p:nvSpPr>
            <p:spPr>
              <a:xfrm flipH="false" flipV="false" rot="0">
                <a:off x="0" y="0"/>
                <a:ext cx="43766029" cy="27116537"/>
              </a:xfrm>
              <a:custGeom>
                <a:avLst/>
                <a:gdLst/>
                <a:ahLst/>
                <a:cxnLst/>
                <a:rect r="r" b="b" t="t" l="l"/>
                <a:pathLst>
                  <a:path h="27116537" w="43766029">
                    <a:moveTo>
                      <a:pt x="0" y="0"/>
                    </a:moveTo>
                    <a:lnTo>
                      <a:pt x="0" y="27116537"/>
                    </a:lnTo>
                    <a:lnTo>
                      <a:pt x="43766029" y="27116537"/>
                    </a:lnTo>
                    <a:lnTo>
                      <a:pt x="43766029" y="0"/>
                    </a:lnTo>
                    <a:lnTo>
                      <a:pt x="0" y="0"/>
                    </a:lnTo>
                    <a:close/>
                    <a:moveTo>
                      <a:pt x="43705072" y="27055580"/>
                    </a:moveTo>
                    <a:lnTo>
                      <a:pt x="59690" y="27055580"/>
                    </a:lnTo>
                    <a:lnTo>
                      <a:pt x="59690" y="59690"/>
                    </a:lnTo>
                    <a:lnTo>
                      <a:pt x="43705072" y="59690"/>
                    </a:lnTo>
                    <a:lnTo>
                      <a:pt x="43705072" y="27055580"/>
                    </a:lnTo>
                    <a:close/>
                  </a:path>
                </a:pathLst>
              </a:custGeom>
              <a:solidFill>
                <a:srgbClr val="191919"/>
              </a:solidFill>
            </p:spPr>
          </p:sp>
        </p:grpSp>
        <p:sp>
          <p:nvSpPr>
            <p:cNvPr name="TextBox 9" id="9"/>
            <p:cNvSpPr txBox="true"/>
            <p:nvPr/>
          </p:nvSpPr>
          <p:spPr>
            <a:xfrm rot="0">
              <a:off x="1496829" y="139680"/>
              <a:ext cx="7760845" cy="3495358"/>
            </a:xfrm>
            <a:prstGeom prst="rect">
              <a:avLst/>
            </a:prstGeom>
          </p:spPr>
          <p:txBody>
            <a:bodyPr anchor="t" rtlCol="false" tIns="0" lIns="0" bIns="0" rIns="0">
              <a:spAutoFit/>
            </a:bodyPr>
            <a:lstStyle/>
            <a:p>
              <a:pPr algn="just">
                <a:lnSpc>
                  <a:spcPts val="2949"/>
                </a:lnSpc>
              </a:pPr>
              <a:r>
                <a:rPr lang="en-US" sz="2268">
                  <a:solidFill>
                    <a:srgbClr val="14110F"/>
                  </a:solidFill>
                  <a:latin typeface="Times New Roman MT"/>
                  <a:ea typeface="Times New Roman MT"/>
                  <a:cs typeface="Times New Roman MT"/>
                  <a:sym typeface="Times New Roman MT"/>
                </a:rPr>
                <a:t>Artículos que hablan sobre los Ghz y el impacto en la potencia de los teléfonos:</a:t>
              </a:r>
            </a:p>
            <a:p>
              <a:pPr algn="just">
                <a:lnSpc>
                  <a:spcPts val="2949"/>
                </a:lnSpc>
              </a:pPr>
            </a:p>
            <a:p>
              <a:pPr algn="just">
                <a:lnSpc>
                  <a:spcPts val="2949"/>
                </a:lnSpc>
              </a:pPr>
              <a:r>
                <a:rPr lang="en-US" sz="2268" u="sng">
                  <a:solidFill>
                    <a:srgbClr val="14110F"/>
                  </a:solidFill>
                  <a:latin typeface="Times New Roman MT"/>
                  <a:ea typeface="Times New Roman MT"/>
                  <a:cs typeface="Times New Roman MT"/>
                  <a:sym typeface="Times New Roman MT"/>
                  <a:hlinkClick r:id="rId2" tooltip="https://www.xatakamovil.com/procesadores/que-ghz-procesador-que-no-buen-valor-que-medir-su-potencia?form=MG0AV3"/>
                </a:rPr>
                <a:t>https://www.xatakamovil.com/procesadores/que-ghz-procesador-que-no-buen-valor-que-medir-su-potencia?form=MG0AV3</a:t>
              </a:r>
            </a:p>
            <a:p>
              <a:pPr algn="just">
                <a:lnSpc>
                  <a:spcPts val="2949"/>
                </a:lnSpc>
              </a:pPr>
            </a:p>
          </p:txBody>
        </p:sp>
        <p:sp>
          <p:nvSpPr>
            <p:cNvPr name="TextBox 10" id="10"/>
            <p:cNvSpPr txBox="true"/>
            <p:nvPr/>
          </p:nvSpPr>
          <p:spPr>
            <a:xfrm rot="0">
              <a:off x="1496829" y="3464060"/>
              <a:ext cx="7760845" cy="2898857"/>
            </a:xfrm>
            <a:prstGeom prst="rect">
              <a:avLst/>
            </a:prstGeom>
          </p:spPr>
          <p:txBody>
            <a:bodyPr anchor="t" rtlCol="false" tIns="0" lIns="0" bIns="0" rIns="0">
              <a:spAutoFit/>
            </a:bodyPr>
            <a:lstStyle/>
            <a:p>
              <a:pPr algn="just">
                <a:lnSpc>
                  <a:spcPts val="3406"/>
                </a:lnSpc>
              </a:pPr>
              <a:r>
                <a:rPr lang="en-US" sz="2620">
                  <a:solidFill>
                    <a:srgbClr val="14110F"/>
                  </a:solidFill>
                  <a:latin typeface="Times New Roman MT"/>
                  <a:ea typeface="Times New Roman MT"/>
                  <a:cs typeface="Times New Roman MT"/>
                  <a:sym typeface="Times New Roman MT"/>
                </a:rPr>
                <a:t>Este artículo escrito por el editor Samuel Fernandez, transmite que las personas constantemente traducen los Ghz en la potencia del teléfono, pero que en realidad no tiene nada que ver. </a:t>
              </a:r>
            </a:p>
          </p:txBody>
        </p:sp>
      </p:grpSp>
      <p:sp>
        <p:nvSpPr>
          <p:cNvPr name="AutoShape 11" id="11"/>
          <p:cNvSpPr/>
          <p:nvPr/>
        </p:nvSpPr>
        <p:spPr>
          <a:xfrm>
            <a:off x="-2874117" y="1303121"/>
            <a:ext cx="10436645" cy="0"/>
          </a:xfrm>
          <a:prstGeom prst="line">
            <a:avLst/>
          </a:prstGeom>
          <a:ln cap="flat" w="38100">
            <a:solidFill>
              <a:srgbClr val="FA632A"/>
            </a:solidFill>
            <a:prstDash val="solid"/>
            <a:headEnd type="none" len="sm" w="sm"/>
            <a:tailEnd type="none" len="sm" w="sm"/>
          </a:ln>
        </p:spPr>
      </p:sp>
      <p:sp>
        <p:nvSpPr>
          <p:cNvPr name="AutoShape 12" id="12"/>
          <p:cNvSpPr/>
          <p:nvPr/>
        </p:nvSpPr>
        <p:spPr>
          <a:xfrm flipV="true">
            <a:off x="-2505788" y="1454509"/>
            <a:ext cx="11173467" cy="0"/>
          </a:xfrm>
          <a:prstGeom prst="line">
            <a:avLst/>
          </a:prstGeom>
          <a:ln cap="flat" w="38100">
            <a:solidFill>
              <a:srgbClr val="FA632A"/>
            </a:solidFill>
            <a:prstDash val="solid"/>
            <a:headEnd type="none" len="sm" w="sm"/>
            <a:tailEnd type="none" len="sm" w="sm"/>
          </a:ln>
        </p:spPr>
      </p:sp>
      <p:sp>
        <p:nvSpPr>
          <p:cNvPr name="Freeform 13" id="13"/>
          <p:cNvSpPr/>
          <p:nvPr/>
        </p:nvSpPr>
        <p:spPr>
          <a:xfrm flipH="false" flipV="false" rot="1029333">
            <a:off x="7967696" y="2324399"/>
            <a:ext cx="1880885" cy="1909528"/>
          </a:xfrm>
          <a:custGeom>
            <a:avLst/>
            <a:gdLst/>
            <a:ahLst/>
            <a:cxnLst/>
            <a:rect r="r" b="b" t="t" l="l"/>
            <a:pathLst>
              <a:path h="1909528" w="1880885">
                <a:moveTo>
                  <a:pt x="0" y="0"/>
                </a:moveTo>
                <a:lnTo>
                  <a:pt x="1880885" y="0"/>
                </a:lnTo>
                <a:lnTo>
                  <a:pt x="1880885" y="1909528"/>
                </a:lnTo>
                <a:lnTo>
                  <a:pt x="0" y="1909528"/>
                </a:lnTo>
                <a:lnTo>
                  <a:pt x="0" y="0"/>
                </a:lnTo>
                <a:close/>
              </a:path>
            </a:pathLst>
          </a:custGeom>
          <a:blipFill>
            <a:blip r:embed="rId3"/>
            <a:stretch>
              <a:fillRect l="0" t="0" r="0" b="0"/>
            </a:stretch>
          </a:blipFill>
        </p:spPr>
      </p:sp>
      <p:grpSp>
        <p:nvGrpSpPr>
          <p:cNvPr name="Group 14" id="14"/>
          <p:cNvGrpSpPr/>
          <p:nvPr/>
        </p:nvGrpSpPr>
        <p:grpSpPr>
          <a:xfrm rot="0">
            <a:off x="782679" y="2089479"/>
            <a:ext cx="7638979" cy="8432441"/>
            <a:chOff x="0" y="0"/>
            <a:chExt cx="10185305" cy="11243254"/>
          </a:xfrm>
        </p:grpSpPr>
        <p:grpSp>
          <p:nvGrpSpPr>
            <p:cNvPr name="Group 15" id="15"/>
            <p:cNvGrpSpPr/>
            <p:nvPr/>
          </p:nvGrpSpPr>
          <p:grpSpPr>
            <a:xfrm rot="0">
              <a:off x="0" y="0"/>
              <a:ext cx="10185305" cy="2889784"/>
              <a:chOff x="0" y="0"/>
              <a:chExt cx="44110892" cy="12515182"/>
            </a:xfrm>
          </p:grpSpPr>
          <p:sp>
            <p:nvSpPr>
              <p:cNvPr name="Freeform 16" id="16"/>
              <p:cNvSpPr/>
              <p:nvPr/>
            </p:nvSpPr>
            <p:spPr>
              <a:xfrm flipH="false" flipV="false" rot="0">
                <a:off x="0" y="0"/>
                <a:ext cx="44110892" cy="12515182"/>
              </a:xfrm>
              <a:custGeom>
                <a:avLst/>
                <a:gdLst/>
                <a:ahLst/>
                <a:cxnLst/>
                <a:rect r="r" b="b" t="t" l="l"/>
                <a:pathLst>
                  <a:path h="12515182" w="44110892">
                    <a:moveTo>
                      <a:pt x="0" y="0"/>
                    </a:moveTo>
                    <a:lnTo>
                      <a:pt x="0" y="12515182"/>
                    </a:lnTo>
                    <a:lnTo>
                      <a:pt x="44110892" y="12515182"/>
                    </a:lnTo>
                    <a:lnTo>
                      <a:pt x="44110892" y="0"/>
                    </a:lnTo>
                    <a:lnTo>
                      <a:pt x="0" y="0"/>
                    </a:lnTo>
                    <a:close/>
                    <a:moveTo>
                      <a:pt x="44049931" y="12454222"/>
                    </a:moveTo>
                    <a:lnTo>
                      <a:pt x="59690" y="12454222"/>
                    </a:lnTo>
                    <a:lnTo>
                      <a:pt x="59690" y="59690"/>
                    </a:lnTo>
                    <a:lnTo>
                      <a:pt x="44049931" y="59690"/>
                    </a:lnTo>
                    <a:lnTo>
                      <a:pt x="44049931" y="12454222"/>
                    </a:lnTo>
                    <a:close/>
                  </a:path>
                </a:pathLst>
              </a:custGeom>
              <a:solidFill>
                <a:srgbClr val="191919"/>
              </a:solidFill>
            </p:spPr>
          </p:sp>
        </p:grpSp>
        <p:sp>
          <p:nvSpPr>
            <p:cNvPr name="TextBox 17" id="17"/>
            <p:cNvSpPr txBox="true"/>
            <p:nvPr/>
          </p:nvSpPr>
          <p:spPr>
            <a:xfrm rot="0">
              <a:off x="1414332" y="92302"/>
              <a:ext cx="6840272" cy="2797482"/>
            </a:xfrm>
            <a:prstGeom prst="rect">
              <a:avLst/>
            </a:prstGeom>
          </p:spPr>
          <p:txBody>
            <a:bodyPr anchor="t" rtlCol="false" tIns="0" lIns="0" bIns="0" rIns="0">
              <a:spAutoFit/>
            </a:bodyPr>
            <a:lstStyle/>
            <a:p>
              <a:pPr algn="just">
                <a:lnSpc>
                  <a:spcPts val="3338"/>
                </a:lnSpc>
              </a:pPr>
              <a:r>
                <a:rPr lang="en-US" sz="2567">
                  <a:solidFill>
                    <a:srgbClr val="14110F"/>
                  </a:solidFill>
                  <a:latin typeface="Times New Roman MT"/>
                  <a:ea typeface="Times New Roman MT"/>
                  <a:cs typeface="Times New Roman MT"/>
                  <a:sym typeface="Times New Roman MT"/>
                </a:rPr>
                <a:t>Modelo regresión lineal bivariante para un archivo de datos con información sobre características de modelos de teléfonos</a:t>
              </a:r>
            </a:p>
            <a:p>
              <a:pPr algn="just">
                <a:lnSpc>
                  <a:spcPts val="3338"/>
                </a:lnSpc>
              </a:pPr>
            </a:p>
          </p:txBody>
        </p:sp>
        <p:grpSp>
          <p:nvGrpSpPr>
            <p:cNvPr name="Group 18" id="18"/>
            <p:cNvGrpSpPr/>
            <p:nvPr/>
          </p:nvGrpSpPr>
          <p:grpSpPr>
            <a:xfrm rot="0">
              <a:off x="0" y="2889784"/>
              <a:ext cx="10185305" cy="4230168"/>
              <a:chOff x="0" y="0"/>
              <a:chExt cx="44110892" cy="18320166"/>
            </a:xfrm>
          </p:grpSpPr>
          <p:sp>
            <p:nvSpPr>
              <p:cNvPr name="Freeform 19" id="19"/>
              <p:cNvSpPr/>
              <p:nvPr/>
            </p:nvSpPr>
            <p:spPr>
              <a:xfrm flipH="false" flipV="false" rot="0">
                <a:off x="0" y="0"/>
                <a:ext cx="44110892" cy="18320165"/>
              </a:xfrm>
              <a:custGeom>
                <a:avLst/>
                <a:gdLst/>
                <a:ahLst/>
                <a:cxnLst/>
                <a:rect r="r" b="b" t="t" l="l"/>
                <a:pathLst>
                  <a:path h="18320165" w="44110892">
                    <a:moveTo>
                      <a:pt x="0" y="0"/>
                    </a:moveTo>
                    <a:lnTo>
                      <a:pt x="0" y="18320165"/>
                    </a:lnTo>
                    <a:lnTo>
                      <a:pt x="44110892" y="18320165"/>
                    </a:lnTo>
                    <a:lnTo>
                      <a:pt x="44110892" y="0"/>
                    </a:lnTo>
                    <a:lnTo>
                      <a:pt x="0" y="0"/>
                    </a:lnTo>
                    <a:close/>
                    <a:moveTo>
                      <a:pt x="44049931" y="18259206"/>
                    </a:moveTo>
                    <a:lnTo>
                      <a:pt x="59690" y="18259206"/>
                    </a:lnTo>
                    <a:lnTo>
                      <a:pt x="59690" y="59690"/>
                    </a:lnTo>
                    <a:lnTo>
                      <a:pt x="44049931" y="59690"/>
                    </a:lnTo>
                    <a:lnTo>
                      <a:pt x="44049931" y="18259206"/>
                    </a:lnTo>
                    <a:close/>
                  </a:path>
                </a:pathLst>
              </a:custGeom>
              <a:solidFill>
                <a:srgbClr val="191919"/>
              </a:solidFill>
            </p:spPr>
          </p:sp>
        </p:grpSp>
        <p:grpSp>
          <p:nvGrpSpPr>
            <p:cNvPr name="Group 20" id="20"/>
            <p:cNvGrpSpPr/>
            <p:nvPr/>
          </p:nvGrpSpPr>
          <p:grpSpPr>
            <a:xfrm rot="0">
              <a:off x="0" y="7119952"/>
              <a:ext cx="10185305" cy="4001568"/>
              <a:chOff x="0" y="0"/>
              <a:chExt cx="44110892" cy="17330136"/>
            </a:xfrm>
          </p:grpSpPr>
          <p:sp>
            <p:nvSpPr>
              <p:cNvPr name="Freeform 21" id="21"/>
              <p:cNvSpPr/>
              <p:nvPr/>
            </p:nvSpPr>
            <p:spPr>
              <a:xfrm flipH="false" flipV="false" rot="0">
                <a:off x="0" y="0"/>
                <a:ext cx="44110892" cy="17330136"/>
              </a:xfrm>
              <a:custGeom>
                <a:avLst/>
                <a:gdLst/>
                <a:ahLst/>
                <a:cxnLst/>
                <a:rect r="r" b="b" t="t" l="l"/>
                <a:pathLst>
                  <a:path h="17330136" w="44110892">
                    <a:moveTo>
                      <a:pt x="0" y="0"/>
                    </a:moveTo>
                    <a:lnTo>
                      <a:pt x="0" y="17330136"/>
                    </a:lnTo>
                    <a:lnTo>
                      <a:pt x="44110892" y="17330136"/>
                    </a:lnTo>
                    <a:lnTo>
                      <a:pt x="44110892" y="0"/>
                    </a:lnTo>
                    <a:lnTo>
                      <a:pt x="0" y="0"/>
                    </a:lnTo>
                    <a:close/>
                    <a:moveTo>
                      <a:pt x="44049931" y="17269177"/>
                    </a:moveTo>
                    <a:lnTo>
                      <a:pt x="59690" y="17269177"/>
                    </a:lnTo>
                    <a:lnTo>
                      <a:pt x="59690" y="59690"/>
                    </a:lnTo>
                    <a:lnTo>
                      <a:pt x="44049931" y="59690"/>
                    </a:lnTo>
                    <a:lnTo>
                      <a:pt x="44049931" y="17269177"/>
                    </a:lnTo>
                    <a:close/>
                  </a:path>
                </a:pathLst>
              </a:custGeom>
              <a:solidFill>
                <a:srgbClr val="191919"/>
              </a:solidFill>
            </p:spPr>
          </p:sp>
        </p:grpSp>
        <p:sp>
          <p:nvSpPr>
            <p:cNvPr name="TextBox 22" id="22"/>
            <p:cNvSpPr txBox="true"/>
            <p:nvPr/>
          </p:nvSpPr>
          <p:spPr>
            <a:xfrm rot="0">
              <a:off x="877455" y="3319027"/>
              <a:ext cx="8430395" cy="3295481"/>
            </a:xfrm>
            <a:prstGeom prst="rect">
              <a:avLst/>
            </a:prstGeom>
          </p:spPr>
          <p:txBody>
            <a:bodyPr anchor="t" rtlCol="false" tIns="0" lIns="0" bIns="0" rIns="0">
              <a:spAutoFit/>
            </a:bodyPr>
            <a:lstStyle/>
            <a:p>
              <a:pPr algn="just">
                <a:lnSpc>
                  <a:spcPts val="3282"/>
                </a:lnSpc>
              </a:pPr>
              <a:r>
                <a:rPr lang="en-US" sz="2524">
                  <a:solidFill>
                    <a:srgbClr val="14110F"/>
                  </a:solidFill>
                  <a:latin typeface="Times New Roman MT"/>
                  <a:ea typeface="Times New Roman MT"/>
                  <a:cs typeface="Times New Roman MT"/>
                  <a:sym typeface="Times New Roman MT"/>
                </a:rPr>
                <a:t>Un modelo de regresión lineal bivariante busca cuantificar la relación entre dos variables, una dependiente y una independiente. En este caso la variable dependiente será el precio en dólares y la independiente será Ghz del procesador. </a:t>
              </a:r>
            </a:p>
          </p:txBody>
        </p:sp>
        <p:sp>
          <p:nvSpPr>
            <p:cNvPr name="TextBox 23" id="23"/>
            <p:cNvSpPr txBox="true"/>
            <p:nvPr/>
          </p:nvSpPr>
          <p:spPr>
            <a:xfrm rot="0">
              <a:off x="563012" y="7546353"/>
              <a:ext cx="8744838" cy="3696902"/>
            </a:xfrm>
            <a:prstGeom prst="rect">
              <a:avLst/>
            </a:prstGeom>
          </p:spPr>
          <p:txBody>
            <a:bodyPr anchor="t" rtlCol="false" tIns="0" lIns="0" bIns="0" rIns="0">
              <a:spAutoFit/>
            </a:bodyPr>
            <a:lstStyle/>
            <a:p>
              <a:pPr algn="just">
                <a:lnSpc>
                  <a:spcPts val="3166"/>
                </a:lnSpc>
              </a:pPr>
              <a:r>
                <a:rPr lang="en-US" sz="2435">
                  <a:solidFill>
                    <a:srgbClr val="14110F"/>
                  </a:solidFill>
                  <a:latin typeface="Times New Roman MT"/>
                  <a:ea typeface="Times New Roman MT"/>
                  <a:cs typeface="Times New Roman MT"/>
                  <a:sym typeface="Times New Roman MT"/>
                </a:rPr>
                <a:t>Los Ghz del procesador son una medida de la velocidad a la que el procesador puede realizar ciclos de reloj. Un ciclo de reloj es una unidad básica de tiempo en la que el procesador puede ejecutar una instrucción o una parte de una instrucción. </a:t>
              </a:r>
            </a:p>
            <a:p>
              <a:pPr algn="just">
                <a:lnSpc>
                  <a:spcPts val="3166"/>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632A"/>
        </a:solidFill>
      </p:bgPr>
    </p:bg>
    <p:spTree>
      <p:nvGrpSpPr>
        <p:cNvPr id="1" name=""/>
        <p:cNvGrpSpPr/>
        <p:nvPr/>
      </p:nvGrpSpPr>
      <p:grpSpPr>
        <a:xfrm>
          <a:off x="0" y="0"/>
          <a:ext cx="0" cy="0"/>
          <a:chOff x="0" y="0"/>
          <a:chExt cx="0" cy="0"/>
        </a:xfrm>
      </p:grpSpPr>
      <p:sp>
        <p:nvSpPr>
          <p:cNvPr name="TextBox 2" id="2"/>
          <p:cNvSpPr txBox="true"/>
          <p:nvPr/>
        </p:nvSpPr>
        <p:spPr>
          <a:xfrm rot="0">
            <a:off x="-1290803" y="379198"/>
            <a:ext cx="20238905" cy="1971675"/>
          </a:xfrm>
          <a:prstGeom prst="rect">
            <a:avLst/>
          </a:prstGeom>
        </p:spPr>
        <p:txBody>
          <a:bodyPr anchor="t" rtlCol="false" tIns="0" lIns="0" bIns="0" rIns="0">
            <a:spAutoFit/>
          </a:bodyPr>
          <a:lstStyle/>
          <a:p>
            <a:pPr algn="ctr">
              <a:lnSpc>
                <a:spcPts val="13728"/>
              </a:lnSpc>
            </a:pPr>
            <a:r>
              <a:rPr lang="en-US" sz="11440">
                <a:solidFill>
                  <a:srgbClr val="FFFFFF"/>
                </a:solidFill>
                <a:latin typeface="Times New Roman MT"/>
                <a:ea typeface="Times New Roman MT"/>
                <a:cs typeface="Times New Roman MT"/>
                <a:sym typeface="Times New Roman MT"/>
              </a:rPr>
              <a:t>Pregunta Retórica</a:t>
            </a:r>
          </a:p>
        </p:txBody>
      </p:sp>
      <p:sp>
        <p:nvSpPr>
          <p:cNvPr name="AutoShape 3" id="3"/>
          <p:cNvSpPr/>
          <p:nvPr/>
        </p:nvSpPr>
        <p:spPr>
          <a:xfrm>
            <a:off x="-2212983" y="2284198"/>
            <a:ext cx="21161085" cy="0"/>
          </a:xfrm>
          <a:prstGeom prst="line">
            <a:avLst/>
          </a:prstGeom>
          <a:ln cap="flat" w="133350">
            <a:solidFill>
              <a:srgbClr val="14110F"/>
            </a:solidFill>
            <a:prstDash val="solid"/>
            <a:headEnd type="none" len="sm" w="sm"/>
            <a:tailEnd type="none" len="sm" w="sm"/>
          </a:ln>
        </p:spPr>
      </p:sp>
      <p:sp>
        <p:nvSpPr>
          <p:cNvPr name="Freeform 4" id="4"/>
          <p:cNvSpPr/>
          <p:nvPr/>
        </p:nvSpPr>
        <p:spPr>
          <a:xfrm flipH="false" flipV="false" rot="0">
            <a:off x="13909825" y="-155179"/>
            <a:ext cx="2671011" cy="4114800"/>
          </a:xfrm>
          <a:custGeom>
            <a:avLst/>
            <a:gdLst/>
            <a:ahLst/>
            <a:cxnLst/>
            <a:rect r="r" b="b" t="t" l="l"/>
            <a:pathLst>
              <a:path h="4114800" w="2671011">
                <a:moveTo>
                  <a:pt x="0" y="0"/>
                </a:moveTo>
                <a:lnTo>
                  <a:pt x="2671010" y="0"/>
                </a:lnTo>
                <a:lnTo>
                  <a:pt x="267101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290803" y="3845321"/>
            <a:ext cx="20238905" cy="695454"/>
          </a:xfrm>
          <a:prstGeom prst="rect">
            <a:avLst/>
          </a:prstGeom>
        </p:spPr>
        <p:txBody>
          <a:bodyPr anchor="t" rtlCol="false" tIns="0" lIns="0" bIns="0" rIns="0">
            <a:spAutoFit/>
          </a:bodyPr>
          <a:lstStyle/>
          <a:p>
            <a:pPr algn="l">
              <a:lnSpc>
                <a:spcPts val="4957"/>
              </a:lnSpc>
            </a:pPr>
          </a:p>
        </p:txBody>
      </p:sp>
      <p:sp>
        <p:nvSpPr>
          <p:cNvPr name="TextBox 6" id="6"/>
          <p:cNvSpPr txBox="true"/>
          <p:nvPr/>
        </p:nvSpPr>
        <p:spPr>
          <a:xfrm rot="0">
            <a:off x="1792623" y="5048250"/>
            <a:ext cx="14788212" cy="2579975"/>
          </a:xfrm>
          <a:prstGeom prst="rect">
            <a:avLst/>
          </a:prstGeom>
        </p:spPr>
        <p:txBody>
          <a:bodyPr anchor="t" rtlCol="false" tIns="0" lIns="0" bIns="0" rIns="0">
            <a:spAutoFit/>
          </a:bodyPr>
          <a:lstStyle/>
          <a:p>
            <a:pPr algn="ctr">
              <a:lnSpc>
                <a:spcPts val="4033"/>
              </a:lnSpc>
              <a:spcBef>
                <a:spcPct val="0"/>
              </a:spcBef>
            </a:pPr>
            <a:r>
              <a:rPr lang="en-US" b="true" sz="3102">
                <a:solidFill>
                  <a:srgbClr val="000000"/>
                </a:solidFill>
                <a:latin typeface="Times New Roman MT Bold"/>
                <a:ea typeface="Times New Roman MT Bold"/>
                <a:cs typeface="Times New Roman MT Bold"/>
                <a:sym typeface="Times New Roman MT Bold"/>
              </a:rPr>
              <a:t>Entonces si la mayoría del las personas traduce los Ghz en potencia ¿Tendría sentido que las marcas inflen los precios de los teléfonos en función del número de Ghz que tenga? El modelo planteado a continuación buscará ver que tanto explica la variable de los Ghz a el precio de los teléfonos. </a:t>
            </a:r>
          </a:p>
          <a:p>
            <a:pPr algn="ctr">
              <a:lnSpc>
                <a:spcPts val="4033"/>
              </a:lnSpc>
              <a:spcBef>
                <a:spcPct val="0"/>
              </a:spcBef>
            </a:pPr>
          </a:p>
        </p:txBody>
      </p:sp>
      <p:sp>
        <p:nvSpPr>
          <p:cNvPr name="Freeform 7" id="7"/>
          <p:cNvSpPr/>
          <p:nvPr/>
        </p:nvSpPr>
        <p:spPr>
          <a:xfrm flipH="false" flipV="false" rot="-10800000">
            <a:off x="752468" y="0"/>
            <a:ext cx="2671011" cy="4114800"/>
          </a:xfrm>
          <a:custGeom>
            <a:avLst/>
            <a:gdLst/>
            <a:ahLst/>
            <a:cxnLst/>
            <a:rect r="r" b="b" t="t" l="l"/>
            <a:pathLst>
              <a:path h="4114800" w="2671011">
                <a:moveTo>
                  <a:pt x="0" y="0"/>
                </a:moveTo>
                <a:lnTo>
                  <a:pt x="2671011" y="0"/>
                </a:lnTo>
                <a:lnTo>
                  <a:pt x="267101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7137" y="3139688"/>
            <a:ext cx="14729346" cy="4007624"/>
            <a:chOff x="0" y="0"/>
            <a:chExt cx="59817581" cy="16275425"/>
          </a:xfrm>
        </p:grpSpPr>
        <p:sp>
          <p:nvSpPr>
            <p:cNvPr name="Freeform 3" id="3"/>
            <p:cNvSpPr/>
            <p:nvPr/>
          </p:nvSpPr>
          <p:spPr>
            <a:xfrm flipH="false" flipV="false" rot="0">
              <a:off x="0" y="0"/>
              <a:ext cx="59817583" cy="16275425"/>
            </a:xfrm>
            <a:custGeom>
              <a:avLst/>
              <a:gdLst/>
              <a:ahLst/>
              <a:cxnLst/>
              <a:rect r="r" b="b" t="t" l="l"/>
              <a:pathLst>
                <a:path h="16275425" w="59817583">
                  <a:moveTo>
                    <a:pt x="0" y="0"/>
                  </a:moveTo>
                  <a:lnTo>
                    <a:pt x="0" y="16275425"/>
                  </a:lnTo>
                  <a:lnTo>
                    <a:pt x="59817583" y="16275425"/>
                  </a:lnTo>
                  <a:lnTo>
                    <a:pt x="59817583" y="0"/>
                  </a:lnTo>
                  <a:lnTo>
                    <a:pt x="0" y="0"/>
                  </a:lnTo>
                  <a:close/>
                  <a:moveTo>
                    <a:pt x="59756619" y="16214465"/>
                  </a:moveTo>
                  <a:lnTo>
                    <a:pt x="59690" y="16214465"/>
                  </a:lnTo>
                  <a:lnTo>
                    <a:pt x="59690" y="59690"/>
                  </a:lnTo>
                  <a:lnTo>
                    <a:pt x="59756619" y="59690"/>
                  </a:lnTo>
                  <a:lnTo>
                    <a:pt x="59756619" y="16214465"/>
                  </a:lnTo>
                  <a:close/>
                </a:path>
              </a:pathLst>
            </a:custGeom>
            <a:solidFill>
              <a:srgbClr val="FA632A"/>
            </a:solidFill>
          </p:spPr>
        </p:sp>
      </p:grpSp>
      <p:sp>
        <p:nvSpPr>
          <p:cNvPr name="TextBox 4" id="4"/>
          <p:cNvSpPr txBox="true"/>
          <p:nvPr/>
        </p:nvSpPr>
        <p:spPr>
          <a:xfrm rot="0">
            <a:off x="1996227" y="4234924"/>
            <a:ext cx="6315681" cy="3132098"/>
          </a:xfrm>
          <a:prstGeom prst="rect">
            <a:avLst/>
          </a:prstGeom>
        </p:spPr>
        <p:txBody>
          <a:bodyPr anchor="t" rtlCol="false" tIns="0" lIns="0" bIns="0" rIns="0">
            <a:spAutoFit/>
          </a:bodyPr>
          <a:lstStyle/>
          <a:p>
            <a:pPr algn="just">
              <a:lnSpc>
                <a:spcPts val="4066"/>
              </a:lnSpc>
            </a:pPr>
            <a:r>
              <a:rPr lang="en-US" sz="3128">
                <a:solidFill>
                  <a:srgbClr val="14110F"/>
                </a:solidFill>
                <a:latin typeface="Times New Roman MT"/>
                <a:ea typeface="Times New Roman MT"/>
                <a:cs typeface="Times New Roman MT"/>
                <a:sym typeface="Times New Roman MT"/>
              </a:rPr>
              <a:t>Todas las personas naturales y jurídicas, privadas y públicas que difundan información estadística están en la obligación de indicar la fuente del dato.</a:t>
            </a:r>
          </a:p>
          <a:p>
            <a:pPr algn="just">
              <a:lnSpc>
                <a:spcPts val="4066"/>
              </a:lnSpc>
            </a:pPr>
          </a:p>
        </p:txBody>
      </p:sp>
      <p:sp>
        <p:nvSpPr>
          <p:cNvPr name="Freeform 5" id="5"/>
          <p:cNvSpPr/>
          <p:nvPr/>
        </p:nvSpPr>
        <p:spPr>
          <a:xfrm flipH="false" flipV="false" rot="0">
            <a:off x="5464407" y="374683"/>
            <a:ext cx="1696771" cy="2135525"/>
          </a:xfrm>
          <a:custGeom>
            <a:avLst/>
            <a:gdLst/>
            <a:ahLst/>
            <a:cxnLst/>
            <a:rect r="r" b="b" t="t" l="l"/>
            <a:pathLst>
              <a:path h="2135525" w="1696771">
                <a:moveTo>
                  <a:pt x="0" y="0"/>
                </a:moveTo>
                <a:lnTo>
                  <a:pt x="1696771" y="0"/>
                </a:lnTo>
                <a:lnTo>
                  <a:pt x="1696771" y="2135525"/>
                </a:lnTo>
                <a:lnTo>
                  <a:pt x="0" y="2135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67137" y="7147312"/>
            <a:ext cx="14741536" cy="625886"/>
            <a:chOff x="0" y="0"/>
            <a:chExt cx="3882544" cy="164842"/>
          </a:xfrm>
        </p:grpSpPr>
        <p:sp>
          <p:nvSpPr>
            <p:cNvPr name="Freeform 7" id="7"/>
            <p:cNvSpPr/>
            <p:nvPr/>
          </p:nvSpPr>
          <p:spPr>
            <a:xfrm flipH="false" flipV="false" rot="0">
              <a:off x="0" y="0"/>
              <a:ext cx="3882544" cy="164842"/>
            </a:xfrm>
            <a:custGeom>
              <a:avLst/>
              <a:gdLst/>
              <a:ahLst/>
              <a:cxnLst/>
              <a:rect r="r" b="b" t="t" l="l"/>
              <a:pathLst>
                <a:path h="164842" w="3882544">
                  <a:moveTo>
                    <a:pt x="0" y="0"/>
                  </a:moveTo>
                  <a:lnTo>
                    <a:pt x="3882544" y="0"/>
                  </a:lnTo>
                  <a:lnTo>
                    <a:pt x="3882544" y="164842"/>
                  </a:lnTo>
                  <a:lnTo>
                    <a:pt x="0" y="164842"/>
                  </a:lnTo>
                  <a:close/>
                </a:path>
              </a:pathLst>
            </a:custGeom>
            <a:solidFill>
              <a:srgbClr val="FA632A"/>
            </a:solidFill>
          </p:spPr>
        </p:sp>
        <p:sp>
          <p:nvSpPr>
            <p:cNvPr name="TextBox 8" id="8"/>
            <p:cNvSpPr txBox="true"/>
            <p:nvPr/>
          </p:nvSpPr>
          <p:spPr>
            <a:xfrm>
              <a:off x="0" y="-66675"/>
              <a:ext cx="3882544" cy="231517"/>
            </a:xfrm>
            <a:prstGeom prst="rect">
              <a:avLst/>
            </a:prstGeom>
          </p:spPr>
          <p:txBody>
            <a:bodyPr anchor="ctr" rtlCol="false" tIns="50800" lIns="50800" bIns="50800" rIns="50800"/>
            <a:lstStyle/>
            <a:p>
              <a:pPr algn="ctr">
                <a:lnSpc>
                  <a:spcPts val="2600"/>
                </a:lnSpc>
              </a:pPr>
            </a:p>
          </p:txBody>
        </p:sp>
      </p:grpSp>
      <p:grpSp>
        <p:nvGrpSpPr>
          <p:cNvPr name="Group 9" id="9"/>
          <p:cNvGrpSpPr/>
          <p:nvPr/>
        </p:nvGrpSpPr>
        <p:grpSpPr>
          <a:xfrm rot="0">
            <a:off x="16508673" y="3139688"/>
            <a:ext cx="472356" cy="4633510"/>
            <a:chOff x="0" y="0"/>
            <a:chExt cx="124407" cy="1220348"/>
          </a:xfrm>
        </p:grpSpPr>
        <p:sp>
          <p:nvSpPr>
            <p:cNvPr name="Freeform 10" id="10"/>
            <p:cNvSpPr/>
            <p:nvPr/>
          </p:nvSpPr>
          <p:spPr>
            <a:xfrm flipH="false" flipV="false" rot="0">
              <a:off x="0" y="0"/>
              <a:ext cx="124407" cy="1220348"/>
            </a:xfrm>
            <a:custGeom>
              <a:avLst/>
              <a:gdLst/>
              <a:ahLst/>
              <a:cxnLst/>
              <a:rect r="r" b="b" t="t" l="l"/>
              <a:pathLst>
                <a:path h="1220348" w="124407">
                  <a:moveTo>
                    <a:pt x="0" y="0"/>
                  </a:moveTo>
                  <a:lnTo>
                    <a:pt x="124407" y="0"/>
                  </a:lnTo>
                  <a:lnTo>
                    <a:pt x="124407" y="1220348"/>
                  </a:lnTo>
                  <a:lnTo>
                    <a:pt x="0" y="1220348"/>
                  </a:lnTo>
                  <a:close/>
                </a:path>
              </a:pathLst>
            </a:custGeom>
            <a:solidFill>
              <a:srgbClr val="FA632A">
                <a:alpha val="26667"/>
              </a:srgbClr>
            </a:solidFill>
          </p:spPr>
        </p:sp>
        <p:sp>
          <p:nvSpPr>
            <p:cNvPr name="TextBox 11" id="11"/>
            <p:cNvSpPr txBox="true"/>
            <p:nvPr/>
          </p:nvSpPr>
          <p:spPr>
            <a:xfrm>
              <a:off x="0" y="-66675"/>
              <a:ext cx="124407" cy="1287023"/>
            </a:xfrm>
            <a:prstGeom prst="rect">
              <a:avLst/>
            </a:prstGeom>
          </p:spPr>
          <p:txBody>
            <a:bodyPr anchor="ctr" rtlCol="false" tIns="50800" lIns="50800" bIns="50800" rIns="50800"/>
            <a:lstStyle/>
            <a:p>
              <a:pPr algn="ctr">
                <a:lnSpc>
                  <a:spcPts val="2600"/>
                </a:lnSpc>
              </a:pPr>
            </a:p>
          </p:txBody>
        </p:sp>
      </p:grpSp>
      <p:sp>
        <p:nvSpPr>
          <p:cNvPr name="Freeform 12" id="12"/>
          <p:cNvSpPr/>
          <p:nvPr/>
        </p:nvSpPr>
        <p:spPr>
          <a:xfrm flipH="false" flipV="false" rot="0">
            <a:off x="11469091" y="3493691"/>
            <a:ext cx="3299619" cy="3299619"/>
          </a:xfrm>
          <a:custGeom>
            <a:avLst/>
            <a:gdLst/>
            <a:ahLst/>
            <a:cxnLst/>
            <a:rect r="r" b="b" t="t" l="l"/>
            <a:pathLst>
              <a:path h="3299619" w="3299619">
                <a:moveTo>
                  <a:pt x="0" y="0"/>
                </a:moveTo>
                <a:lnTo>
                  <a:pt x="3299619" y="0"/>
                </a:lnTo>
                <a:lnTo>
                  <a:pt x="3299619" y="3299618"/>
                </a:lnTo>
                <a:lnTo>
                  <a:pt x="0" y="3299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3278533" y="2263249"/>
            <a:ext cx="4327228" cy="4114800"/>
          </a:xfrm>
          <a:custGeom>
            <a:avLst/>
            <a:gdLst/>
            <a:ahLst/>
            <a:cxnLst/>
            <a:rect r="r" b="b" t="t" l="l"/>
            <a:pathLst>
              <a:path h="4114800" w="4327228">
                <a:moveTo>
                  <a:pt x="0" y="0"/>
                </a:moveTo>
                <a:lnTo>
                  <a:pt x="4327228" y="0"/>
                </a:lnTo>
                <a:lnTo>
                  <a:pt x="432722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779327" y="3070924"/>
            <a:ext cx="6590682" cy="773912"/>
          </a:xfrm>
          <a:prstGeom prst="rect">
            <a:avLst/>
          </a:prstGeom>
        </p:spPr>
        <p:txBody>
          <a:bodyPr anchor="t" rtlCol="false" tIns="0" lIns="0" bIns="0" rIns="0">
            <a:spAutoFit/>
          </a:bodyPr>
          <a:lstStyle/>
          <a:p>
            <a:pPr algn="l">
              <a:lnSpc>
                <a:spcPts val="5545"/>
              </a:lnSpc>
            </a:pPr>
            <a:r>
              <a:rPr lang="en-US" sz="4265" b="true">
                <a:solidFill>
                  <a:srgbClr val="14110F"/>
                </a:solidFill>
                <a:latin typeface="Times New Roman MT Bold"/>
                <a:ea typeface="Times New Roman MT Bold"/>
                <a:cs typeface="Times New Roman MT Bold"/>
                <a:sym typeface="Times New Roman MT Bold"/>
              </a:rPr>
              <a:t>Articulo 16 </a:t>
            </a:r>
          </a:p>
        </p:txBody>
      </p:sp>
      <p:sp>
        <p:nvSpPr>
          <p:cNvPr name="TextBox 15" id="15"/>
          <p:cNvSpPr txBox="true"/>
          <p:nvPr/>
        </p:nvSpPr>
        <p:spPr>
          <a:xfrm rot="0">
            <a:off x="305218" y="241333"/>
            <a:ext cx="5362124" cy="1211430"/>
          </a:xfrm>
          <a:prstGeom prst="rect">
            <a:avLst/>
          </a:prstGeom>
        </p:spPr>
        <p:txBody>
          <a:bodyPr anchor="t" rtlCol="false" tIns="0" lIns="0" bIns="0" rIns="0">
            <a:spAutoFit/>
          </a:bodyPr>
          <a:lstStyle/>
          <a:p>
            <a:pPr algn="l">
              <a:lnSpc>
                <a:spcPts val="8488"/>
              </a:lnSpc>
            </a:pPr>
            <a:r>
              <a:rPr lang="en-US" sz="7074">
                <a:solidFill>
                  <a:srgbClr val="14110F"/>
                </a:solidFill>
                <a:latin typeface="Times New Roman MT"/>
                <a:ea typeface="Times New Roman MT"/>
                <a:cs typeface="Times New Roman MT"/>
                <a:sym typeface="Times New Roman MT"/>
              </a:rPr>
              <a:t>Bases legales</a:t>
            </a:r>
          </a:p>
        </p:txBody>
      </p:sp>
      <p:sp>
        <p:nvSpPr>
          <p:cNvPr name="TextBox 16" id="16"/>
          <p:cNvSpPr txBox="true"/>
          <p:nvPr/>
        </p:nvSpPr>
        <p:spPr>
          <a:xfrm rot="0">
            <a:off x="12346658" y="3128074"/>
            <a:ext cx="4441759" cy="688975"/>
          </a:xfrm>
          <a:prstGeom prst="rect">
            <a:avLst/>
          </a:prstGeom>
        </p:spPr>
        <p:txBody>
          <a:bodyPr anchor="t" rtlCol="false" tIns="0" lIns="0" bIns="0" rIns="0">
            <a:spAutoFit/>
          </a:bodyPr>
          <a:lstStyle/>
          <a:p>
            <a:pPr algn="l">
              <a:lnSpc>
                <a:spcPts val="2600"/>
              </a:lnSpc>
            </a:pPr>
            <a:r>
              <a:rPr lang="en-US" sz="2000">
                <a:solidFill>
                  <a:srgbClr val="FFFFFF"/>
                </a:solidFill>
                <a:latin typeface="Times New Roman MT"/>
                <a:ea typeface="Times New Roman MT"/>
                <a:cs typeface="Times New Roman MT"/>
                <a:sym typeface="Times New Roman MT"/>
              </a:rPr>
              <a:t>We will launch a competitive</a:t>
            </a:r>
          </a:p>
          <a:p>
            <a:pPr algn="l">
              <a:lnSpc>
                <a:spcPts val="2600"/>
              </a:lnSpc>
            </a:pPr>
            <a:r>
              <a:rPr lang="en-US" sz="2000">
                <a:solidFill>
                  <a:srgbClr val="FFFFFF"/>
                </a:solidFill>
                <a:latin typeface="Times New Roman MT"/>
                <a:ea typeface="Times New Roman MT"/>
                <a:cs typeface="Times New Roman MT"/>
                <a:sym typeface="Times New Roman MT"/>
              </a:rPr>
              <a:t>free trial model.</a:t>
            </a:r>
          </a:p>
        </p:txBody>
      </p:sp>
      <p:sp>
        <p:nvSpPr>
          <p:cNvPr name="TextBox 17" id="17"/>
          <p:cNvSpPr txBox="true"/>
          <p:nvPr/>
        </p:nvSpPr>
        <p:spPr>
          <a:xfrm rot="0">
            <a:off x="1779327" y="7061587"/>
            <a:ext cx="14729346" cy="525145"/>
          </a:xfrm>
          <a:prstGeom prst="rect">
            <a:avLst/>
          </a:prstGeom>
        </p:spPr>
        <p:txBody>
          <a:bodyPr anchor="t" rtlCol="false" tIns="0" lIns="0" bIns="0" rIns="0">
            <a:spAutoFit/>
          </a:bodyPr>
          <a:lstStyle/>
          <a:p>
            <a:pPr algn="ctr">
              <a:lnSpc>
                <a:spcPts val="3769"/>
              </a:lnSpc>
              <a:spcBef>
                <a:spcPct val="0"/>
              </a:spcBef>
            </a:pPr>
            <a:r>
              <a:rPr lang="en-US" b="true" sz="2899">
                <a:solidFill>
                  <a:srgbClr val="000000"/>
                </a:solidFill>
                <a:latin typeface="Times New Roman MT Bold"/>
                <a:ea typeface="Times New Roman MT Bold"/>
                <a:cs typeface="Times New Roman MT Bold"/>
                <a:sym typeface="Times New Roman MT Bold"/>
              </a:rPr>
              <a:t>Ley de la función pública de estadística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4528" y="4848225"/>
            <a:ext cx="4410075" cy="4410075"/>
          </a:xfrm>
          <a:custGeom>
            <a:avLst/>
            <a:gdLst/>
            <a:ahLst/>
            <a:cxnLst/>
            <a:rect r="r" b="b" t="t" l="l"/>
            <a:pathLst>
              <a:path h="4410075" w="4410075">
                <a:moveTo>
                  <a:pt x="0" y="0"/>
                </a:moveTo>
                <a:lnTo>
                  <a:pt x="4410075" y="0"/>
                </a:lnTo>
                <a:lnTo>
                  <a:pt x="4410075" y="4410075"/>
                </a:lnTo>
                <a:lnTo>
                  <a:pt x="0" y="4410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a:extLst>
              <a:ext uri="{C183D7F6-B498-43B3-948B-1728B52AA6E4}">
                <adec:decorative xmlns:adec="http://schemas.microsoft.com/office/drawing/2017/decorative" val="1"/>
              </a:ext>
            </a:extLst>
          </p:cNvPr>
          <p:cNvSpPr/>
          <p:nvPr/>
        </p:nvSpPr>
        <p:spPr>
          <a:xfrm rot="0">
            <a:off x="7834848" y="1311648"/>
            <a:ext cx="319604" cy="285896"/>
          </a:xfrm>
          <a:prstGeom prst="rect">
            <a:avLst/>
          </a:prstGeom>
          <a:solidFill>
            <a:srgbClr val="FA632A"/>
          </a:solidFill>
        </p:spPr>
      </p:sp>
      <p:sp>
        <p:nvSpPr>
          <p:cNvPr name="AutoShape 4" id="4">
            <a:extLst>
              <a:ext uri="{C183D7F6-B498-43B3-948B-1728B52AA6E4}">
                <adec:decorative xmlns:adec="http://schemas.microsoft.com/office/drawing/2017/decorative" val="1"/>
              </a:ext>
            </a:extLst>
          </p:cNvPr>
          <p:cNvSpPr/>
          <p:nvPr/>
        </p:nvSpPr>
        <p:spPr>
          <a:xfrm rot="0">
            <a:off x="7834848" y="2264620"/>
            <a:ext cx="319604" cy="285896"/>
          </a:xfrm>
          <a:prstGeom prst="rect">
            <a:avLst/>
          </a:prstGeom>
          <a:solidFill>
            <a:srgbClr val="FA632A"/>
          </a:solidFill>
        </p:spPr>
      </p:sp>
      <p:sp>
        <p:nvSpPr>
          <p:cNvPr name="AutoShape 5" id="5">
            <a:extLst>
              <a:ext uri="{C183D7F6-B498-43B3-948B-1728B52AA6E4}">
                <adec:decorative xmlns:adec="http://schemas.microsoft.com/office/drawing/2017/decorative" val="1"/>
              </a:ext>
            </a:extLst>
          </p:cNvPr>
          <p:cNvSpPr/>
          <p:nvPr/>
        </p:nvSpPr>
        <p:spPr>
          <a:xfrm rot="0">
            <a:off x="7834848" y="3217266"/>
            <a:ext cx="319604" cy="285896"/>
          </a:xfrm>
          <a:prstGeom prst="rect">
            <a:avLst/>
          </a:prstGeom>
          <a:solidFill>
            <a:srgbClr val="FA632A"/>
          </a:solidFill>
        </p:spPr>
      </p:sp>
      <p:sp>
        <p:nvSpPr>
          <p:cNvPr name="AutoShape 6" id="6">
            <a:extLst>
              <a:ext uri="{C183D7F6-B498-43B3-948B-1728B52AA6E4}">
                <adec:decorative xmlns:adec="http://schemas.microsoft.com/office/drawing/2017/decorative" val="1"/>
              </a:ext>
            </a:extLst>
          </p:cNvPr>
          <p:cNvSpPr/>
          <p:nvPr/>
        </p:nvSpPr>
        <p:spPr>
          <a:xfrm rot="0">
            <a:off x="7834848" y="4169912"/>
            <a:ext cx="319604" cy="285896"/>
          </a:xfrm>
          <a:prstGeom prst="rect">
            <a:avLst/>
          </a:prstGeom>
          <a:solidFill>
            <a:srgbClr val="FA632A">
              <a:alpha val="69804"/>
            </a:srgbClr>
          </a:solidFill>
        </p:spPr>
      </p:sp>
      <p:sp>
        <p:nvSpPr>
          <p:cNvPr name="AutoShape 7" id="7">
            <a:extLst>
              <a:ext uri="{C183D7F6-B498-43B3-948B-1728B52AA6E4}">
                <adec:decorative xmlns:adec="http://schemas.microsoft.com/office/drawing/2017/decorative" val="1"/>
              </a:ext>
            </a:extLst>
          </p:cNvPr>
          <p:cNvSpPr/>
          <p:nvPr/>
        </p:nvSpPr>
        <p:spPr>
          <a:xfrm rot="0">
            <a:off x="7834848" y="5122558"/>
            <a:ext cx="319604" cy="285896"/>
          </a:xfrm>
          <a:prstGeom prst="rect">
            <a:avLst/>
          </a:prstGeom>
          <a:solidFill>
            <a:srgbClr val="FA632A">
              <a:alpha val="69804"/>
            </a:srgbClr>
          </a:solidFill>
        </p:spPr>
      </p:sp>
      <p:sp>
        <p:nvSpPr>
          <p:cNvPr name="AutoShape 8" id="8">
            <a:extLst>
              <a:ext uri="{C183D7F6-B498-43B3-948B-1728B52AA6E4}">
                <adec:decorative xmlns:adec="http://schemas.microsoft.com/office/drawing/2017/decorative" val="1"/>
              </a:ext>
            </a:extLst>
          </p:cNvPr>
          <p:cNvSpPr/>
          <p:nvPr/>
        </p:nvSpPr>
        <p:spPr>
          <a:xfrm rot="0">
            <a:off x="7834848" y="6075204"/>
            <a:ext cx="319604" cy="285896"/>
          </a:xfrm>
          <a:prstGeom prst="rect">
            <a:avLst/>
          </a:prstGeom>
          <a:solidFill>
            <a:srgbClr val="FA632A">
              <a:alpha val="49804"/>
            </a:srgbClr>
          </a:solidFill>
        </p:spPr>
      </p:sp>
      <p:sp>
        <p:nvSpPr>
          <p:cNvPr name="AutoShape 9" id="9">
            <a:extLst>
              <a:ext uri="{C183D7F6-B498-43B3-948B-1728B52AA6E4}">
                <adec:decorative xmlns:adec="http://schemas.microsoft.com/office/drawing/2017/decorative" val="1"/>
              </a:ext>
            </a:extLst>
          </p:cNvPr>
          <p:cNvSpPr/>
          <p:nvPr/>
        </p:nvSpPr>
        <p:spPr>
          <a:xfrm rot="0">
            <a:off x="7834848" y="6974084"/>
            <a:ext cx="319604" cy="285896"/>
          </a:xfrm>
          <a:prstGeom prst="rect">
            <a:avLst/>
          </a:prstGeom>
          <a:solidFill>
            <a:srgbClr val="FA632A">
              <a:alpha val="40000"/>
            </a:srgbClr>
          </a:solidFill>
        </p:spPr>
      </p:sp>
      <p:sp>
        <p:nvSpPr>
          <p:cNvPr name="AutoShape 10" id="10">
            <a:extLst>
              <a:ext uri="{C183D7F6-B498-43B3-948B-1728B52AA6E4}">
                <adec:decorative xmlns:adec="http://schemas.microsoft.com/office/drawing/2017/decorative" val="1"/>
              </a:ext>
            </a:extLst>
          </p:cNvPr>
          <p:cNvSpPr/>
          <p:nvPr/>
        </p:nvSpPr>
        <p:spPr>
          <a:xfrm rot="0">
            <a:off x="7834848" y="7923384"/>
            <a:ext cx="319604" cy="285896"/>
          </a:xfrm>
          <a:prstGeom prst="rect">
            <a:avLst/>
          </a:prstGeom>
          <a:solidFill>
            <a:srgbClr val="FA632A">
              <a:alpha val="29804"/>
            </a:srgbClr>
          </a:solidFill>
        </p:spPr>
      </p:sp>
      <p:sp>
        <p:nvSpPr>
          <p:cNvPr name="AutoShape 11" id="11">
            <a:extLst>
              <a:ext uri="{C183D7F6-B498-43B3-948B-1728B52AA6E4}">
                <adec:decorative xmlns:adec="http://schemas.microsoft.com/office/drawing/2017/decorative" val="1"/>
              </a:ext>
            </a:extLst>
          </p:cNvPr>
          <p:cNvSpPr/>
          <p:nvPr/>
        </p:nvSpPr>
        <p:spPr>
          <a:xfrm rot="0">
            <a:off x="7834848" y="8818880"/>
            <a:ext cx="319604" cy="285896"/>
          </a:xfrm>
          <a:prstGeom prst="rect">
            <a:avLst/>
          </a:prstGeom>
          <a:solidFill>
            <a:srgbClr val="FA632A">
              <a:alpha val="14902"/>
            </a:srgbClr>
          </a:solidFill>
        </p:spPr>
      </p:sp>
      <p:sp>
        <p:nvSpPr>
          <p:cNvPr name="TextBox 12" id="12"/>
          <p:cNvSpPr txBox="true"/>
          <p:nvPr/>
        </p:nvSpPr>
        <p:spPr>
          <a:xfrm rot="0">
            <a:off x="737681" y="1084708"/>
            <a:ext cx="6370994" cy="2924175"/>
          </a:xfrm>
          <a:prstGeom prst="rect">
            <a:avLst/>
          </a:prstGeom>
        </p:spPr>
        <p:txBody>
          <a:bodyPr anchor="t" rtlCol="false" tIns="0" lIns="0" bIns="0" rIns="0">
            <a:spAutoFit/>
          </a:bodyPr>
          <a:lstStyle/>
          <a:p>
            <a:pPr algn="l">
              <a:lnSpc>
                <a:spcPts val="10800"/>
              </a:lnSpc>
            </a:pPr>
            <a:r>
              <a:rPr lang="en-US" sz="9000">
                <a:solidFill>
                  <a:srgbClr val="14110F"/>
                </a:solidFill>
                <a:latin typeface="Times New Roman MT"/>
                <a:ea typeface="Times New Roman MT"/>
                <a:cs typeface="Times New Roman MT"/>
                <a:sym typeface="Times New Roman MT"/>
              </a:rPr>
              <a:t>Desarrollo empirico</a:t>
            </a:r>
          </a:p>
        </p:txBody>
      </p:sp>
      <p:sp>
        <p:nvSpPr>
          <p:cNvPr name="AutoShape 13" id="13"/>
          <p:cNvSpPr/>
          <p:nvPr/>
        </p:nvSpPr>
        <p:spPr>
          <a:xfrm flipV="true">
            <a:off x="7108674" y="0"/>
            <a:ext cx="0" cy="10287000"/>
          </a:xfrm>
          <a:prstGeom prst="line">
            <a:avLst/>
          </a:prstGeom>
          <a:ln cap="flat" w="38100">
            <a:solidFill>
              <a:srgbClr val="000000"/>
            </a:solidFill>
            <a:prstDash val="lgDash"/>
            <a:headEnd type="none" len="sm" w="sm"/>
            <a:tailEnd type="none" len="sm" w="sm"/>
          </a:ln>
        </p:spPr>
      </p:sp>
      <p:sp>
        <p:nvSpPr>
          <p:cNvPr name="Freeform 14" id="14"/>
          <p:cNvSpPr/>
          <p:nvPr/>
        </p:nvSpPr>
        <p:spPr>
          <a:xfrm flipH="false" flipV="false" rot="0">
            <a:off x="14938020" y="-543766"/>
            <a:ext cx="4369981" cy="4114800"/>
          </a:xfrm>
          <a:custGeom>
            <a:avLst/>
            <a:gdLst/>
            <a:ahLst/>
            <a:cxnLst/>
            <a:rect r="r" b="b" t="t" l="l"/>
            <a:pathLst>
              <a:path h="4114800" w="4369981">
                <a:moveTo>
                  <a:pt x="0" y="0"/>
                </a:moveTo>
                <a:lnTo>
                  <a:pt x="4369981" y="0"/>
                </a:lnTo>
                <a:lnTo>
                  <a:pt x="436998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8291439" y="1179959"/>
            <a:ext cx="385454"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01</a:t>
            </a:r>
          </a:p>
        </p:txBody>
      </p:sp>
      <p:sp>
        <p:nvSpPr>
          <p:cNvPr name="TextBox 16" id="16"/>
          <p:cNvSpPr txBox="true"/>
          <p:nvPr/>
        </p:nvSpPr>
        <p:spPr>
          <a:xfrm rot="0">
            <a:off x="8810243" y="1179958"/>
            <a:ext cx="5392918" cy="525145"/>
          </a:xfrm>
          <a:prstGeom prst="rect">
            <a:avLst/>
          </a:prstGeom>
        </p:spPr>
        <p:txBody>
          <a:bodyPr anchor="t" rtlCol="false" tIns="0" lIns="0" bIns="0" rIns="0">
            <a:spAutoFit/>
          </a:bodyPr>
          <a:lstStyle/>
          <a:p>
            <a:pPr algn="l">
              <a:lnSpc>
                <a:spcPts val="3769"/>
              </a:lnSpc>
            </a:pPr>
            <a:r>
              <a:rPr lang="en-US" sz="2899" b="true">
                <a:solidFill>
                  <a:srgbClr val="14110F"/>
                </a:solidFill>
                <a:latin typeface="Times New Roman MT Bold"/>
                <a:ea typeface="Times New Roman MT Bold"/>
                <a:cs typeface="Times New Roman MT Bold"/>
                <a:sym typeface="Times New Roman MT Bold"/>
              </a:rPr>
              <a:t>Datos</a:t>
            </a:r>
          </a:p>
        </p:txBody>
      </p:sp>
      <p:sp>
        <p:nvSpPr>
          <p:cNvPr name="TextBox 17" id="17"/>
          <p:cNvSpPr txBox="true"/>
          <p:nvPr/>
        </p:nvSpPr>
        <p:spPr>
          <a:xfrm rot="0">
            <a:off x="8349175" y="2102133"/>
            <a:ext cx="770908"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02</a:t>
            </a:r>
          </a:p>
        </p:txBody>
      </p:sp>
      <p:sp>
        <p:nvSpPr>
          <p:cNvPr name="TextBox 18" id="18"/>
          <p:cNvSpPr txBox="true"/>
          <p:nvPr/>
        </p:nvSpPr>
        <p:spPr>
          <a:xfrm rot="0">
            <a:off x="8821202" y="2102133"/>
            <a:ext cx="5392918" cy="525145"/>
          </a:xfrm>
          <a:prstGeom prst="rect">
            <a:avLst/>
          </a:prstGeom>
        </p:spPr>
        <p:txBody>
          <a:bodyPr anchor="t" rtlCol="false" tIns="0" lIns="0" bIns="0" rIns="0">
            <a:spAutoFit/>
          </a:bodyPr>
          <a:lstStyle/>
          <a:p>
            <a:pPr algn="l">
              <a:lnSpc>
                <a:spcPts val="3769"/>
              </a:lnSpc>
            </a:pPr>
            <a:r>
              <a:rPr lang="en-US" sz="2899" b="true">
                <a:solidFill>
                  <a:srgbClr val="14110F"/>
                </a:solidFill>
                <a:latin typeface="Times New Roman MT Bold"/>
                <a:ea typeface="Times New Roman MT Bold"/>
                <a:cs typeface="Times New Roman MT Bold"/>
                <a:sym typeface="Times New Roman MT Bold"/>
              </a:rPr>
              <a:t>Estadísticas descriptivas</a:t>
            </a:r>
          </a:p>
        </p:txBody>
      </p:sp>
      <p:sp>
        <p:nvSpPr>
          <p:cNvPr name="TextBox 19" id="19"/>
          <p:cNvSpPr txBox="true"/>
          <p:nvPr/>
        </p:nvSpPr>
        <p:spPr>
          <a:xfrm rot="0">
            <a:off x="8291439" y="3111075"/>
            <a:ext cx="770908"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03</a:t>
            </a:r>
          </a:p>
        </p:txBody>
      </p:sp>
      <p:sp>
        <p:nvSpPr>
          <p:cNvPr name="TextBox 20" id="20"/>
          <p:cNvSpPr txBox="true"/>
          <p:nvPr/>
        </p:nvSpPr>
        <p:spPr>
          <a:xfrm rot="0">
            <a:off x="8821202" y="3063669"/>
            <a:ext cx="5392918" cy="507365"/>
          </a:xfrm>
          <a:prstGeom prst="rect">
            <a:avLst/>
          </a:prstGeom>
        </p:spPr>
        <p:txBody>
          <a:bodyPr anchor="t" rtlCol="false" tIns="0" lIns="0" bIns="0" rIns="0">
            <a:spAutoFit/>
          </a:bodyPr>
          <a:lstStyle/>
          <a:p>
            <a:pPr algn="l">
              <a:lnSpc>
                <a:spcPts val="3639"/>
              </a:lnSpc>
            </a:pPr>
            <a:r>
              <a:rPr lang="en-US" sz="2799" b="true">
                <a:solidFill>
                  <a:srgbClr val="14110F"/>
                </a:solidFill>
                <a:latin typeface="Times New Roman MT Bold"/>
                <a:ea typeface="Times New Roman MT Bold"/>
                <a:cs typeface="Times New Roman MT Bold"/>
                <a:sym typeface="Times New Roman MT Bold"/>
              </a:rPr>
              <a:t>Diagrama de dispersión </a:t>
            </a:r>
          </a:p>
        </p:txBody>
      </p:sp>
      <p:sp>
        <p:nvSpPr>
          <p:cNvPr name="TextBox 21" id="21"/>
          <p:cNvSpPr txBox="true"/>
          <p:nvPr/>
        </p:nvSpPr>
        <p:spPr>
          <a:xfrm rot="0">
            <a:off x="8312867" y="4036270"/>
            <a:ext cx="1016669"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04</a:t>
            </a:r>
          </a:p>
        </p:txBody>
      </p:sp>
      <p:sp>
        <p:nvSpPr>
          <p:cNvPr name="TextBox 22" id="22"/>
          <p:cNvSpPr txBox="true"/>
          <p:nvPr/>
        </p:nvSpPr>
        <p:spPr>
          <a:xfrm rot="0">
            <a:off x="8821202" y="4074370"/>
            <a:ext cx="7112148" cy="525145"/>
          </a:xfrm>
          <a:prstGeom prst="rect">
            <a:avLst/>
          </a:prstGeom>
        </p:spPr>
        <p:txBody>
          <a:bodyPr anchor="t" rtlCol="false" tIns="0" lIns="0" bIns="0" rIns="0">
            <a:spAutoFit/>
          </a:bodyPr>
          <a:lstStyle/>
          <a:p>
            <a:pPr algn="l">
              <a:lnSpc>
                <a:spcPts val="3769"/>
              </a:lnSpc>
            </a:pPr>
            <a:r>
              <a:rPr lang="en-US" sz="2899" b="true">
                <a:solidFill>
                  <a:srgbClr val="14110F"/>
                </a:solidFill>
                <a:latin typeface="Times New Roman MT Bold"/>
                <a:ea typeface="Times New Roman MT Bold"/>
                <a:cs typeface="Times New Roman MT Bold"/>
                <a:sym typeface="Times New Roman MT Bold"/>
              </a:rPr>
              <a:t>Estimación de los coeficientes de regresión</a:t>
            </a:r>
          </a:p>
        </p:txBody>
      </p:sp>
      <p:sp>
        <p:nvSpPr>
          <p:cNvPr name="TextBox 23" id="23"/>
          <p:cNvSpPr txBox="true"/>
          <p:nvPr/>
        </p:nvSpPr>
        <p:spPr>
          <a:xfrm rot="0">
            <a:off x="8349175" y="5066240"/>
            <a:ext cx="770908"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05</a:t>
            </a:r>
          </a:p>
        </p:txBody>
      </p:sp>
      <p:sp>
        <p:nvSpPr>
          <p:cNvPr name="TextBox 24" id="24"/>
          <p:cNvSpPr txBox="true"/>
          <p:nvPr/>
        </p:nvSpPr>
        <p:spPr>
          <a:xfrm rot="0">
            <a:off x="8821202" y="5103019"/>
            <a:ext cx="5392918" cy="525145"/>
          </a:xfrm>
          <a:prstGeom prst="rect">
            <a:avLst/>
          </a:prstGeom>
        </p:spPr>
        <p:txBody>
          <a:bodyPr anchor="t" rtlCol="false" tIns="0" lIns="0" bIns="0" rIns="0">
            <a:spAutoFit/>
          </a:bodyPr>
          <a:lstStyle/>
          <a:p>
            <a:pPr algn="l">
              <a:lnSpc>
                <a:spcPts val="3769"/>
              </a:lnSpc>
            </a:pPr>
            <a:r>
              <a:rPr lang="en-US" sz="2899" b="true">
                <a:solidFill>
                  <a:srgbClr val="14110F"/>
                </a:solidFill>
                <a:latin typeface="Times New Roman MT Bold"/>
                <a:ea typeface="Times New Roman MT Bold"/>
                <a:cs typeface="Times New Roman MT Bold"/>
                <a:sym typeface="Times New Roman MT Bold"/>
              </a:rPr>
              <a:t>Datos</a:t>
            </a:r>
          </a:p>
        </p:txBody>
      </p:sp>
      <p:sp>
        <p:nvSpPr>
          <p:cNvPr name="TextBox 25" id="25"/>
          <p:cNvSpPr txBox="true"/>
          <p:nvPr/>
        </p:nvSpPr>
        <p:spPr>
          <a:xfrm rot="0">
            <a:off x="8349175" y="5912717"/>
            <a:ext cx="770908"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06</a:t>
            </a:r>
          </a:p>
        </p:txBody>
      </p:sp>
      <p:sp>
        <p:nvSpPr>
          <p:cNvPr name="TextBox 26" id="26"/>
          <p:cNvSpPr txBox="true"/>
          <p:nvPr/>
        </p:nvSpPr>
        <p:spPr>
          <a:xfrm rot="0">
            <a:off x="8821202" y="5912717"/>
            <a:ext cx="5904667" cy="525145"/>
          </a:xfrm>
          <a:prstGeom prst="rect">
            <a:avLst/>
          </a:prstGeom>
        </p:spPr>
        <p:txBody>
          <a:bodyPr anchor="t" rtlCol="false" tIns="0" lIns="0" bIns="0" rIns="0">
            <a:spAutoFit/>
          </a:bodyPr>
          <a:lstStyle/>
          <a:p>
            <a:pPr algn="ctr">
              <a:lnSpc>
                <a:spcPts val="3769"/>
              </a:lnSpc>
              <a:spcBef>
                <a:spcPct val="0"/>
              </a:spcBef>
            </a:pPr>
            <a:r>
              <a:rPr lang="en-US" b="true" sz="2899">
                <a:solidFill>
                  <a:srgbClr val="14110F"/>
                </a:solidFill>
                <a:latin typeface="Times New Roman MT Bold"/>
                <a:ea typeface="Times New Roman MT Bold"/>
                <a:cs typeface="Times New Roman MT Bold"/>
                <a:sym typeface="Times New Roman MT Bold"/>
              </a:rPr>
              <a:t>Interpretación de los coeficientes a y b </a:t>
            </a:r>
          </a:p>
        </p:txBody>
      </p:sp>
      <p:sp>
        <p:nvSpPr>
          <p:cNvPr name="TextBox 27" id="27"/>
          <p:cNvSpPr txBox="true"/>
          <p:nvPr/>
        </p:nvSpPr>
        <p:spPr>
          <a:xfrm rot="0">
            <a:off x="8734628" y="6852206"/>
            <a:ext cx="8666906" cy="525145"/>
          </a:xfrm>
          <a:prstGeom prst="rect">
            <a:avLst/>
          </a:prstGeom>
        </p:spPr>
        <p:txBody>
          <a:bodyPr anchor="t" rtlCol="false" tIns="0" lIns="0" bIns="0" rIns="0">
            <a:spAutoFit/>
          </a:bodyPr>
          <a:lstStyle/>
          <a:p>
            <a:pPr algn="ctr">
              <a:lnSpc>
                <a:spcPts val="3769"/>
              </a:lnSpc>
              <a:spcBef>
                <a:spcPct val="0"/>
              </a:spcBef>
            </a:pPr>
            <a:r>
              <a:rPr lang="en-US" b="true" sz="2899">
                <a:solidFill>
                  <a:srgbClr val="14110F"/>
                </a:solidFill>
                <a:latin typeface="Times New Roman MT Bold"/>
                <a:ea typeface="Times New Roman MT Bold"/>
                <a:cs typeface="Times New Roman MT Bold"/>
                <a:sym typeface="Times New Roman MT Bold"/>
              </a:rPr>
              <a:t>Inferencias acerca de los coeficientes de regresíón A y B</a:t>
            </a:r>
          </a:p>
        </p:txBody>
      </p:sp>
      <p:sp>
        <p:nvSpPr>
          <p:cNvPr name="TextBox 28" id="28"/>
          <p:cNvSpPr txBox="true"/>
          <p:nvPr/>
        </p:nvSpPr>
        <p:spPr>
          <a:xfrm rot="0">
            <a:off x="8312867" y="6852206"/>
            <a:ext cx="770908"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07</a:t>
            </a:r>
          </a:p>
        </p:txBody>
      </p:sp>
      <p:sp>
        <p:nvSpPr>
          <p:cNvPr name="TextBox 29" id="29"/>
          <p:cNvSpPr txBox="true"/>
          <p:nvPr/>
        </p:nvSpPr>
        <p:spPr>
          <a:xfrm rot="0">
            <a:off x="8821202" y="7796451"/>
            <a:ext cx="6158865" cy="525145"/>
          </a:xfrm>
          <a:prstGeom prst="rect">
            <a:avLst/>
          </a:prstGeom>
        </p:spPr>
        <p:txBody>
          <a:bodyPr anchor="t" rtlCol="false" tIns="0" lIns="0" bIns="0" rIns="0">
            <a:spAutoFit/>
          </a:bodyPr>
          <a:lstStyle/>
          <a:p>
            <a:pPr algn="ctr">
              <a:lnSpc>
                <a:spcPts val="3769"/>
              </a:lnSpc>
              <a:spcBef>
                <a:spcPct val="0"/>
              </a:spcBef>
            </a:pPr>
            <a:r>
              <a:rPr lang="en-US" b="true" sz="2899">
                <a:solidFill>
                  <a:srgbClr val="14110F"/>
                </a:solidFill>
                <a:latin typeface="Times New Roman MT Bold"/>
                <a:ea typeface="Times New Roman MT Bold"/>
                <a:cs typeface="Times New Roman MT Bold"/>
                <a:sym typeface="Times New Roman MT Bold"/>
              </a:rPr>
              <a:t>Estimación por intervalo para  μxy y Ya</a:t>
            </a:r>
          </a:p>
        </p:txBody>
      </p:sp>
      <p:sp>
        <p:nvSpPr>
          <p:cNvPr name="TextBox 30" id="30"/>
          <p:cNvSpPr txBox="true"/>
          <p:nvPr/>
        </p:nvSpPr>
        <p:spPr>
          <a:xfrm rot="0">
            <a:off x="8257534" y="7815501"/>
            <a:ext cx="770908"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08</a:t>
            </a:r>
          </a:p>
        </p:txBody>
      </p:sp>
      <p:sp>
        <p:nvSpPr>
          <p:cNvPr name="TextBox 31" id="31"/>
          <p:cNvSpPr txBox="true"/>
          <p:nvPr/>
        </p:nvSpPr>
        <p:spPr>
          <a:xfrm rot="0">
            <a:off x="8810243" y="8733155"/>
            <a:ext cx="8241982" cy="525145"/>
          </a:xfrm>
          <a:prstGeom prst="rect">
            <a:avLst/>
          </a:prstGeom>
        </p:spPr>
        <p:txBody>
          <a:bodyPr anchor="t" rtlCol="false" tIns="0" lIns="0" bIns="0" rIns="0">
            <a:spAutoFit/>
          </a:bodyPr>
          <a:lstStyle/>
          <a:p>
            <a:pPr algn="ctr">
              <a:lnSpc>
                <a:spcPts val="3769"/>
              </a:lnSpc>
              <a:spcBef>
                <a:spcPct val="0"/>
              </a:spcBef>
            </a:pPr>
            <a:r>
              <a:rPr lang="en-US" b="true" sz="2899">
                <a:solidFill>
                  <a:srgbClr val="14110F"/>
                </a:solidFill>
                <a:latin typeface="Times New Roman MT Bold"/>
                <a:ea typeface="Times New Roman MT Bold"/>
                <a:cs typeface="Times New Roman MT Bold"/>
                <a:sym typeface="Times New Roman MT Bold"/>
              </a:rPr>
              <a:t>Estimación y análisis del coeficiente de Determinación</a:t>
            </a:r>
          </a:p>
        </p:txBody>
      </p:sp>
      <p:sp>
        <p:nvSpPr>
          <p:cNvPr name="TextBox 32" id="32"/>
          <p:cNvSpPr txBox="true"/>
          <p:nvPr/>
        </p:nvSpPr>
        <p:spPr>
          <a:xfrm rot="0">
            <a:off x="8257534" y="8664496"/>
            <a:ext cx="770908" cy="525145"/>
          </a:xfrm>
          <a:prstGeom prst="rect">
            <a:avLst/>
          </a:prstGeom>
        </p:spPr>
        <p:txBody>
          <a:bodyPr anchor="t" rtlCol="false" tIns="0" lIns="0" bIns="0" rIns="0">
            <a:spAutoFit/>
          </a:bodyPr>
          <a:lstStyle/>
          <a:p>
            <a:pPr algn="l">
              <a:lnSpc>
                <a:spcPts val="3770"/>
              </a:lnSpc>
            </a:pPr>
            <a:r>
              <a:rPr lang="en-US" sz="2900">
                <a:solidFill>
                  <a:srgbClr val="14110F"/>
                </a:solidFill>
                <a:latin typeface="Times New Roman MT"/>
                <a:ea typeface="Times New Roman MT"/>
                <a:cs typeface="Times New Roman MT"/>
                <a:sym typeface="Times New Roman MT"/>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632A"/>
        </a:solidFill>
      </p:bgPr>
    </p:bg>
    <p:spTree>
      <p:nvGrpSpPr>
        <p:cNvPr id="1" name=""/>
        <p:cNvGrpSpPr/>
        <p:nvPr/>
      </p:nvGrpSpPr>
      <p:grpSpPr>
        <a:xfrm>
          <a:off x="0" y="0"/>
          <a:ext cx="0" cy="0"/>
          <a:chOff x="0" y="0"/>
          <a:chExt cx="0" cy="0"/>
        </a:xfrm>
      </p:grpSpPr>
      <p:sp>
        <p:nvSpPr>
          <p:cNvPr name="Freeform 2" id="2"/>
          <p:cNvSpPr/>
          <p:nvPr/>
        </p:nvSpPr>
        <p:spPr>
          <a:xfrm flipH="false" flipV="false" rot="0">
            <a:off x="7076795" y="1914022"/>
            <a:ext cx="11023307" cy="7344278"/>
          </a:xfrm>
          <a:custGeom>
            <a:avLst/>
            <a:gdLst/>
            <a:ahLst/>
            <a:cxnLst/>
            <a:rect r="r" b="b" t="t" l="l"/>
            <a:pathLst>
              <a:path h="7344278" w="11023307">
                <a:moveTo>
                  <a:pt x="0" y="0"/>
                </a:moveTo>
                <a:lnTo>
                  <a:pt x="11023307" y="0"/>
                </a:lnTo>
                <a:lnTo>
                  <a:pt x="11023307" y="7344278"/>
                </a:lnTo>
                <a:lnTo>
                  <a:pt x="0" y="7344278"/>
                </a:lnTo>
                <a:lnTo>
                  <a:pt x="0" y="0"/>
                </a:lnTo>
                <a:close/>
              </a:path>
            </a:pathLst>
          </a:custGeom>
          <a:blipFill>
            <a:blip r:embed="rId2"/>
            <a:stretch>
              <a:fillRect l="0" t="0" r="0" b="0"/>
            </a:stretch>
          </a:blipFill>
          <a:ln w="133350" cap="sq">
            <a:solidFill>
              <a:srgbClr val="000000"/>
            </a:solidFill>
            <a:prstDash val="solid"/>
            <a:miter/>
          </a:ln>
        </p:spPr>
      </p:sp>
      <p:sp>
        <p:nvSpPr>
          <p:cNvPr name="Freeform 3" id="3"/>
          <p:cNvSpPr/>
          <p:nvPr/>
        </p:nvSpPr>
        <p:spPr>
          <a:xfrm flipH="false" flipV="false" rot="-10800000">
            <a:off x="1969355" y="-205189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6740177" y="91228"/>
            <a:ext cx="19008798" cy="3714750"/>
          </a:xfrm>
          <a:prstGeom prst="rect">
            <a:avLst/>
          </a:prstGeom>
        </p:spPr>
        <p:txBody>
          <a:bodyPr anchor="t" rtlCol="false" tIns="0" lIns="0" bIns="0" rIns="0">
            <a:spAutoFit/>
          </a:bodyPr>
          <a:lstStyle/>
          <a:p>
            <a:pPr algn="ctr">
              <a:lnSpc>
                <a:spcPts val="13728"/>
              </a:lnSpc>
            </a:pPr>
            <a:r>
              <a:rPr lang="en-US" sz="11440">
                <a:solidFill>
                  <a:srgbClr val="14110F"/>
                </a:solidFill>
                <a:latin typeface="Times New Roman MT"/>
                <a:ea typeface="Times New Roman MT"/>
                <a:cs typeface="Times New Roman MT"/>
                <a:sym typeface="Times New Roman MT"/>
              </a:rPr>
              <a:t>DATOS</a:t>
            </a:r>
          </a:p>
          <a:p>
            <a:pPr algn="ctr">
              <a:lnSpc>
                <a:spcPts val="13728"/>
              </a:lnSpc>
            </a:pPr>
          </a:p>
        </p:txBody>
      </p:sp>
      <p:sp>
        <p:nvSpPr>
          <p:cNvPr name="TextBox 5" id="5"/>
          <p:cNvSpPr txBox="true"/>
          <p:nvPr/>
        </p:nvSpPr>
        <p:spPr>
          <a:xfrm rot="0">
            <a:off x="-7131350" y="5226620"/>
            <a:ext cx="19008798" cy="695454"/>
          </a:xfrm>
          <a:prstGeom prst="rect">
            <a:avLst/>
          </a:prstGeom>
        </p:spPr>
        <p:txBody>
          <a:bodyPr anchor="t" rtlCol="false" tIns="0" lIns="0" bIns="0" rIns="0">
            <a:spAutoFit/>
          </a:bodyPr>
          <a:lstStyle/>
          <a:p>
            <a:pPr algn="l">
              <a:lnSpc>
                <a:spcPts val="4957"/>
              </a:lnSpc>
            </a:pPr>
          </a:p>
        </p:txBody>
      </p:sp>
      <p:sp>
        <p:nvSpPr>
          <p:cNvPr name="TextBox 6" id="6"/>
          <p:cNvSpPr txBox="true"/>
          <p:nvPr/>
        </p:nvSpPr>
        <p:spPr>
          <a:xfrm rot="0">
            <a:off x="407966" y="3602278"/>
            <a:ext cx="4712512" cy="3862990"/>
          </a:xfrm>
          <a:prstGeom prst="rect">
            <a:avLst/>
          </a:prstGeom>
        </p:spPr>
        <p:txBody>
          <a:bodyPr anchor="t" rtlCol="false" tIns="0" lIns="0" bIns="0" rIns="0">
            <a:spAutoFit/>
          </a:bodyPr>
          <a:lstStyle/>
          <a:p>
            <a:pPr algn="l" marL="718414" indent="-359207" lvl="1">
              <a:lnSpc>
                <a:spcPts val="4325"/>
              </a:lnSpc>
              <a:buFont typeface="Arial"/>
              <a:buChar char="•"/>
            </a:pPr>
            <a:r>
              <a:rPr lang="en-US" b="true" sz="3327">
                <a:solidFill>
                  <a:srgbClr val="000000"/>
                </a:solidFill>
                <a:latin typeface="Times New Roman MT Bold"/>
                <a:ea typeface="Times New Roman MT Bold"/>
                <a:cs typeface="Times New Roman MT Bold"/>
                <a:sym typeface="Times New Roman MT Bold"/>
              </a:rPr>
              <a:t>Descripción general</a:t>
            </a:r>
          </a:p>
          <a:p>
            <a:pPr algn="l" marL="718414" indent="-359207" lvl="1">
              <a:lnSpc>
                <a:spcPts val="4325"/>
              </a:lnSpc>
              <a:buFont typeface="Arial"/>
              <a:buChar char="•"/>
            </a:pPr>
            <a:r>
              <a:rPr lang="en-US" b="true" sz="3327">
                <a:solidFill>
                  <a:srgbClr val="000000"/>
                </a:solidFill>
                <a:latin typeface="Times New Roman MT Bold"/>
                <a:ea typeface="Times New Roman MT Bold"/>
                <a:cs typeface="Times New Roman MT Bold"/>
                <a:sym typeface="Times New Roman MT Bold"/>
              </a:rPr>
              <a:t>Procedencia</a:t>
            </a:r>
          </a:p>
          <a:p>
            <a:pPr algn="l" marL="718414" indent="-359207" lvl="1">
              <a:lnSpc>
                <a:spcPts val="4325"/>
              </a:lnSpc>
              <a:buFont typeface="Arial"/>
              <a:buChar char="•"/>
            </a:pPr>
            <a:r>
              <a:rPr lang="en-US" b="true" sz="3327">
                <a:solidFill>
                  <a:srgbClr val="000000"/>
                </a:solidFill>
                <a:latin typeface="Times New Roman MT Bold"/>
                <a:ea typeface="Times New Roman MT Bold"/>
                <a:cs typeface="Times New Roman MT Bold"/>
                <a:sym typeface="Times New Roman MT Bold"/>
              </a:rPr>
              <a:t>Metodología de Recolección</a:t>
            </a:r>
          </a:p>
          <a:p>
            <a:pPr algn="l" marL="718414" indent="-359207" lvl="1">
              <a:lnSpc>
                <a:spcPts val="4325"/>
              </a:lnSpc>
              <a:buFont typeface="Arial"/>
              <a:buChar char="•"/>
            </a:pPr>
            <a:r>
              <a:rPr lang="en-US" b="true" sz="3327">
                <a:solidFill>
                  <a:srgbClr val="000000"/>
                </a:solidFill>
                <a:latin typeface="Times New Roman MT Bold"/>
                <a:ea typeface="Times New Roman MT Bold"/>
                <a:cs typeface="Times New Roman MT Bold"/>
                <a:sym typeface="Times New Roman MT Bold"/>
              </a:rPr>
              <a:t>Características principales</a:t>
            </a:r>
          </a:p>
          <a:p>
            <a:pPr algn="l" marL="718414" indent="-359207" lvl="1">
              <a:lnSpc>
                <a:spcPts val="4325"/>
              </a:lnSpc>
              <a:buFont typeface="Arial"/>
              <a:buChar char="•"/>
            </a:pPr>
            <a:r>
              <a:rPr lang="en-US" b="true" sz="3327">
                <a:solidFill>
                  <a:srgbClr val="000000"/>
                </a:solidFill>
                <a:latin typeface="Times New Roman MT Bold"/>
                <a:ea typeface="Times New Roman MT Bold"/>
                <a:cs typeface="Times New Roman MT Bold"/>
                <a:sym typeface="Times New Roman MT Bold"/>
              </a:rPr>
              <a:t>Origen</a:t>
            </a:r>
          </a:p>
        </p:txBody>
      </p:sp>
      <p:sp>
        <p:nvSpPr>
          <p:cNvPr name="AutoShape 7" id="7"/>
          <p:cNvSpPr/>
          <p:nvPr/>
        </p:nvSpPr>
        <p:spPr>
          <a:xfrm flipH="true" flipV="true">
            <a:off x="5124414" y="2404723"/>
            <a:ext cx="0" cy="6429615"/>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grpSp>
        <p:nvGrpSpPr>
          <p:cNvPr name="Group 2" id="2"/>
          <p:cNvGrpSpPr/>
          <p:nvPr/>
        </p:nvGrpSpPr>
        <p:grpSpPr>
          <a:xfrm rot="0">
            <a:off x="667870" y="445236"/>
            <a:ext cx="13022616" cy="2271241"/>
            <a:chOff x="0" y="0"/>
            <a:chExt cx="17363488" cy="3028321"/>
          </a:xfrm>
        </p:grpSpPr>
        <p:sp>
          <p:nvSpPr>
            <p:cNvPr name="TextBox 3" id="3"/>
            <p:cNvSpPr txBox="true"/>
            <p:nvPr/>
          </p:nvSpPr>
          <p:spPr>
            <a:xfrm rot="0">
              <a:off x="0" y="-180975"/>
              <a:ext cx="17363488" cy="2009775"/>
            </a:xfrm>
            <a:prstGeom prst="rect">
              <a:avLst/>
            </a:prstGeom>
          </p:spPr>
          <p:txBody>
            <a:bodyPr anchor="t" rtlCol="false" tIns="0" lIns="0" bIns="0" rIns="0">
              <a:spAutoFit/>
            </a:bodyPr>
            <a:lstStyle/>
            <a:p>
              <a:pPr algn="l">
                <a:lnSpc>
                  <a:spcPts val="10800"/>
                </a:lnSpc>
              </a:pPr>
              <a:r>
                <a:rPr lang="en-US" sz="9000">
                  <a:solidFill>
                    <a:srgbClr val="FFFFFF"/>
                  </a:solidFill>
                  <a:latin typeface="Times New Roman MT"/>
                  <a:ea typeface="Times New Roman MT"/>
                  <a:cs typeface="Times New Roman MT"/>
                  <a:sym typeface="Times New Roman MT"/>
                </a:rPr>
                <a:t>Descripcion General</a:t>
              </a:r>
            </a:p>
          </p:txBody>
        </p:sp>
        <p:sp>
          <p:nvSpPr>
            <p:cNvPr name="TextBox 4" id="4"/>
            <p:cNvSpPr txBox="true"/>
            <p:nvPr/>
          </p:nvSpPr>
          <p:spPr>
            <a:xfrm rot="0">
              <a:off x="0" y="2323471"/>
              <a:ext cx="17363488" cy="704850"/>
            </a:xfrm>
            <a:prstGeom prst="rect">
              <a:avLst/>
            </a:prstGeom>
          </p:spPr>
          <p:txBody>
            <a:bodyPr anchor="t" rtlCol="false" tIns="0" lIns="0" bIns="0" rIns="0">
              <a:spAutoFit/>
            </a:bodyPr>
            <a:lstStyle/>
            <a:p>
              <a:pPr algn="l">
                <a:lnSpc>
                  <a:spcPts val="3900"/>
                </a:lnSpc>
              </a:pPr>
            </a:p>
          </p:txBody>
        </p:sp>
      </p:grpSp>
      <p:sp>
        <p:nvSpPr>
          <p:cNvPr name="AutoShape 5" id="5">
            <a:extLst>
              <a:ext uri="{C183D7F6-B498-43B3-948B-1728B52AA6E4}">
                <adec:decorative xmlns:adec="http://schemas.microsoft.com/office/drawing/2017/decorative" val="1"/>
              </a:ext>
            </a:extLst>
          </p:cNvPr>
          <p:cNvSpPr/>
          <p:nvPr/>
        </p:nvSpPr>
        <p:spPr>
          <a:xfrm>
            <a:off x="667870" y="1985394"/>
            <a:ext cx="10961021" cy="0"/>
          </a:xfrm>
          <a:prstGeom prst="line">
            <a:avLst/>
          </a:prstGeom>
          <a:ln cap="flat" w="104775">
            <a:solidFill>
              <a:srgbClr val="FA632A"/>
            </a:solidFill>
            <a:prstDash val="solid"/>
            <a:headEnd type="none" len="sm" w="sm"/>
            <a:tailEnd type="none" len="sm" w="sm"/>
          </a:ln>
        </p:spPr>
      </p:sp>
      <p:sp>
        <p:nvSpPr>
          <p:cNvPr name="TextBox 6" id="6"/>
          <p:cNvSpPr txBox="true"/>
          <p:nvPr/>
        </p:nvSpPr>
        <p:spPr>
          <a:xfrm rot="0">
            <a:off x="2041977" y="3672684"/>
            <a:ext cx="14204045" cy="5505450"/>
          </a:xfrm>
          <a:prstGeom prst="rect">
            <a:avLst/>
          </a:prstGeom>
        </p:spPr>
        <p:txBody>
          <a:bodyPr anchor="t" rtlCol="false" tIns="0" lIns="0" bIns="0" rIns="0">
            <a:spAutoFit/>
          </a:bodyPr>
          <a:lstStyle/>
          <a:p>
            <a:pPr algn="just">
              <a:lnSpc>
                <a:spcPts val="3900"/>
              </a:lnSpc>
              <a:spcBef>
                <a:spcPct val="0"/>
              </a:spcBef>
            </a:pPr>
            <a:r>
              <a:rPr lang="en-US" sz="3000">
                <a:solidFill>
                  <a:srgbClr val="FFFFFF"/>
                </a:solidFill>
                <a:latin typeface="Times New Roman MT"/>
                <a:ea typeface="Times New Roman MT"/>
                <a:cs typeface="Times New Roman MT"/>
                <a:sym typeface="Times New Roman MT"/>
              </a:rPr>
              <a:t>Se exploró </a:t>
            </a:r>
            <a:r>
              <a:rPr lang="en-US" sz="3000">
                <a:solidFill>
                  <a:srgbClr val="FFFFFF"/>
                </a:solidFill>
                <a:latin typeface="Times New Roman MT"/>
                <a:ea typeface="Times New Roman MT"/>
                <a:cs typeface="Times New Roman MT"/>
                <a:sym typeface="Times New Roman MT"/>
              </a:rPr>
              <a:t>un conjunto de datos completo que cubre una amplia gama de dispositivos móviles, incluidas sus especificaciones, precios, calificaciones, entre otras. Este conjunto de datos proporciona información valiosa sobre el movido mundo de la tecnología móvil.</a:t>
            </a:r>
          </a:p>
          <a:p>
            <a:pPr algn="just">
              <a:lnSpc>
                <a:spcPts val="3900"/>
              </a:lnSpc>
              <a:spcBef>
                <a:spcPct val="0"/>
              </a:spcBef>
            </a:pPr>
          </a:p>
          <a:p>
            <a:pPr algn="just">
              <a:lnSpc>
                <a:spcPts val="3900"/>
              </a:lnSpc>
              <a:spcBef>
                <a:spcPct val="0"/>
              </a:spcBef>
            </a:pPr>
            <a:r>
              <a:rPr lang="en-US" sz="3000">
                <a:solidFill>
                  <a:srgbClr val="FFFFFF"/>
                </a:solidFill>
                <a:latin typeface="Times New Roman MT"/>
                <a:ea typeface="Times New Roman MT"/>
                <a:cs typeface="Times New Roman MT"/>
                <a:sym typeface="Times New Roman MT"/>
              </a:rPr>
              <a:t>El archivo "Mobile_Data.csv" es un subconjunto de un conjunto de datos móviles completo, que se centra en las características y especificaciones clave de varios dispositivos móviles. Este archivo contiene datos estructurados en formato CSV, lo que facilita su importación a herramientas de análisis de datos para la exploración y la información.</a:t>
            </a:r>
          </a:p>
          <a:p>
            <a:pPr algn="just">
              <a:lnSpc>
                <a:spcPts val="39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9144000" y="0"/>
            <a:ext cx="9144000" cy="10287000"/>
          </a:xfrm>
          <a:prstGeom prst="rect">
            <a:avLst/>
          </a:prstGeom>
          <a:solidFill>
            <a:srgbClr val="FA632A"/>
          </a:solidFill>
        </p:spPr>
      </p:sp>
      <p:pic>
        <p:nvPicPr>
          <p:cNvPr name="Picture 3" id="3" descr="pie chart"/>
          <p:cNvPicPr>
            <a:picLocks noChangeAspect="true"/>
          </p:cNvPicPr>
          <p:nvPr/>
        </p:nvPicPr>
        <p:blipFill>
          <a:blip r:embed="rId2"/>
          <a:stretch>
            <a:fillRect/>
          </a:stretch>
        </p:blipFill>
        <p:spPr>
          <a:xfrm rot="0">
            <a:off x="9449591" y="1321029"/>
            <a:ext cx="8490631" cy="7619516"/>
          </a:xfrm>
          <a:prstGeom prst="rect">
            <a:avLst/>
          </a:prstGeom>
        </p:spPr>
      </p:pic>
      <p:sp>
        <p:nvSpPr>
          <p:cNvPr name="TextBox 4" id="4"/>
          <p:cNvSpPr txBox="true"/>
          <p:nvPr/>
        </p:nvSpPr>
        <p:spPr>
          <a:xfrm rot="0">
            <a:off x="2182038" y="1287641"/>
            <a:ext cx="5993059" cy="1038225"/>
          </a:xfrm>
          <a:prstGeom prst="rect">
            <a:avLst/>
          </a:prstGeom>
        </p:spPr>
        <p:txBody>
          <a:bodyPr anchor="t" rtlCol="false" tIns="0" lIns="0" bIns="0" rIns="0">
            <a:spAutoFit/>
          </a:bodyPr>
          <a:lstStyle/>
          <a:p>
            <a:pPr algn="l">
              <a:lnSpc>
                <a:spcPts val="7200"/>
              </a:lnSpc>
            </a:pPr>
            <a:r>
              <a:rPr lang="en-US" sz="6000">
                <a:solidFill>
                  <a:srgbClr val="FA632A"/>
                </a:solidFill>
                <a:latin typeface="Times New Roman MT"/>
                <a:ea typeface="Times New Roman MT"/>
                <a:cs typeface="Times New Roman MT"/>
                <a:sym typeface="Times New Roman MT"/>
              </a:rPr>
              <a:t>Procedencia</a:t>
            </a:r>
          </a:p>
        </p:txBody>
      </p:sp>
      <p:grpSp>
        <p:nvGrpSpPr>
          <p:cNvPr name="Group 5" id="5"/>
          <p:cNvGrpSpPr/>
          <p:nvPr/>
        </p:nvGrpSpPr>
        <p:grpSpPr>
          <a:xfrm rot="0">
            <a:off x="1085493" y="3784760"/>
            <a:ext cx="5993059" cy="3999230"/>
            <a:chOff x="0" y="0"/>
            <a:chExt cx="7990746" cy="5332307"/>
          </a:xfrm>
        </p:grpSpPr>
        <p:grpSp>
          <p:nvGrpSpPr>
            <p:cNvPr name="Group 6" id="6"/>
            <p:cNvGrpSpPr/>
            <p:nvPr/>
          </p:nvGrpSpPr>
          <p:grpSpPr>
            <a:xfrm rot="0">
              <a:off x="0" y="125942"/>
              <a:ext cx="298412" cy="251883"/>
              <a:chOff x="0" y="0"/>
              <a:chExt cx="7522994" cy="6350000"/>
            </a:xfrm>
          </p:grpSpPr>
          <p:sp>
            <p:nvSpPr>
              <p:cNvPr name="Freeform 7" id="7"/>
              <p:cNvSpPr/>
              <p:nvPr/>
            </p:nvSpPr>
            <p:spPr>
              <a:xfrm flipH="false" flipV="false" rot="0">
                <a:off x="0" y="0"/>
                <a:ext cx="7522994" cy="6350000"/>
              </a:xfrm>
              <a:custGeom>
                <a:avLst/>
                <a:gdLst/>
                <a:ahLst/>
                <a:cxnLst/>
                <a:rect r="r" b="b" t="t" l="l"/>
                <a:pathLst>
                  <a:path h="6350000" w="7522994">
                    <a:moveTo>
                      <a:pt x="3761497" y="0"/>
                    </a:moveTo>
                    <a:cubicBezTo>
                      <a:pt x="1684080" y="0"/>
                      <a:pt x="0" y="1421496"/>
                      <a:pt x="0" y="3175000"/>
                    </a:cubicBezTo>
                    <a:cubicBezTo>
                      <a:pt x="0" y="4928504"/>
                      <a:pt x="1684080" y="6350000"/>
                      <a:pt x="3761497" y="6350000"/>
                    </a:cubicBezTo>
                    <a:cubicBezTo>
                      <a:pt x="5838915" y="6350000"/>
                      <a:pt x="7522994" y="4928504"/>
                      <a:pt x="7522994" y="3175000"/>
                    </a:cubicBezTo>
                    <a:cubicBezTo>
                      <a:pt x="7522994" y="1421496"/>
                      <a:pt x="5838915" y="0"/>
                      <a:pt x="3761497" y="0"/>
                    </a:cubicBezTo>
                    <a:close/>
                  </a:path>
                </a:pathLst>
              </a:custGeom>
              <a:solidFill>
                <a:srgbClr val="191919"/>
              </a:solidFill>
            </p:spPr>
          </p:sp>
        </p:grpSp>
        <p:sp>
          <p:nvSpPr>
            <p:cNvPr name="TextBox 8" id="8"/>
            <p:cNvSpPr txBox="true"/>
            <p:nvPr/>
          </p:nvSpPr>
          <p:spPr>
            <a:xfrm rot="0">
              <a:off x="974404" y="-95250"/>
              <a:ext cx="7016342" cy="5427557"/>
            </a:xfrm>
            <a:prstGeom prst="rect">
              <a:avLst/>
            </a:prstGeom>
          </p:spPr>
          <p:txBody>
            <a:bodyPr anchor="t" rtlCol="false" tIns="0" lIns="0" bIns="0" rIns="0">
              <a:spAutoFit/>
            </a:bodyPr>
            <a:lstStyle/>
            <a:p>
              <a:pPr algn="l">
                <a:lnSpc>
                  <a:spcPts val="4029"/>
                </a:lnSpc>
              </a:pPr>
              <a:r>
                <a:rPr lang="en-US" sz="3099">
                  <a:solidFill>
                    <a:srgbClr val="14110F"/>
                  </a:solidFill>
                  <a:latin typeface="Times New Roman MT"/>
                  <a:ea typeface="Times New Roman MT"/>
                  <a:cs typeface="Times New Roman MT"/>
                  <a:sym typeface="Times New Roman MT"/>
                </a:rPr>
                <a:t>Las especificaciones detalladas, como los detalles del procesador, el almacenamiento y las características de la cámara, se obtienen de los sitios web oficiales del fabricante y de la documentación técnica.</a:t>
              </a:r>
            </a:p>
          </p:txBody>
        </p:sp>
      </p:grpSp>
      <p:sp>
        <p:nvSpPr>
          <p:cNvPr name="AutoShape 9" id="9">
            <a:extLst>
              <a:ext uri="{C183D7F6-B498-43B3-948B-1728B52AA6E4}">
                <adec:decorative xmlns:adec="http://schemas.microsoft.com/office/drawing/2017/decorative" val="1"/>
              </a:ext>
            </a:extLst>
          </p:cNvPr>
          <p:cNvSpPr/>
          <p:nvPr/>
        </p:nvSpPr>
        <p:spPr>
          <a:xfrm>
            <a:off x="1575625" y="2325866"/>
            <a:ext cx="5502928" cy="0"/>
          </a:xfrm>
          <a:prstGeom prst="line">
            <a:avLst/>
          </a:prstGeom>
          <a:ln cap="flat" w="104775">
            <a:solidFill>
              <a:srgbClr val="FA632A"/>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pic>
        <p:nvPicPr>
          <p:cNvPr name="Picture 2" id="2" descr="stacked area chart"/>
          <p:cNvPicPr>
            <a:picLocks noChangeAspect="true"/>
          </p:cNvPicPr>
          <p:nvPr/>
        </p:nvPicPr>
        <p:blipFill>
          <a:blip r:embed="rId2"/>
          <a:stretch>
            <a:fillRect/>
          </a:stretch>
        </p:blipFill>
        <p:spPr>
          <a:xfrm rot="0">
            <a:off x="9155766" y="755932"/>
            <a:ext cx="8609830" cy="8775137"/>
          </a:xfrm>
          <a:prstGeom prst="rect">
            <a:avLst/>
          </a:prstGeom>
        </p:spPr>
      </p:pic>
      <p:grpSp>
        <p:nvGrpSpPr>
          <p:cNvPr name="Group 3" id="3"/>
          <p:cNvGrpSpPr/>
          <p:nvPr/>
        </p:nvGrpSpPr>
        <p:grpSpPr>
          <a:xfrm rot="0">
            <a:off x="1560436" y="864630"/>
            <a:ext cx="7109288" cy="8605806"/>
            <a:chOff x="0" y="0"/>
            <a:chExt cx="9479051" cy="11474408"/>
          </a:xfrm>
        </p:grpSpPr>
        <p:sp>
          <p:nvSpPr>
            <p:cNvPr name="TextBox 4" id="4"/>
            <p:cNvSpPr txBox="true"/>
            <p:nvPr/>
          </p:nvSpPr>
          <p:spPr>
            <a:xfrm rot="0">
              <a:off x="0" y="-180975"/>
              <a:ext cx="9479051" cy="5667375"/>
            </a:xfrm>
            <a:prstGeom prst="rect">
              <a:avLst/>
            </a:prstGeom>
          </p:spPr>
          <p:txBody>
            <a:bodyPr anchor="t" rtlCol="false" tIns="0" lIns="0" bIns="0" rIns="0">
              <a:spAutoFit/>
            </a:bodyPr>
            <a:lstStyle/>
            <a:p>
              <a:pPr algn="l">
                <a:lnSpc>
                  <a:spcPts val="10800"/>
                </a:lnSpc>
              </a:pPr>
              <a:r>
                <a:rPr lang="en-US" sz="9000">
                  <a:solidFill>
                    <a:srgbClr val="FFFFFF"/>
                  </a:solidFill>
                  <a:latin typeface="Times New Roman MT"/>
                  <a:ea typeface="Times New Roman MT"/>
                  <a:cs typeface="Times New Roman MT"/>
                  <a:sym typeface="Times New Roman MT"/>
                </a:rPr>
                <a:t>Metodología </a:t>
              </a:r>
              <a:r>
                <a:rPr lang="en-US" sz="9000">
                  <a:solidFill>
                    <a:srgbClr val="FA632A"/>
                  </a:solidFill>
                  <a:latin typeface="Times New Roman MT"/>
                  <a:ea typeface="Times New Roman MT"/>
                  <a:cs typeface="Times New Roman MT"/>
                  <a:sym typeface="Times New Roman MT"/>
                </a:rPr>
                <a:t>De</a:t>
              </a:r>
              <a:r>
                <a:rPr lang="en-US" sz="9000">
                  <a:solidFill>
                    <a:srgbClr val="FFFFFF"/>
                  </a:solidFill>
                  <a:latin typeface="Times New Roman MT"/>
                  <a:ea typeface="Times New Roman MT"/>
                  <a:cs typeface="Times New Roman MT"/>
                  <a:sym typeface="Times New Roman MT"/>
                </a:rPr>
                <a:t> Recolección</a:t>
              </a:r>
            </a:p>
          </p:txBody>
        </p:sp>
        <p:sp>
          <p:nvSpPr>
            <p:cNvPr name="TextBox 5" id="5"/>
            <p:cNvSpPr txBox="true"/>
            <p:nvPr/>
          </p:nvSpPr>
          <p:spPr>
            <a:xfrm rot="0">
              <a:off x="0" y="5981071"/>
              <a:ext cx="9479051" cy="4667250"/>
            </a:xfrm>
            <a:prstGeom prst="rect">
              <a:avLst/>
            </a:prstGeom>
          </p:spPr>
          <p:txBody>
            <a:bodyPr anchor="t" rtlCol="false" tIns="0" lIns="0" bIns="0" rIns="0">
              <a:spAutoFit/>
            </a:bodyPr>
            <a:lstStyle/>
            <a:p>
              <a:pPr algn="l">
                <a:lnSpc>
                  <a:spcPts val="3900"/>
                </a:lnSpc>
              </a:pPr>
              <a:r>
                <a:rPr lang="en-US" sz="3000">
                  <a:solidFill>
                    <a:srgbClr val="FFFFFF"/>
                  </a:solidFill>
                  <a:latin typeface="Times New Roman MT"/>
                  <a:ea typeface="Times New Roman MT"/>
                  <a:cs typeface="Times New Roman MT"/>
                  <a:sym typeface="Times New Roman MT"/>
                </a:rPr>
                <a:t>Web Scraping: Las técnicas automatizadas de web scraping se emplean para recopilar información sobre precios y disponibilidad de sitios web de comercio electrónico. El proceso implica actualizar periódicamente el conjunto de datos para reflejar las últimas tendencias del mercado.</a:t>
              </a:r>
            </a:p>
          </p:txBody>
        </p:sp>
        <p:sp>
          <p:nvSpPr>
            <p:cNvPr name="AutoShape 6" id="6"/>
            <p:cNvSpPr/>
            <p:nvPr/>
          </p:nvSpPr>
          <p:spPr>
            <a:xfrm>
              <a:off x="41535" y="11404558"/>
              <a:ext cx="9437516" cy="0"/>
            </a:xfrm>
            <a:prstGeom prst="line">
              <a:avLst/>
            </a:prstGeom>
            <a:ln cap="flat" w="139700">
              <a:solidFill>
                <a:srgbClr val="FA632A"/>
              </a:solidFill>
              <a:prstDash val="solid"/>
              <a:headEnd type="none" len="sm" w="sm"/>
              <a:tailEnd type="none" len="sm" w="sm"/>
            </a:ln>
          </p:spPr>
        </p:sp>
      </p:grpSp>
      <p:sp>
        <p:nvSpPr>
          <p:cNvPr name="AutoShape 7" id="7"/>
          <p:cNvSpPr/>
          <p:nvPr/>
        </p:nvSpPr>
        <p:spPr>
          <a:xfrm>
            <a:off x="1028700" y="864630"/>
            <a:ext cx="0" cy="8393670"/>
          </a:xfrm>
          <a:prstGeom prst="line">
            <a:avLst/>
          </a:prstGeom>
          <a:ln cap="flat" w="38100">
            <a:solidFill>
              <a:srgbClr val="FA632A"/>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93321" y="181872"/>
            <a:ext cx="5561263" cy="1952625"/>
          </a:xfrm>
          <a:prstGeom prst="rect">
            <a:avLst/>
          </a:prstGeom>
        </p:spPr>
        <p:txBody>
          <a:bodyPr anchor="t" rtlCol="false" tIns="0" lIns="0" bIns="0" rIns="0">
            <a:spAutoFit/>
          </a:bodyPr>
          <a:lstStyle/>
          <a:p>
            <a:pPr algn="l">
              <a:lnSpc>
                <a:spcPts val="7200"/>
              </a:lnSpc>
            </a:pPr>
            <a:r>
              <a:rPr lang="en-US" sz="6000">
                <a:solidFill>
                  <a:srgbClr val="14110F"/>
                </a:solidFill>
                <a:latin typeface="Times New Roman MT"/>
                <a:ea typeface="Times New Roman MT"/>
                <a:cs typeface="Times New Roman MT"/>
                <a:sym typeface="Times New Roman MT"/>
              </a:rPr>
              <a:t>Características  </a:t>
            </a:r>
            <a:r>
              <a:rPr lang="en-US" sz="6000">
                <a:solidFill>
                  <a:srgbClr val="FA632A"/>
                </a:solidFill>
                <a:latin typeface="Times New Roman MT"/>
                <a:ea typeface="Times New Roman MT"/>
                <a:cs typeface="Times New Roman MT"/>
                <a:sym typeface="Times New Roman MT"/>
              </a:rPr>
              <a:t>Principales</a:t>
            </a:r>
            <a:r>
              <a:rPr lang="en-US" sz="6000">
                <a:solidFill>
                  <a:srgbClr val="14110F"/>
                </a:solidFill>
                <a:latin typeface="Times New Roman MT"/>
                <a:ea typeface="Times New Roman MT"/>
                <a:cs typeface="Times New Roman MT"/>
                <a:sym typeface="Times New Roman MT"/>
              </a:rPr>
              <a:t> </a:t>
            </a:r>
          </a:p>
        </p:txBody>
      </p:sp>
      <p:grpSp>
        <p:nvGrpSpPr>
          <p:cNvPr name="Group 3" id="3"/>
          <p:cNvGrpSpPr/>
          <p:nvPr/>
        </p:nvGrpSpPr>
        <p:grpSpPr>
          <a:xfrm rot="0">
            <a:off x="1744645" y="3023743"/>
            <a:ext cx="5058615" cy="377825"/>
            <a:chOff x="0" y="0"/>
            <a:chExt cx="6744820" cy="503767"/>
          </a:xfrm>
        </p:grpSpPr>
        <p:grpSp>
          <p:nvGrpSpPr>
            <p:cNvPr name="Group 4" id="4"/>
            <p:cNvGrpSpPr/>
            <p:nvPr/>
          </p:nvGrpSpPr>
          <p:grpSpPr>
            <a:xfrm rot="0">
              <a:off x="0" y="125942"/>
              <a:ext cx="251883" cy="251883"/>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91919"/>
              </a:solidFill>
            </p:spPr>
          </p:sp>
        </p:grpSp>
        <p:sp>
          <p:nvSpPr>
            <p:cNvPr name="TextBox 6" id="6"/>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Nombre del teléfono</a:t>
              </a:r>
            </a:p>
          </p:txBody>
        </p:sp>
      </p:grpSp>
      <p:grpSp>
        <p:nvGrpSpPr>
          <p:cNvPr name="Group 7" id="7"/>
          <p:cNvGrpSpPr/>
          <p:nvPr/>
        </p:nvGrpSpPr>
        <p:grpSpPr>
          <a:xfrm rot="0">
            <a:off x="1744645" y="3498227"/>
            <a:ext cx="5058615" cy="377825"/>
            <a:chOff x="0" y="0"/>
            <a:chExt cx="6744820" cy="503767"/>
          </a:xfrm>
        </p:grpSpPr>
        <p:grpSp>
          <p:nvGrpSpPr>
            <p:cNvPr name="Group 8" id="8"/>
            <p:cNvGrpSpPr/>
            <p:nvPr/>
          </p:nvGrpSpPr>
          <p:grpSpPr>
            <a:xfrm rot="0">
              <a:off x="0" y="125942"/>
              <a:ext cx="251883" cy="2518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2302F"/>
              </a:solidFill>
            </p:spPr>
          </p:sp>
        </p:grpSp>
        <p:sp>
          <p:nvSpPr>
            <p:cNvPr name="TextBox 10" id="10"/>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Precio</a:t>
              </a:r>
            </a:p>
          </p:txBody>
        </p:sp>
      </p:grpSp>
      <p:grpSp>
        <p:nvGrpSpPr>
          <p:cNvPr name="Group 11" id="11"/>
          <p:cNvGrpSpPr/>
          <p:nvPr/>
        </p:nvGrpSpPr>
        <p:grpSpPr>
          <a:xfrm rot="0">
            <a:off x="1744645" y="3926495"/>
            <a:ext cx="5058615" cy="377825"/>
            <a:chOff x="0" y="0"/>
            <a:chExt cx="6744820" cy="503767"/>
          </a:xfrm>
        </p:grpSpPr>
        <p:grpSp>
          <p:nvGrpSpPr>
            <p:cNvPr name="Group 12" id="12"/>
            <p:cNvGrpSpPr/>
            <p:nvPr/>
          </p:nvGrpSpPr>
          <p:grpSpPr>
            <a:xfrm rot="0">
              <a:off x="0" y="125942"/>
              <a:ext cx="251883" cy="251883"/>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555251"/>
              </a:solidFill>
            </p:spPr>
          </p:sp>
        </p:grpSp>
        <p:sp>
          <p:nvSpPr>
            <p:cNvPr name="TextBox 14" id="14"/>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Calificación</a:t>
              </a:r>
            </a:p>
          </p:txBody>
        </p:sp>
      </p:grpSp>
      <p:grpSp>
        <p:nvGrpSpPr>
          <p:cNvPr name="Group 15" id="15"/>
          <p:cNvGrpSpPr/>
          <p:nvPr/>
        </p:nvGrpSpPr>
        <p:grpSpPr>
          <a:xfrm rot="0">
            <a:off x="1744645" y="4423204"/>
            <a:ext cx="5058615" cy="787400"/>
            <a:chOff x="0" y="0"/>
            <a:chExt cx="6744820" cy="1049867"/>
          </a:xfrm>
        </p:grpSpPr>
        <p:grpSp>
          <p:nvGrpSpPr>
            <p:cNvPr name="Group 16" id="16"/>
            <p:cNvGrpSpPr/>
            <p:nvPr/>
          </p:nvGrpSpPr>
          <p:grpSpPr>
            <a:xfrm rot="0">
              <a:off x="0" y="125942"/>
              <a:ext cx="251883" cy="251883"/>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B7677"/>
              </a:solidFill>
            </p:spPr>
          </p:sp>
        </p:grpSp>
        <p:sp>
          <p:nvSpPr>
            <p:cNvPr name="TextBox 18" id="18"/>
            <p:cNvSpPr txBox="true"/>
            <p:nvPr/>
          </p:nvSpPr>
          <p:spPr>
            <a:xfrm rot="0">
              <a:off x="822474" y="-76200"/>
              <a:ext cx="5922346" cy="11260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S</a:t>
              </a:r>
              <a:r>
                <a:rPr lang="en-US" sz="2499">
                  <a:solidFill>
                    <a:srgbClr val="14110F"/>
                  </a:solidFill>
                  <a:latin typeface="Times New Roman MT"/>
                  <a:ea typeface="Times New Roman MT"/>
                  <a:cs typeface="Times New Roman MT"/>
                  <a:sym typeface="Times New Roman MT"/>
                </a:rPr>
                <a:t>pecs Score</a:t>
              </a:r>
            </a:p>
            <a:p>
              <a:pPr algn="l">
                <a:lnSpc>
                  <a:spcPts val="3249"/>
                </a:lnSpc>
              </a:pPr>
            </a:p>
          </p:txBody>
        </p:sp>
      </p:grpSp>
      <p:grpSp>
        <p:nvGrpSpPr>
          <p:cNvPr name="Group 19" id="19"/>
          <p:cNvGrpSpPr/>
          <p:nvPr/>
        </p:nvGrpSpPr>
        <p:grpSpPr>
          <a:xfrm rot="0">
            <a:off x="1744645" y="4954588"/>
            <a:ext cx="5058615" cy="377825"/>
            <a:chOff x="0" y="0"/>
            <a:chExt cx="6744820" cy="503767"/>
          </a:xfrm>
        </p:grpSpPr>
        <p:grpSp>
          <p:nvGrpSpPr>
            <p:cNvPr name="Group 20" id="20"/>
            <p:cNvGrpSpPr/>
            <p:nvPr/>
          </p:nvGrpSpPr>
          <p:grpSpPr>
            <a:xfrm rot="0">
              <a:off x="0" y="125942"/>
              <a:ext cx="251883" cy="251883"/>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29D9E"/>
              </a:solidFill>
            </p:spPr>
          </p:sp>
        </p:grpSp>
        <p:sp>
          <p:nvSpPr>
            <p:cNvPr name="TextBox 22" id="22"/>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Conectividad</a:t>
              </a:r>
            </a:p>
          </p:txBody>
        </p:sp>
      </p:grpSp>
      <p:pic>
        <p:nvPicPr>
          <p:cNvPr name="Picture 23" id="23" descr="donut chart"/>
          <p:cNvPicPr>
            <a:picLocks noChangeAspect="true"/>
          </p:cNvPicPr>
          <p:nvPr/>
        </p:nvPicPr>
        <p:blipFill>
          <a:blip r:embed="rId2"/>
          <a:stretch>
            <a:fillRect/>
          </a:stretch>
        </p:blipFill>
        <p:spPr>
          <a:xfrm rot="0">
            <a:off x="9310597" y="1674720"/>
            <a:ext cx="7167257" cy="6723006"/>
          </a:xfrm>
          <a:prstGeom prst="rect">
            <a:avLst/>
          </a:prstGeom>
        </p:spPr>
      </p:pic>
      <p:sp>
        <p:nvSpPr>
          <p:cNvPr name="AutoShape 24" id="24">
            <a:extLst>
              <a:ext uri="{C183D7F6-B498-43B3-948B-1728B52AA6E4}">
                <adec:decorative xmlns:adec="http://schemas.microsoft.com/office/drawing/2017/decorative" val="1"/>
              </a:ext>
            </a:extLst>
          </p:cNvPr>
          <p:cNvSpPr/>
          <p:nvPr/>
        </p:nvSpPr>
        <p:spPr>
          <a:xfrm>
            <a:off x="1493321" y="2580830"/>
            <a:ext cx="5561263" cy="0"/>
          </a:xfrm>
          <a:prstGeom prst="line">
            <a:avLst/>
          </a:prstGeom>
          <a:ln cap="flat" w="104775">
            <a:solidFill>
              <a:srgbClr val="FA632A"/>
            </a:solidFill>
            <a:prstDash val="solid"/>
            <a:headEnd type="none" len="sm" w="sm"/>
            <a:tailEnd type="none" len="sm" w="sm"/>
          </a:ln>
        </p:spPr>
      </p:sp>
      <p:grpSp>
        <p:nvGrpSpPr>
          <p:cNvPr name="Group 25" id="25"/>
          <p:cNvGrpSpPr/>
          <p:nvPr/>
        </p:nvGrpSpPr>
        <p:grpSpPr>
          <a:xfrm rot="0">
            <a:off x="1744645" y="5458561"/>
            <a:ext cx="5058615" cy="377825"/>
            <a:chOff x="0" y="0"/>
            <a:chExt cx="6744820" cy="503767"/>
          </a:xfrm>
        </p:grpSpPr>
        <p:grpSp>
          <p:nvGrpSpPr>
            <p:cNvPr name="Group 26" id="26"/>
            <p:cNvGrpSpPr/>
            <p:nvPr/>
          </p:nvGrpSpPr>
          <p:grpSpPr>
            <a:xfrm rot="0">
              <a:off x="0" y="125942"/>
              <a:ext cx="251883" cy="251883"/>
              <a:chOff x="0" y="0"/>
              <a:chExt cx="6350000" cy="6350000"/>
            </a:xfrm>
          </p:grpSpPr>
          <p:sp>
            <p:nvSpPr>
              <p:cNvPr name="Freeform 27" id="2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29D9E"/>
              </a:solidFill>
            </p:spPr>
          </p:sp>
        </p:grpSp>
        <p:sp>
          <p:nvSpPr>
            <p:cNvPr name="TextBox 28" id="28"/>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Procesador</a:t>
              </a:r>
            </a:p>
          </p:txBody>
        </p:sp>
      </p:grpSp>
      <p:grpSp>
        <p:nvGrpSpPr>
          <p:cNvPr name="Group 29" id="29"/>
          <p:cNvGrpSpPr/>
          <p:nvPr/>
        </p:nvGrpSpPr>
        <p:grpSpPr>
          <a:xfrm rot="0">
            <a:off x="1744645" y="5931636"/>
            <a:ext cx="5058615" cy="377825"/>
            <a:chOff x="0" y="0"/>
            <a:chExt cx="6744820" cy="503767"/>
          </a:xfrm>
        </p:grpSpPr>
        <p:grpSp>
          <p:nvGrpSpPr>
            <p:cNvPr name="Group 30" id="30"/>
            <p:cNvGrpSpPr/>
            <p:nvPr/>
          </p:nvGrpSpPr>
          <p:grpSpPr>
            <a:xfrm rot="0">
              <a:off x="0" y="125942"/>
              <a:ext cx="251883" cy="251883"/>
              <a:chOff x="0" y="0"/>
              <a:chExt cx="6350000" cy="6350000"/>
            </a:xfrm>
          </p:grpSpPr>
          <p:sp>
            <p:nvSpPr>
              <p:cNvPr name="Freeform 31" id="3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solidFill>
            </p:spPr>
          </p:sp>
        </p:grpSp>
        <p:sp>
          <p:nvSpPr>
            <p:cNvPr name="TextBox 32" id="32"/>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Almacenamiento</a:t>
              </a:r>
            </a:p>
          </p:txBody>
        </p:sp>
      </p:grpSp>
      <p:grpSp>
        <p:nvGrpSpPr>
          <p:cNvPr name="Group 33" id="33"/>
          <p:cNvGrpSpPr/>
          <p:nvPr/>
        </p:nvGrpSpPr>
        <p:grpSpPr>
          <a:xfrm rot="0">
            <a:off x="1744645" y="6404711"/>
            <a:ext cx="5058615" cy="377825"/>
            <a:chOff x="0" y="0"/>
            <a:chExt cx="6744820" cy="503767"/>
          </a:xfrm>
        </p:grpSpPr>
        <p:grpSp>
          <p:nvGrpSpPr>
            <p:cNvPr name="Group 34" id="34"/>
            <p:cNvGrpSpPr/>
            <p:nvPr/>
          </p:nvGrpSpPr>
          <p:grpSpPr>
            <a:xfrm rot="0">
              <a:off x="0" y="125942"/>
              <a:ext cx="251883" cy="251883"/>
              <a:chOff x="0" y="0"/>
              <a:chExt cx="6350000" cy="6350000"/>
            </a:xfrm>
          </p:grpSpPr>
          <p:sp>
            <p:nvSpPr>
              <p:cNvPr name="Freeform 35" id="3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solidFill>
            </p:spPr>
          </p:sp>
        </p:grpSp>
        <p:sp>
          <p:nvSpPr>
            <p:cNvPr name="TextBox 36" id="36"/>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Batería</a:t>
              </a:r>
            </a:p>
          </p:txBody>
        </p:sp>
      </p:grpSp>
      <p:grpSp>
        <p:nvGrpSpPr>
          <p:cNvPr name="Group 37" id="37"/>
          <p:cNvGrpSpPr/>
          <p:nvPr/>
        </p:nvGrpSpPr>
        <p:grpSpPr>
          <a:xfrm rot="0">
            <a:off x="1744645" y="6906361"/>
            <a:ext cx="5058615" cy="787400"/>
            <a:chOff x="0" y="0"/>
            <a:chExt cx="6744820" cy="1049867"/>
          </a:xfrm>
        </p:grpSpPr>
        <p:grpSp>
          <p:nvGrpSpPr>
            <p:cNvPr name="Group 38" id="38"/>
            <p:cNvGrpSpPr/>
            <p:nvPr/>
          </p:nvGrpSpPr>
          <p:grpSpPr>
            <a:xfrm rot="0">
              <a:off x="0" y="125942"/>
              <a:ext cx="251883" cy="251883"/>
              <a:chOff x="0" y="0"/>
              <a:chExt cx="6350000" cy="6350000"/>
            </a:xfrm>
          </p:grpSpPr>
          <p:sp>
            <p:nvSpPr>
              <p:cNvPr name="Freeform 39" id="3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solidFill>
            </p:spPr>
          </p:sp>
        </p:grpSp>
        <p:sp>
          <p:nvSpPr>
            <p:cNvPr name="TextBox 40" id="40"/>
            <p:cNvSpPr txBox="true"/>
            <p:nvPr/>
          </p:nvSpPr>
          <p:spPr>
            <a:xfrm rot="0">
              <a:off x="822474" y="-76200"/>
              <a:ext cx="5922346" cy="11260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Tamaño de pantalla en pulgadas</a:t>
              </a:r>
            </a:p>
            <a:p>
              <a:pPr algn="l">
                <a:lnSpc>
                  <a:spcPts val="3249"/>
                </a:lnSpc>
              </a:pPr>
            </a:p>
          </p:txBody>
        </p:sp>
      </p:grpSp>
      <p:grpSp>
        <p:nvGrpSpPr>
          <p:cNvPr name="Group 41" id="41"/>
          <p:cNvGrpSpPr/>
          <p:nvPr/>
        </p:nvGrpSpPr>
        <p:grpSpPr>
          <a:xfrm rot="0">
            <a:off x="1744645" y="7300061"/>
            <a:ext cx="5058615" cy="377825"/>
            <a:chOff x="0" y="0"/>
            <a:chExt cx="6744820" cy="503767"/>
          </a:xfrm>
        </p:grpSpPr>
        <p:grpSp>
          <p:nvGrpSpPr>
            <p:cNvPr name="Group 42" id="42"/>
            <p:cNvGrpSpPr/>
            <p:nvPr/>
          </p:nvGrpSpPr>
          <p:grpSpPr>
            <a:xfrm rot="0">
              <a:off x="0" y="125942"/>
              <a:ext cx="251883" cy="251883"/>
              <a:chOff x="0" y="0"/>
              <a:chExt cx="6350000" cy="6350000"/>
            </a:xfrm>
          </p:grpSpPr>
          <p:sp>
            <p:nvSpPr>
              <p:cNvPr name="Freeform 43" id="4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solidFill>
            </p:spPr>
          </p:sp>
        </p:grpSp>
        <p:sp>
          <p:nvSpPr>
            <p:cNvPr name="TextBox 44" id="44"/>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Camara</a:t>
              </a:r>
            </a:p>
          </p:txBody>
        </p:sp>
      </p:grpSp>
      <p:grpSp>
        <p:nvGrpSpPr>
          <p:cNvPr name="Group 45" id="45"/>
          <p:cNvGrpSpPr/>
          <p:nvPr/>
        </p:nvGrpSpPr>
        <p:grpSpPr>
          <a:xfrm rot="0">
            <a:off x="1744645" y="7817586"/>
            <a:ext cx="5058615" cy="377825"/>
            <a:chOff x="0" y="0"/>
            <a:chExt cx="6744820" cy="503767"/>
          </a:xfrm>
        </p:grpSpPr>
        <p:grpSp>
          <p:nvGrpSpPr>
            <p:cNvPr name="Group 46" id="46"/>
            <p:cNvGrpSpPr/>
            <p:nvPr/>
          </p:nvGrpSpPr>
          <p:grpSpPr>
            <a:xfrm rot="0">
              <a:off x="0" y="125942"/>
              <a:ext cx="251883" cy="251883"/>
              <a:chOff x="0" y="0"/>
              <a:chExt cx="6350000" cy="6350000"/>
            </a:xfrm>
          </p:grpSpPr>
          <p:sp>
            <p:nvSpPr>
              <p:cNvPr name="Freeform 47" id="4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solidFill>
            </p:spPr>
          </p:sp>
        </p:grpSp>
        <p:sp>
          <p:nvSpPr>
            <p:cNvPr name="TextBox 48" id="48"/>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Almacenamiento extra</a:t>
              </a:r>
            </a:p>
          </p:txBody>
        </p:sp>
      </p:grpSp>
      <p:grpSp>
        <p:nvGrpSpPr>
          <p:cNvPr name="Group 49" id="49"/>
          <p:cNvGrpSpPr/>
          <p:nvPr/>
        </p:nvGrpSpPr>
        <p:grpSpPr>
          <a:xfrm rot="0">
            <a:off x="1744645" y="8290661"/>
            <a:ext cx="5058615" cy="377825"/>
            <a:chOff x="0" y="0"/>
            <a:chExt cx="6744820" cy="503767"/>
          </a:xfrm>
        </p:grpSpPr>
        <p:grpSp>
          <p:nvGrpSpPr>
            <p:cNvPr name="Group 50" id="50"/>
            <p:cNvGrpSpPr/>
            <p:nvPr/>
          </p:nvGrpSpPr>
          <p:grpSpPr>
            <a:xfrm rot="0">
              <a:off x="0" y="125942"/>
              <a:ext cx="251883" cy="251883"/>
              <a:chOff x="0" y="0"/>
              <a:chExt cx="6350000" cy="6350000"/>
            </a:xfrm>
          </p:grpSpPr>
          <p:sp>
            <p:nvSpPr>
              <p:cNvPr name="Freeform 51" id="5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52" id="52"/>
            <p:cNvSpPr txBox="true"/>
            <p:nvPr/>
          </p:nvSpPr>
          <p:spPr>
            <a:xfrm rot="0">
              <a:off x="822474" y="-76200"/>
              <a:ext cx="5922346" cy="579967"/>
            </a:xfrm>
            <a:prstGeom prst="rect">
              <a:avLst/>
            </a:prstGeom>
          </p:spPr>
          <p:txBody>
            <a:bodyPr anchor="t" rtlCol="false" tIns="0" lIns="0" bIns="0" rIns="0">
              <a:spAutoFit/>
            </a:bodyPr>
            <a:lstStyle/>
            <a:p>
              <a:pPr algn="l">
                <a:lnSpc>
                  <a:spcPts val="3249"/>
                </a:lnSpc>
              </a:pPr>
              <a:r>
                <a:rPr lang="en-US" sz="2499">
                  <a:solidFill>
                    <a:srgbClr val="14110F"/>
                  </a:solidFill>
                  <a:latin typeface="Times New Roman MT"/>
                  <a:ea typeface="Times New Roman MT"/>
                  <a:cs typeface="Times New Roman MT"/>
                  <a:sym typeface="Times New Roman MT"/>
                </a:rPr>
                <a:t>Os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9008527" y="3845941"/>
            <a:ext cx="9279473" cy="0"/>
          </a:xfrm>
          <a:prstGeom prst="line">
            <a:avLst/>
          </a:prstGeom>
          <a:ln cap="rnd" w="9525">
            <a:solidFill>
              <a:srgbClr val="FFFFFF"/>
            </a:solidFill>
            <a:prstDash val="solid"/>
            <a:headEnd type="none" len="sm" w="sm"/>
            <a:tailEnd type="none" len="sm" w="sm"/>
          </a:ln>
        </p:spPr>
      </p:sp>
      <p:sp>
        <p:nvSpPr>
          <p:cNvPr name="AutoShape 3" id="3">
            <a:extLst>
              <a:ext uri="{C183D7F6-B498-43B3-948B-1728B52AA6E4}">
                <adec:decorative xmlns:adec="http://schemas.microsoft.com/office/drawing/2017/decorative" val="1"/>
              </a:ext>
            </a:extLst>
          </p:cNvPr>
          <p:cNvSpPr/>
          <p:nvPr/>
        </p:nvSpPr>
        <p:spPr>
          <a:xfrm>
            <a:off x="9008527" y="7072619"/>
            <a:ext cx="9279473" cy="0"/>
          </a:xfrm>
          <a:prstGeom prst="line">
            <a:avLst/>
          </a:prstGeom>
          <a:ln cap="rnd" w="9525">
            <a:solidFill>
              <a:srgbClr val="FFFFFF"/>
            </a:solidFill>
            <a:prstDash val="solid"/>
            <a:headEnd type="none" len="sm" w="sm"/>
            <a:tailEnd type="none" len="sm" w="sm"/>
          </a:ln>
        </p:spPr>
      </p:sp>
      <p:sp>
        <p:nvSpPr>
          <p:cNvPr name="Freeform 4" id="4" descr="a black and white calendar icon"/>
          <p:cNvSpPr/>
          <p:nvPr/>
        </p:nvSpPr>
        <p:spPr>
          <a:xfrm flipH="false" flipV="false" rot="0">
            <a:off x="7478004" y="7384617"/>
            <a:ext cx="718715" cy="543610"/>
          </a:xfrm>
          <a:custGeom>
            <a:avLst/>
            <a:gdLst/>
            <a:ahLst/>
            <a:cxnLst/>
            <a:rect r="r" b="b" t="t" l="l"/>
            <a:pathLst>
              <a:path h="543610" w="718715">
                <a:moveTo>
                  <a:pt x="0" y="0"/>
                </a:moveTo>
                <a:lnTo>
                  <a:pt x="718714" y="0"/>
                </a:lnTo>
                <a:lnTo>
                  <a:pt x="718714" y="543610"/>
                </a:lnTo>
                <a:lnTo>
                  <a:pt x="0" y="543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descr="a black and white icon of a bar graph"/>
          <p:cNvSpPr/>
          <p:nvPr/>
        </p:nvSpPr>
        <p:spPr>
          <a:xfrm flipH="false" flipV="false" rot="0">
            <a:off x="7674821" y="3989398"/>
            <a:ext cx="718715" cy="543610"/>
          </a:xfrm>
          <a:custGeom>
            <a:avLst/>
            <a:gdLst/>
            <a:ahLst/>
            <a:cxnLst/>
            <a:rect r="r" b="b" t="t" l="l"/>
            <a:pathLst>
              <a:path h="543610" w="718715">
                <a:moveTo>
                  <a:pt x="0" y="0"/>
                </a:moveTo>
                <a:lnTo>
                  <a:pt x="718714" y="0"/>
                </a:lnTo>
                <a:lnTo>
                  <a:pt x="718714" y="543610"/>
                </a:lnTo>
                <a:lnTo>
                  <a:pt x="0" y="543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descr="a black and white settings icon"/>
          <p:cNvSpPr/>
          <p:nvPr/>
        </p:nvSpPr>
        <p:spPr>
          <a:xfrm flipH="false" flipV="false" rot="0">
            <a:off x="7478004" y="1028700"/>
            <a:ext cx="718715" cy="584119"/>
          </a:xfrm>
          <a:custGeom>
            <a:avLst/>
            <a:gdLst/>
            <a:ahLst/>
            <a:cxnLst/>
            <a:rect r="r" b="b" t="t" l="l"/>
            <a:pathLst>
              <a:path h="584119" w="718715">
                <a:moveTo>
                  <a:pt x="0" y="0"/>
                </a:moveTo>
                <a:lnTo>
                  <a:pt x="718714" y="0"/>
                </a:lnTo>
                <a:lnTo>
                  <a:pt x="718714" y="584119"/>
                </a:lnTo>
                <a:lnTo>
                  <a:pt x="0" y="5841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357126" y="286327"/>
            <a:ext cx="6152719" cy="5773671"/>
            <a:chOff x="0" y="0"/>
            <a:chExt cx="8203626" cy="7698229"/>
          </a:xfrm>
        </p:grpSpPr>
        <p:sp>
          <p:nvSpPr>
            <p:cNvPr name="TextBox 8" id="8"/>
            <p:cNvSpPr txBox="true"/>
            <p:nvPr/>
          </p:nvSpPr>
          <p:spPr>
            <a:xfrm rot="0">
              <a:off x="314509" y="-228600"/>
              <a:ext cx="7073505" cy="7140482"/>
            </a:xfrm>
            <a:prstGeom prst="rect">
              <a:avLst/>
            </a:prstGeom>
          </p:spPr>
          <p:txBody>
            <a:bodyPr anchor="t" rtlCol="false" tIns="0" lIns="0" bIns="0" rIns="0">
              <a:spAutoFit/>
            </a:bodyPr>
            <a:lstStyle/>
            <a:p>
              <a:pPr algn="l">
                <a:lnSpc>
                  <a:spcPts val="13606"/>
                </a:lnSpc>
              </a:pPr>
              <a:r>
                <a:rPr lang="en-US" sz="11338">
                  <a:solidFill>
                    <a:srgbClr val="FFFFFF"/>
                  </a:solidFill>
                  <a:latin typeface="Times New Roman MT"/>
                  <a:ea typeface="Times New Roman MT"/>
                  <a:cs typeface="Times New Roman MT"/>
                  <a:sym typeface="Times New Roman MT"/>
                </a:rPr>
                <a:t>Origen  </a:t>
              </a:r>
              <a:r>
                <a:rPr lang="en-US" sz="11338">
                  <a:solidFill>
                    <a:srgbClr val="FA632A"/>
                  </a:solidFill>
                  <a:latin typeface="Times New Roman MT"/>
                  <a:ea typeface="Times New Roman MT"/>
                  <a:cs typeface="Times New Roman MT"/>
                  <a:sym typeface="Times New Roman MT"/>
                </a:rPr>
                <a:t>de los </a:t>
              </a:r>
              <a:r>
                <a:rPr lang="en-US" sz="11338">
                  <a:solidFill>
                    <a:srgbClr val="FFFFFF"/>
                  </a:solidFill>
                  <a:latin typeface="Times New Roman MT"/>
                  <a:ea typeface="Times New Roman MT"/>
                  <a:cs typeface="Times New Roman MT"/>
                  <a:sym typeface="Times New Roman MT"/>
                </a:rPr>
                <a:t>datos</a:t>
              </a:r>
            </a:p>
          </p:txBody>
        </p:sp>
        <p:sp>
          <p:nvSpPr>
            <p:cNvPr name="AutoShape 9" id="9"/>
            <p:cNvSpPr/>
            <p:nvPr/>
          </p:nvSpPr>
          <p:spPr>
            <a:xfrm>
              <a:off x="0" y="7610230"/>
              <a:ext cx="8203626" cy="0"/>
            </a:xfrm>
            <a:prstGeom prst="line">
              <a:avLst/>
            </a:prstGeom>
            <a:ln cap="flat" w="175997">
              <a:solidFill>
                <a:srgbClr val="FA632A"/>
              </a:solidFill>
              <a:prstDash val="solid"/>
              <a:headEnd type="none" len="sm" w="sm"/>
              <a:tailEnd type="none" len="sm" w="sm"/>
            </a:ln>
          </p:spPr>
        </p:sp>
      </p:grpSp>
      <p:sp>
        <p:nvSpPr>
          <p:cNvPr name="Freeform 10" id="10"/>
          <p:cNvSpPr/>
          <p:nvPr/>
        </p:nvSpPr>
        <p:spPr>
          <a:xfrm flipH="false" flipV="false" rot="0">
            <a:off x="2285622" y="6485381"/>
            <a:ext cx="1924436" cy="1798473"/>
          </a:xfrm>
          <a:custGeom>
            <a:avLst/>
            <a:gdLst/>
            <a:ahLst/>
            <a:cxnLst/>
            <a:rect r="r" b="b" t="t" l="l"/>
            <a:pathLst>
              <a:path h="1798473" w="1924436">
                <a:moveTo>
                  <a:pt x="0" y="0"/>
                </a:moveTo>
                <a:lnTo>
                  <a:pt x="1924436" y="0"/>
                </a:lnTo>
                <a:lnTo>
                  <a:pt x="1924436" y="1798473"/>
                </a:lnTo>
                <a:lnTo>
                  <a:pt x="0" y="1798473"/>
                </a:lnTo>
                <a:lnTo>
                  <a:pt x="0" y="0"/>
                </a:lnTo>
                <a:close/>
              </a:path>
            </a:pathLst>
          </a:custGeom>
          <a:blipFill>
            <a:blip r:embed="rId8">
              <a:alphaModFix amt="21999"/>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2220733">
            <a:off x="1006140" y="7934815"/>
            <a:ext cx="2558965" cy="2184017"/>
          </a:xfrm>
          <a:custGeom>
            <a:avLst/>
            <a:gdLst/>
            <a:ahLst/>
            <a:cxnLst/>
            <a:rect r="r" b="b" t="t" l="l"/>
            <a:pathLst>
              <a:path h="2184017" w="2558965">
                <a:moveTo>
                  <a:pt x="0" y="0"/>
                </a:moveTo>
                <a:lnTo>
                  <a:pt x="2558964" y="0"/>
                </a:lnTo>
                <a:lnTo>
                  <a:pt x="2558964" y="2184017"/>
                </a:lnTo>
                <a:lnTo>
                  <a:pt x="0" y="21840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2" id="12"/>
          <p:cNvGrpSpPr/>
          <p:nvPr/>
        </p:nvGrpSpPr>
        <p:grpSpPr>
          <a:xfrm rot="0">
            <a:off x="9008527" y="1241879"/>
            <a:ext cx="8070503" cy="2402183"/>
            <a:chOff x="0" y="0"/>
            <a:chExt cx="10760670" cy="3202911"/>
          </a:xfrm>
        </p:grpSpPr>
        <p:sp>
          <p:nvSpPr>
            <p:cNvPr name="TextBox 13" id="13"/>
            <p:cNvSpPr txBox="true"/>
            <p:nvPr/>
          </p:nvSpPr>
          <p:spPr>
            <a:xfrm rot="0">
              <a:off x="0" y="-95250"/>
              <a:ext cx="10760670" cy="704850"/>
            </a:xfrm>
            <a:prstGeom prst="rect">
              <a:avLst/>
            </a:prstGeom>
          </p:spPr>
          <p:txBody>
            <a:bodyPr anchor="t" rtlCol="false" tIns="0" lIns="0" bIns="0" rIns="0">
              <a:spAutoFit/>
            </a:bodyPr>
            <a:lstStyle/>
            <a:p>
              <a:pPr algn="l">
                <a:lnSpc>
                  <a:spcPts val="3900"/>
                </a:lnSpc>
              </a:pPr>
              <a:r>
                <a:rPr lang="en-US" sz="3000">
                  <a:solidFill>
                    <a:srgbClr val="FA632A"/>
                  </a:solidFill>
                  <a:latin typeface="Times New Roman MT"/>
                  <a:ea typeface="Times New Roman MT"/>
                  <a:cs typeface="Times New Roman MT"/>
                  <a:sym typeface="Times New Roman MT"/>
                </a:rPr>
                <a:t>Kaggle</a:t>
              </a:r>
            </a:p>
          </p:txBody>
        </p:sp>
        <p:sp>
          <p:nvSpPr>
            <p:cNvPr name="TextBox 14" id="14"/>
            <p:cNvSpPr txBox="true"/>
            <p:nvPr/>
          </p:nvSpPr>
          <p:spPr>
            <a:xfrm rot="0">
              <a:off x="0" y="885796"/>
              <a:ext cx="10760670" cy="2317115"/>
            </a:xfrm>
            <a:prstGeom prst="rect">
              <a:avLst/>
            </a:prstGeom>
          </p:spPr>
          <p:txBody>
            <a:bodyPr anchor="t" rtlCol="false" tIns="0" lIns="0" bIns="0" rIns="0">
              <a:spAutoFit/>
            </a:bodyPr>
            <a:lstStyle/>
            <a:p>
              <a:pPr algn="l">
                <a:lnSpc>
                  <a:spcPts val="2730"/>
                </a:lnSpc>
              </a:pPr>
              <a:r>
                <a:rPr lang="en-US" sz="2100">
                  <a:solidFill>
                    <a:srgbClr val="FFFFFF"/>
                  </a:solidFill>
                  <a:latin typeface="Times New Roman MT"/>
                  <a:ea typeface="Times New Roman MT"/>
                  <a:cs typeface="Times New Roman MT"/>
                  <a:sym typeface="Times New Roman MT"/>
                </a:rPr>
                <a:t>Originalmente estos datos fueron scrapeados por el usuario Santosh Gupta en kaggle llamado como Santosh Gupta | Novice | Kaggle en donde creó un repositorio con los datos necesarios para este trabajo: Latest Uncleaned Mobile Dataset (2024). Decidimos investigar más sobre el repositorio ya que los datos deben ser verídicos.</a:t>
              </a:r>
            </a:p>
          </p:txBody>
        </p:sp>
      </p:grpSp>
      <p:sp>
        <p:nvSpPr>
          <p:cNvPr name="TextBox 15" id="15"/>
          <p:cNvSpPr txBox="true"/>
          <p:nvPr/>
        </p:nvSpPr>
        <p:spPr>
          <a:xfrm rot="0">
            <a:off x="9008527" y="3894148"/>
            <a:ext cx="8070503" cy="552450"/>
          </a:xfrm>
          <a:prstGeom prst="rect">
            <a:avLst/>
          </a:prstGeom>
        </p:spPr>
        <p:txBody>
          <a:bodyPr anchor="t" rtlCol="false" tIns="0" lIns="0" bIns="0" rIns="0">
            <a:spAutoFit/>
          </a:bodyPr>
          <a:lstStyle/>
          <a:p>
            <a:pPr algn="l">
              <a:lnSpc>
                <a:spcPts val="3900"/>
              </a:lnSpc>
            </a:pPr>
            <a:r>
              <a:rPr lang="en-US" sz="3000">
                <a:solidFill>
                  <a:srgbClr val="FA632A"/>
                </a:solidFill>
                <a:latin typeface="Times New Roman MT"/>
                <a:ea typeface="Times New Roman MT"/>
                <a:cs typeface="Times New Roman MT"/>
                <a:sym typeface="Times New Roman MT"/>
              </a:rPr>
              <a:t>Github</a:t>
            </a:r>
          </a:p>
        </p:txBody>
      </p:sp>
      <p:sp>
        <p:nvSpPr>
          <p:cNvPr name="TextBox 16" id="16"/>
          <p:cNvSpPr txBox="true"/>
          <p:nvPr/>
        </p:nvSpPr>
        <p:spPr>
          <a:xfrm rot="0">
            <a:off x="9008527" y="4637077"/>
            <a:ext cx="8070503" cy="2440305"/>
          </a:xfrm>
          <a:prstGeom prst="rect">
            <a:avLst/>
          </a:prstGeom>
        </p:spPr>
        <p:txBody>
          <a:bodyPr anchor="t" rtlCol="false" tIns="0" lIns="0" bIns="0" rIns="0">
            <a:spAutoFit/>
          </a:bodyPr>
          <a:lstStyle/>
          <a:p>
            <a:pPr algn="l">
              <a:lnSpc>
                <a:spcPts val="2730"/>
              </a:lnSpc>
            </a:pPr>
            <a:r>
              <a:rPr lang="en-US" sz="2100">
                <a:solidFill>
                  <a:srgbClr val="FFFFFF"/>
                </a:solidFill>
                <a:latin typeface="Times New Roman MT"/>
                <a:ea typeface="Times New Roman MT"/>
                <a:cs typeface="Times New Roman MT"/>
                <a:sym typeface="Times New Roman MT"/>
              </a:rPr>
              <a:t>Se encontró el Github: Samarth-DataScience (Santosh Gupta) y también su Linkedin (13) Santosh G. | LinkedIn. Se necesita saber de dónde llegaron esos datos, así que se revisó el Github: Samarth-DataScience (Santosh Gupta) y logró dar con el repositorio donde scrapeó los datos Samarth-DataScience/Web-Scrapping-Project: In this repo I will add all the procedure of web scrapping that I have done on. </a:t>
            </a:r>
          </a:p>
        </p:txBody>
      </p:sp>
      <p:grpSp>
        <p:nvGrpSpPr>
          <p:cNvPr name="Group 17" id="17"/>
          <p:cNvGrpSpPr/>
          <p:nvPr/>
        </p:nvGrpSpPr>
        <p:grpSpPr>
          <a:xfrm rot="0">
            <a:off x="9008527" y="7384617"/>
            <a:ext cx="8070503" cy="2402183"/>
            <a:chOff x="0" y="0"/>
            <a:chExt cx="10760670" cy="3202911"/>
          </a:xfrm>
        </p:grpSpPr>
        <p:sp>
          <p:nvSpPr>
            <p:cNvPr name="TextBox 18" id="18"/>
            <p:cNvSpPr txBox="true"/>
            <p:nvPr/>
          </p:nvSpPr>
          <p:spPr>
            <a:xfrm rot="0">
              <a:off x="0" y="-95250"/>
              <a:ext cx="10760670" cy="704850"/>
            </a:xfrm>
            <a:prstGeom prst="rect">
              <a:avLst/>
            </a:prstGeom>
          </p:spPr>
          <p:txBody>
            <a:bodyPr anchor="t" rtlCol="false" tIns="0" lIns="0" bIns="0" rIns="0">
              <a:spAutoFit/>
            </a:bodyPr>
            <a:lstStyle/>
            <a:p>
              <a:pPr algn="l">
                <a:lnSpc>
                  <a:spcPts val="3900"/>
                </a:lnSpc>
              </a:pPr>
              <a:r>
                <a:rPr lang="en-US" sz="3000">
                  <a:solidFill>
                    <a:srgbClr val="FA632A"/>
                  </a:solidFill>
                  <a:latin typeface="Times New Roman MT"/>
                  <a:ea typeface="Times New Roman MT"/>
                  <a:cs typeface="Times New Roman MT"/>
                  <a:sym typeface="Times New Roman MT"/>
                </a:rPr>
                <a:t>Smartprix</a:t>
              </a:r>
            </a:p>
          </p:txBody>
        </p:sp>
        <p:sp>
          <p:nvSpPr>
            <p:cNvPr name="TextBox 19" id="19"/>
            <p:cNvSpPr txBox="true"/>
            <p:nvPr/>
          </p:nvSpPr>
          <p:spPr>
            <a:xfrm rot="0">
              <a:off x="0" y="885796"/>
              <a:ext cx="10760670" cy="2317115"/>
            </a:xfrm>
            <a:prstGeom prst="rect">
              <a:avLst/>
            </a:prstGeom>
          </p:spPr>
          <p:txBody>
            <a:bodyPr anchor="t" rtlCol="false" tIns="0" lIns="0" bIns="0" rIns="0">
              <a:spAutoFit/>
            </a:bodyPr>
            <a:lstStyle/>
            <a:p>
              <a:pPr algn="l">
                <a:lnSpc>
                  <a:spcPts val="2730"/>
                </a:lnSpc>
              </a:pPr>
              <a:r>
                <a:rPr lang="en-US" sz="2100">
                  <a:solidFill>
                    <a:srgbClr val="FFFFFF"/>
                  </a:solidFill>
                  <a:latin typeface="Times New Roman MT"/>
                  <a:ea typeface="Times New Roman MT"/>
                  <a:cs typeface="Times New Roman MT"/>
                  <a:sym typeface="Times New Roman MT"/>
                </a:rPr>
                <a:t>Aunado a esto, viendo el código logramos llegar a la página web de donde provienen los datos Mobile Phones | Mobile Phones Online at Best Prices in India (Mar 2025) | Smartprix. A manera de información adicional, incluimos el enlace de su portafolio y datos de contacto: Santosh's Portfolio y +91-81-3031-0882.</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grpSp>
        <p:nvGrpSpPr>
          <p:cNvPr name="Group 2" id="2"/>
          <p:cNvGrpSpPr/>
          <p:nvPr/>
        </p:nvGrpSpPr>
        <p:grpSpPr>
          <a:xfrm rot="0">
            <a:off x="358637" y="342159"/>
            <a:ext cx="18591694" cy="2271241"/>
            <a:chOff x="0" y="0"/>
            <a:chExt cx="24788925" cy="3028321"/>
          </a:xfrm>
        </p:grpSpPr>
        <p:sp>
          <p:nvSpPr>
            <p:cNvPr name="TextBox 3" id="3"/>
            <p:cNvSpPr txBox="true"/>
            <p:nvPr/>
          </p:nvSpPr>
          <p:spPr>
            <a:xfrm rot="0">
              <a:off x="0" y="-180975"/>
              <a:ext cx="24788925" cy="2009775"/>
            </a:xfrm>
            <a:prstGeom prst="rect">
              <a:avLst/>
            </a:prstGeom>
          </p:spPr>
          <p:txBody>
            <a:bodyPr anchor="t" rtlCol="false" tIns="0" lIns="0" bIns="0" rIns="0">
              <a:spAutoFit/>
            </a:bodyPr>
            <a:lstStyle/>
            <a:p>
              <a:pPr algn="l">
                <a:lnSpc>
                  <a:spcPts val="10800"/>
                </a:lnSpc>
              </a:pPr>
              <a:r>
                <a:rPr lang="en-US" sz="9000">
                  <a:solidFill>
                    <a:srgbClr val="FFFFFF"/>
                  </a:solidFill>
                  <a:latin typeface="Times New Roman MT"/>
                  <a:ea typeface="Times New Roman MT"/>
                  <a:cs typeface="Times New Roman MT"/>
                  <a:sym typeface="Times New Roman MT"/>
                </a:rPr>
                <a:t>Analisis Exploratorio de los datos</a:t>
              </a:r>
            </a:p>
          </p:txBody>
        </p:sp>
        <p:sp>
          <p:nvSpPr>
            <p:cNvPr name="TextBox 4" id="4"/>
            <p:cNvSpPr txBox="true"/>
            <p:nvPr/>
          </p:nvSpPr>
          <p:spPr>
            <a:xfrm rot="0">
              <a:off x="0" y="2323471"/>
              <a:ext cx="24788925" cy="704850"/>
            </a:xfrm>
            <a:prstGeom prst="rect">
              <a:avLst/>
            </a:prstGeom>
          </p:spPr>
          <p:txBody>
            <a:bodyPr anchor="t" rtlCol="false" tIns="0" lIns="0" bIns="0" rIns="0">
              <a:spAutoFit/>
            </a:bodyPr>
            <a:lstStyle/>
            <a:p>
              <a:pPr algn="l">
                <a:lnSpc>
                  <a:spcPts val="3900"/>
                </a:lnSpc>
              </a:pPr>
            </a:p>
          </p:txBody>
        </p:sp>
      </p:grpSp>
      <p:sp>
        <p:nvSpPr>
          <p:cNvPr name="AutoShape 5" id="5">
            <a:extLst>
              <a:ext uri="{C183D7F6-B498-43B3-948B-1728B52AA6E4}">
                <adec:decorative xmlns:adec="http://schemas.microsoft.com/office/drawing/2017/decorative" val="1"/>
              </a:ext>
            </a:extLst>
          </p:cNvPr>
          <p:cNvSpPr/>
          <p:nvPr/>
        </p:nvSpPr>
        <p:spPr>
          <a:xfrm>
            <a:off x="358637" y="1769112"/>
            <a:ext cx="10961021" cy="0"/>
          </a:xfrm>
          <a:prstGeom prst="line">
            <a:avLst/>
          </a:prstGeom>
          <a:ln cap="flat" w="104775">
            <a:solidFill>
              <a:srgbClr val="FA632A"/>
            </a:solidFill>
            <a:prstDash val="solid"/>
            <a:headEnd type="none" len="sm" w="sm"/>
            <a:tailEnd type="none" len="sm" w="sm"/>
          </a:ln>
        </p:spPr>
      </p:sp>
      <p:graphicFrame>
        <p:nvGraphicFramePr>
          <p:cNvPr name="Table 6" id="6"/>
          <p:cNvGraphicFramePr>
            <a:graphicFrameLocks noGrp="true"/>
          </p:cNvGraphicFramePr>
          <p:nvPr/>
        </p:nvGraphicFramePr>
        <p:xfrm>
          <a:off x="1028700" y="2886075"/>
          <a:ext cx="16469488" cy="6372225"/>
        </p:xfrm>
        <a:graphic>
          <a:graphicData uri="http://schemas.openxmlformats.org/drawingml/2006/table">
            <a:tbl>
              <a:tblPr/>
              <a:tblGrid>
                <a:gridCol w="1372457"/>
                <a:gridCol w="1372457"/>
                <a:gridCol w="1372457"/>
                <a:gridCol w="1372457"/>
                <a:gridCol w="1372457"/>
                <a:gridCol w="1372457"/>
                <a:gridCol w="1372457"/>
                <a:gridCol w="1372457"/>
                <a:gridCol w="1372457"/>
                <a:gridCol w="1372457"/>
                <a:gridCol w="1372457"/>
                <a:gridCol w="1372457"/>
              </a:tblGrid>
              <a:tr h="419727">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Mobile Name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Price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Rating</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Specs_score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Connectivity</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Processor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Storage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Battery</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Display</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Camera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Extra_storage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Os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88124">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OPPO Reno 11</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₹29,990</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4,7</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86</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Dual Sim, 3G, 4G, 5G, VoLTE, Wi-Fi, NFC, IR Blaster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Dimensity 8200, Octa Core, 3.1 GHz Processor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8 GB RAM, 256 GB inbuilt</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4800 mAh Battery with 67W Fast Charging</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6.7 inches, 1080 x 2412 px, 120 Hz Display with Punch Hole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50 MP + 32 MP + 8 MP Triple Rear &amp; 32 MP Front Camera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Android v14</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No FM Radio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88124">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Xiaomi Redmi Note 13 Pro Plus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₹31,999</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4,35</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87</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Dual Sim, 3G, 4G, 5G, VoLTE, Wi-Fi, NFC, IR Blaster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Dimensity 7200 Ultra, Octa Core, 2.8 GHz Processor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8 GB RAM, 256 GB inbuilt</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5000 mAh Battery with 120W Fast Charging</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6.67 inches, 1220 x 2712 px, 120 Hz Display with Punch Hole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200 MP + 8 MP + 2 MP Triple Rear &amp; 16 MP Front Camera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Memory Card Not Supported</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Android v13</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88124">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OPPO Reno 11 Pro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₹40,990</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4,75</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88</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Dual Sim, 3G, 4G, 5G, VoLTE, Wi-Fi, NFC, IR Blaster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Dimensity 8200, Octa Core, 3.1 GHz Processor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12 GB RAM, 256 GB inbuilt</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4600 mAh Battery with 80W Fast Charging</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6.74 inches, 1240 x 2772 px, 120 Hz Display with Punch Hole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50 MP + 32 MP + 8 MP Triple Rear &amp; 32 MP Front Camera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Android v14</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No FM Radio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88124">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Poco X6 Pro 5G</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₹19,999</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4,5</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84</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Dual Sim, 3G, 4G, 5G, VoLTE, Wi-Fi, NFC, IR Blaster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Dimensity 8300 Ultra, Octa Core, 3.35 GHz Processor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12 GB RAM, 256 GB inbuilt</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5500 mAh Battery with 90W Fast Charging</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6.67 inches, 1220 x 2712 px, 120 Hz Display with Punch Hole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64 MP + 8 MP + 2 MP Triple Rear &amp; 16 MP Front Camera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FFFFFF"/>
                          </a:solidFill>
                          <a:latin typeface="Times New Roman MT"/>
                          <a:ea typeface="Times New Roman MT"/>
                          <a:cs typeface="Times New Roman MT"/>
                          <a:sym typeface="Times New Roman MT"/>
                        </a:rPr>
                        <a:t>Android v14</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Freeform 7" id="7"/>
          <p:cNvSpPr/>
          <p:nvPr/>
        </p:nvSpPr>
        <p:spPr>
          <a:xfrm flipH="false" flipV="false" rot="0">
            <a:off x="358637" y="8958080"/>
            <a:ext cx="314108" cy="1328920"/>
          </a:xfrm>
          <a:custGeom>
            <a:avLst/>
            <a:gdLst/>
            <a:ahLst/>
            <a:cxnLst/>
            <a:rect r="r" b="b" t="t" l="l"/>
            <a:pathLst>
              <a:path h="1328920" w="314108">
                <a:moveTo>
                  <a:pt x="0" y="0"/>
                </a:moveTo>
                <a:lnTo>
                  <a:pt x="314109" y="0"/>
                </a:lnTo>
                <a:lnTo>
                  <a:pt x="314109" y="1328920"/>
                </a:lnTo>
                <a:lnTo>
                  <a:pt x="0" y="1328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28700" y="2190750"/>
            <a:ext cx="5894487" cy="552450"/>
          </a:xfrm>
          <a:prstGeom prst="rect">
            <a:avLst/>
          </a:prstGeom>
        </p:spPr>
        <p:txBody>
          <a:bodyPr anchor="t" rtlCol="false" tIns="0" lIns="0" bIns="0" rIns="0">
            <a:spAutoFit/>
          </a:bodyPr>
          <a:lstStyle/>
          <a:p>
            <a:pPr algn="ctr">
              <a:lnSpc>
                <a:spcPts val="3900"/>
              </a:lnSpc>
              <a:spcBef>
                <a:spcPct val="0"/>
              </a:spcBef>
            </a:pPr>
            <a:r>
              <a:rPr lang="en-US" sz="3000">
                <a:solidFill>
                  <a:srgbClr val="FFFFFF"/>
                </a:solidFill>
                <a:latin typeface="Times New Roman MT"/>
                <a:ea typeface="Times New Roman MT"/>
                <a:cs typeface="Times New Roman MT"/>
                <a:sym typeface="Times New Roman MT"/>
              </a:rPr>
              <a:t>Representación del total de los datos</a:t>
            </a:r>
          </a:p>
        </p:txBody>
      </p:sp>
      <p:sp>
        <p:nvSpPr>
          <p:cNvPr name="TextBox 9" id="9"/>
          <p:cNvSpPr txBox="true"/>
          <p:nvPr/>
        </p:nvSpPr>
        <p:spPr>
          <a:xfrm rot="0">
            <a:off x="971147" y="9334500"/>
            <a:ext cx="16527041" cy="762320"/>
          </a:xfrm>
          <a:prstGeom prst="rect">
            <a:avLst/>
          </a:prstGeom>
        </p:spPr>
        <p:txBody>
          <a:bodyPr anchor="t" rtlCol="false" tIns="0" lIns="0" bIns="0" rIns="0">
            <a:spAutoFit/>
          </a:bodyPr>
          <a:lstStyle/>
          <a:p>
            <a:pPr algn="just">
              <a:lnSpc>
                <a:spcPts val="2892"/>
              </a:lnSpc>
              <a:spcBef>
                <a:spcPct val="0"/>
              </a:spcBef>
            </a:pPr>
            <a:r>
              <a:rPr lang="en-US" sz="2224">
                <a:solidFill>
                  <a:srgbClr val="FFFFFF"/>
                </a:solidFill>
                <a:latin typeface="Times New Roman MT"/>
                <a:ea typeface="Times New Roman MT"/>
                <a:cs typeface="Times New Roman MT"/>
                <a:sym typeface="Times New Roman MT"/>
              </a:rPr>
              <a:t>Nota: Estos datos de la tabla anterior están en bruto y no son los utilizados para realizar el modelo, ya que tuvo que hacerse un análisis exploratorio de los datos y algunas conversiones.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grpSp>
        <p:nvGrpSpPr>
          <p:cNvPr name="Group 2" id="2"/>
          <p:cNvGrpSpPr/>
          <p:nvPr/>
        </p:nvGrpSpPr>
        <p:grpSpPr>
          <a:xfrm rot="0">
            <a:off x="358637" y="342159"/>
            <a:ext cx="18591694" cy="2271241"/>
            <a:chOff x="0" y="0"/>
            <a:chExt cx="24788925" cy="3028321"/>
          </a:xfrm>
        </p:grpSpPr>
        <p:sp>
          <p:nvSpPr>
            <p:cNvPr name="TextBox 3" id="3"/>
            <p:cNvSpPr txBox="true"/>
            <p:nvPr/>
          </p:nvSpPr>
          <p:spPr>
            <a:xfrm rot="0">
              <a:off x="0" y="-180975"/>
              <a:ext cx="24788925" cy="2009775"/>
            </a:xfrm>
            <a:prstGeom prst="rect">
              <a:avLst/>
            </a:prstGeom>
          </p:spPr>
          <p:txBody>
            <a:bodyPr anchor="t" rtlCol="false" tIns="0" lIns="0" bIns="0" rIns="0">
              <a:spAutoFit/>
            </a:bodyPr>
            <a:lstStyle/>
            <a:p>
              <a:pPr algn="l">
                <a:lnSpc>
                  <a:spcPts val="10800"/>
                </a:lnSpc>
              </a:pPr>
              <a:r>
                <a:rPr lang="en-US" sz="9000">
                  <a:solidFill>
                    <a:srgbClr val="FFFFFF"/>
                  </a:solidFill>
                  <a:latin typeface="Times New Roman MT"/>
                  <a:ea typeface="Times New Roman MT"/>
                  <a:cs typeface="Times New Roman MT"/>
                  <a:sym typeface="Times New Roman MT"/>
                </a:rPr>
                <a:t>Analisis Exploratorio de los datos</a:t>
              </a:r>
            </a:p>
          </p:txBody>
        </p:sp>
        <p:sp>
          <p:nvSpPr>
            <p:cNvPr name="TextBox 4" id="4"/>
            <p:cNvSpPr txBox="true"/>
            <p:nvPr/>
          </p:nvSpPr>
          <p:spPr>
            <a:xfrm rot="0">
              <a:off x="0" y="2323471"/>
              <a:ext cx="24788925" cy="704850"/>
            </a:xfrm>
            <a:prstGeom prst="rect">
              <a:avLst/>
            </a:prstGeom>
          </p:spPr>
          <p:txBody>
            <a:bodyPr anchor="t" rtlCol="false" tIns="0" lIns="0" bIns="0" rIns="0">
              <a:spAutoFit/>
            </a:bodyPr>
            <a:lstStyle/>
            <a:p>
              <a:pPr algn="l">
                <a:lnSpc>
                  <a:spcPts val="3900"/>
                </a:lnSpc>
              </a:pPr>
            </a:p>
          </p:txBody>
        </p:sp>
      </p:grpSp>
      <p:sp>
        <p:nvSpPr>
          <p:cNvPr name="AutoShape 5" id="5">
            <a:extLst>
              <a:ext uri="{C183D7F6-B498-43B3-948B-1728B52AA6E4}">
                <adec:decorative xmlns:adec="http://schemas.microsoft.com/office/drawing/2017/decorative" val="1"/>
              </a:ext>
            </a:extLst>
          </p:cNvPr>
          <p:cNvSpPr/>
          <p:nvPr/>
        </p:nvSpPr>
        <p:spPr>
          <a:xfrm>
            <a:off x="358637" y="1769112"/>
            <a:ext cx="10961021" cy="0"/>
          </a:xfrm>
          <a:prstGeom prst="line">
            <a:avLst/>
          </a:prstGeom>
          <a:ln cap="flat" w="104775">
            <a:solidFill>
              <a:srgbClr val="FA632A"/>
            </a:solidFill>
            <a:prstDash val="solid"/>
            <a:headEnd type="none" len="sm" w="sm"/>
            <a:tailEnd type="none" len="sm" w="sm"/>
          </a:ln>
        </p:spPr>
      </p:sp>
      <p:sp>
        <p:nvSpPr>
          <p:cNvPr name="Freeform 6" id="6"/>
          <p:cNvSpPr/>
          <p:nvPr/>
        </p:nvSpPr>
        <p:spPr>
          <a:xfrm flipH="false" flipV="false" rot="0">
            <a:off x="272144" y="2613399"/>
            <a:ext cx="17743711" cy="3770539"/>
          </a:xfrm>
          <a:custGeom>
            <a:avLst/>
            <a:gdLst/>
            <a:ahLst/>
            <a:cxnLst/>
            <a:rect r="r" b="b" t="t" l="l"/>
            <a:pathLst>
              <a:path h="3770539" w="17743711">
                <a:moveTo>
                  <a:pt x="0" y="0"/>
                </a:moveTo>
                <a:lnTo>
                  <a:pt x="17743712" y="0"/>
                </a:lnTo>
                <a:lnTo>
                  <a:pt x="17743712" y="3770539"/>
                </a:lnTo>
                <a:lnTo>
                  <a:pt x="0" y="3770539"/>
                </a:lnTo>
                <a:lnTo>
                  <a:pt x="0" y="0"/>
                </a:lnTo>
                <a:close/>
              </a:path>
            </a:pathLst>
          </a:custGeom>
          <a:blipFill>
            <a:blip r:embed="rId2"/>
            <a:stretch>
              <a:fillRect l="0" t="0" r="0" b="0"/>
            </a:stretch>
          </a:blipFill>
        </p:spPr>
      </p:sp>
      <p:sp>
        <p:nvSpPr>
          <p:cNvPr name="TextBox 7" id="7"/>
          <p:cNvSpPr txBox="true"/>
          <p:nvPr/>
        </p:nvSpPr>
        <p:spPr>
          <a:xfrm rot="0">
            <a:off x="-492707" y="2041899"/>
            <a:ext cx="14330832" cy="1047750"/>
          </a:xfrm>
          <a:prstGeom prst="rect">
            <a:avLst/>
          </a:prstGeom>
        </p:spPr>
        <p:txBody>
          <a:bodyPr anchor="t" rtlCol="false" tIns="0" lIns="0" bIns="0" rIns="0">
            <a:spAutoFit/>
          </a:bodyPr>
          <a:lstStyle/>
          <a:p>
            <a:pPr algn="ctr">
              <a:lnSpc>
                <a:spcPts val="3900"/>
              </a:lnSpc>
            </a:pPr>
            <a:r>
              <a:rPr lang="en-US" sz="3000">
                <a:solidFill>
                  <a:srgbClr val="FFFFFF"/>
                </a:solidFill>
                <a:latin typeface="Times New Roman MT"/>
                <a:ea typeface="Times New Roman MT"/>
                <a:cs typeface="Times New Roman MT"/>
                <a:sym typeface="Times New Roman MT"/>
              </a:rPr>
              <a:t>Luego de hacer un Análisis exploratorio de los datos quedaría una tabla así:</a:t>
            </a:r>
          </a:p>
          <a:p>
            <a:pPr algn="ctr">
              <a:lnSpc>
                <a:spcPts val="3900"/>
              </a:lnSpc>
              <a:spcBef>
                <a:spcPct val="0"/>
              </a:spcBef>
            </a:pPr>
          </a:p>
        </p:txBody>
      </p:sp>
      <p:sp>
        <p:nvSpPr>
          <p:cNvPr name="TextBox 8" id="8"/>
          <p:cNvSpPr txBox="true"/>
          <p:nvPr/>
        </p:nvSpPr>
        <p:spPr>
          <a:xfrm rot="0">
            <a:off x="1028700" y="6603013"/>
            <a:ext cx="16230600" cy="3028950"/>
          </a:xfrm>
          <a:prstGeom prst="rect">
            <a:avLst/>
          </a:prstGeom>
        </p:spPr>
        <p:txBody>
          <a:bodyPr anchor="t" rtlCol="false" tIns="0" lIns="0" bIns="0" rIns="0">
            <a:spAutoFit/>
          </a:bodyPr>
          <a:lstStyle/>
          <a:p>
            <a:pPr algn="ctr">
              <a:lnSpc>
                <a:spcPts val="3900"/>
              </a:lnSpc>
              <a:spcBef>
                <a:spcPct val="0"/>
              </a:spcBef>
            </a:pPr>
            <a:r>
              <a:rPr lang="en-US" sz="3000">
                <a:solidFill>
                  <a:srgbClr val="FFFFFF"/>
                </a:solidFill>
                <a:latin typeface="Times New Roman MT"/>
                <a:ea typeface="Times New Roman MT"/>
                <a:cs typeface="Times New Roman MT"/>
                <a:sym typeface="Times New Roman MT"/>
              </a:rPr>
              <a:t>El proceso del analisis de datos se detalla en el archivo app.py de este repositorio.</a:t>
            </a:r>
          </a:p>
          <a:p>
            <a:pPr algn="ctr">
              <a:lnSpc>
                <a:spcPts val="3900"/>
              </a:lnSpc>
              <a:spcBef>
                <a:spcPct val="0"/>
              </a:spcBef>
            </a:pPr>
            <a:r>
              <a:rPr lang="en-US" sz="3000">
                <a:solidFill>
                  <a:srgbClr val="FFFFFF"/>
                </a:solidFill>
                <a:latin typeface="Times New Roman MT"/>
                <a:ea typeface="Times New Roman MT"/>
                <a:cs typeface="Times New Roman MT"/>
                <a:sym typeface="Times New Roman MT"/>
              </a:rPr>
              <a:t>Repositorio del Análisis exploratorio de los datos de los teléfonos:</a:t>
            </a:r>
          </a:p>
          <a:p>
            <a:pPr algn="ctr">
              <a:lnSpc>
                <a:spcPts val="3900"/>
              </a:lnSpc>
              <a:spcBef>
                <a:spcPct val="0"/>
              </a:spcBef>
            </a:pPr>
          </a:p>
          <a:p>
            <a:pPr algn="ctr">
              <a:lnSpc>
                <a:spcPts val="3900"/>
              </a:lnSpc>
              <a:spcBef>
                <a:spcPct val="0"/>
              </a:spcBef>
            </a:pPr>
            <a:r>
              <a:rPr lang="en-US" sz="3000">
                <a:solidFill>
                  <a:srgbClr val="FFFFFF"/>
                </a:solidFill>
                <a:latin typeface="Times New Roman MT"/>
                <a:ea typeface="Times New Roman MT"/>
                <a:cs typeface="Times New Roman MT"/>
                <a:sym typeface="Times New Roman MT"/>
              </a:rPr>
              <a:t>Byirosaleshd/Mobile-Statics: Este repositorio cumple con la funcion de hacer analisis a los diferentes telefonos del mercado(EDA)</a:t>
            </a:r>
          </a:p>
          <a:p>
            <a:pPr algn="ctr">
              <a:lnSpc>
                <a:spcPts val="390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grpSp>
        <p:nvGrpSpPr>
          <p:cNvPr name="Group 2" id="2"/>
          <p:cNvGrpSpPr/>
          <p:nvPr/>
        </p:nvGrpSpPr>
        <p:grpSpPr>
          <a:xfrm rot="0">
            <a:off x="358637" y="342159"/>
            <a:ext cx="13022616" cy="2271241"/>
            <a:chOff x="0" y="0"/>
            <a:chExt cx="17363488" cy="3028321"/>
          </a:xfrm>
        </p:grpSpPr>
        <p:sp>
          <p:nvSpPr>
            <p:cNvPr name="TextBox 3" id="3"/>
            <p:cNvSpPr txBox="true"/>
            <p:nvPr/>
          </p:nvSpPr>
          <p:spPr>
            <a:xfrm rot="0">
              <a:off x="0" y="-180975"/>
              <a:ext cx="17363488" cy="2009775"/>
            </a:xfrm>
            <a:prstGeom prst="rect">
              <a:avLst/>
            </a:prstGeom>
          </p:spPr>
          <p:txBody>
            <a:bodyPr anchor="t" rtlCol="false" tIns="0" lIns="0" bIns="0" rIns="0">
              <a:spAutoFit/>
            </a:bodyPr>
            <a:lstStyle/>
            <a:p>
              <a:pPr algn="l">
                <a:lnSpc>
                  <a:spcPts val="10800"/>
                </a:lnSpc>
              </a:pPr>
              <a:r>
                <a:rPr lang="en-US" sz="9000">
                  <a:solidFill>
                    <a:srgbClr val="FFFFFF"/>
                  </a:solidFill>
                  <a:latin typeface="Times New Roman MT"/>
                  <a:ea typeface="Times New Roman MT"/>
                  <a:cs typeface="Times New Roman MT"/>
                  <a:sym typeface="Times New Roman MT"/>
                </a:rPr>
                <a:t>Estadísticas descriptivas</a:t>
              </a:r>
            </a:p>
          </p:txBody>
        </p:sp>
        <p:sp>
          <p:nvSpPr>
            <p:cNvPr name="TextBox 4" id="4"/>
            <p:cNvSpPr txBox="true"/>
            <p:nvPr/>
          </p:nvSpPr>
          <p:spPr>
            <a:xfrm rot="0">
              <a:off x="0" y="2323471"/>
              <a:ext cx="17363488" cy="704850"/>
            </a:xfrm>
            <a:prstGeom prst="rect">
              <a:avLst/>
            </a:prstGeom>
          </p:spPr>
          <p:txBody>
            <a:bodyPr anchor="t" rtlCol="false" tIns="0" lIns="0" bIns="0" rIns="0">
              <a:spAutoFit/>
            </a:bodyPr>
            <a:lstStyle/>
            <a:p>
              <a:pPr algn="l">
                <a:lnSpc>
                  <a:spcPts val="3900"/>
                </a:lnSpc>
              </a:pPr>
            </a:p>
          </p:txBody>
        </p:sp>
      </p:grpSp>
      <p:sp>
        <p:nvSpPr>
          <p:cNvPr name="AutoShape 5" id="5">
            <a:extLst>
              <a:ext uri="{C183D7F6-B498-43B3-948B-1728B52AA6E4}">
                <adec:decorative xmlns:adec="http://schemas.microsoft.com/office/drawing/2017/decorative" val="1"/>
              </a:ext>
            </a:extLst>
          </p:cNvPr>
          <p:cNvSpPr/>
          <p:nvPr/>
        </p:nvSpPr>
        <p:spPr>
          <a:xfrm>
            <a:off x="358637" y="1769112"/>
            <a:ext cx="10961021" cy="0"/>
          </a:xfrm>
          <a:prstGeom prst="line">
            <a:avLst/>
          </a:prstGeom>
          <a:ln cap="flat" w="104775">
            <a:solidFill>
              <a:srgbClr val="FA632A"/>
            </a:solidFill>
            <a:prstDash val="solid"/>
            <a:headEnd type="none" len="sm" w="sm"/>
            <a:tailEnd type="none" len="sm" w="sm"/>
          </a:ln>
        </p:spPr>
      </p:sp>
      <p:graphicFrame>
        <p:nvGraphicFramePr>
          <p:cNvPr name="Table 6" id="6"/>
          <p:cNvGraphicFramePr>
            <a:graphicFrameLocks noGrp="true"/>
          </p:cNvGraphicFramePr>
          <p:nvPr/>
        </p:nvGraphicFramePr>
        <p:xfrm>
          <a:off x="2535608" y="2370054"/>
          <a:ext cx="12944000" cy="7044002"/>
        </p:xfrm>
        <a:graphic>
          <a:graphicData uri="http://schemas.openxmlformats.org/drawingml/2006/table">
            <a:tbl>
              <a:tblPr/>
              <a:tblGrid>
                <a:gridCol w="1618000"/>
                <a:gridCol w="1618000"/>
                <a:gridCol w="1618000"/>
                <a:gridCol w="2175439"/>
                <a:gridCol w="1060561"/>
                <a:gridCol w="1618000"/>
                <a:gridCol w="1618000"/>
                <a:gridCol w="1618000"/>
              </a:tblGrid>
              <a:tr h="955083">
                <a:tc rowSpan="2">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Times New Roman MT"/>
                          <a:ea typeface="Times New Roman MT"/>
                          <a:cs typeface="Times New Roman MT"/>
                          <a:sym typeface="Times New Roman MT"/>
                        </a:rPr>
                        <a:t>n</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Times New Roman MT"/>
                          <a:ea typeface="Times New Roman MT"/>
                          <a:cs typeface="Times New Roman MT"/>
                          <a:sym typeface="Times New Roman MT"/>
                        </a:rPr>
                        <a:t>Media</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Times New Roman MT"/>
                          <a:ea typeface="Times New Roman MT"/>
                          <a:cs typeface="Times New Roman MT"/>
                          <a:sym typeface="Times New Roman MT"/>
                        </a:rPr>
                        <a:t>Desviación</a:t>
                      </a:r>
                      <a:endParaRPr lang="en-US" sz="1100"/>
                    </a:p>
                    <a:p>
                      <a:pPr algn="ctr">
                        <a:lnSpc>
                          <a:spcPts val="2800"/>
                        </a:lnSpc>
                      </a:pPr>
                      <a:r>
                        <a:rPr lang="en-US" sz="2000">
                          <a:solidFill>
                            <a:srgbClr val="FFFFFF"/>
                          </a:solidFill>
                          <a:latin typeface="Times New Roman MT"/>
                          <a:ea typeface="Times New Roman MT"/>
                          <a:cs typeface="Times New Roman MT"/>
                          <a:sym typeface="Times New Roman MT"/>
                        </a:rPr>
                        <a:t>Estándar</a:t>
                      </a:r>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gridSpan="2">
                  <a:txBody>
                    <a:bodyPr anchor="t" rtlCol="false"/>
                    <a:lstStyle/>
                    <a:p>
                      <a:pPr algn="ctr">
                        <a:lnSpc>
                          <a:spcPts val="2800"/>
                        </a:lnSpc>
                        <a:defRPr/>
                      </a:pPr>
                      <a:r>
                        <a:rPr lang="en-US" sz="2000">
                          <a:solidFill>
                            <a:srgbClr val="FFFFFF"/>
                          </a:solidFill>
                          <a:latin typeface="Times New Roman MT"/>
                          <a:ea typeface="Times New Roman MT"/>
                          <a:cs typeface="Times New Roman MT"/>
                          <a:sym typeface="Times New Roman MT"/>
                        </a:rPr>
                        <a:t>Asimetría</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hMerge="true">
                  <a:txBody>
                    <a:bodyPr anchor="t" rtlCol="false"/>
                    <a:lstStyle/>
                    <a:p>
                      <a:pPr algn="ctr">
                        <a:lnSpc>
                          <a:spcPts val="2800"/>
                        </a:lnSpc>
                        <a:defRPr/>
                      </a:pPr>
                      <a:r>
                        <a:rPr lang="en-US" sz="2000">
                          <a:solidFill>
                            <a:srgbClr val="FFFFFF"/>
                          </a:solidFill>
                          <a:latin typeface="Times New Roman MT"/>
                          <a:ea typeface="Times New Roman MT"/>
                          <a:cs typeface="Times New Roman MT"/>
                          <a:sym typeface="Times New Roman MT"/>
                        </a:rPr>
                        <a:t>Asimetría</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gridSpan="2">
                  <a:txBody>
                    <a:bodyPr anchor="t" rtlCol="false"/>
                    <a:lstStyle/>
                    <a:p>
                      <a:pPr algn="ctr">
                        <a:lnSpc>
                          <a:spcPts val="2800"/>
                        </a:lnSpc>
                        <a:defRPr/>
                      </a:pPr>
                      <a:r>
                        <a:rPr lang="en-US" sz="2000">
                          <a:solidFill>
                            <a:srgbClr val="FFFFFF"/>
                          </a:solidFill>
                          <a:latin typeface="Times New Roman MT"/>
                          <a:ea typeface="Times New Roman MT"/>
                          <a:cs typeface="Times New Roman MT"/>
                          <a:sym typeface="Times New Roman MT"/>
                        </a:rPr>
                        <a:t>Kurtosis</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hMerge="true">
                  <a:txBody>
                    <a:bodyPr anchor="t" rtlCol="false"/>
                    <a:lstStyle/>
                    <a:p>
                      <a:pPr algn="ctr">
                        <a:lnSpc>
                          <a:spcPts val="2800"/>
                        </a:lnSpc>
                        <a:defRPr/>
                      </a:pPr>
                      <a:r>
                        <a:rPr lang="en-US" sz="2000">
                          <a:solidFill>
                            <a:srgbClr val="FFFFFF"/>
                          </a:solidFill>
                          <a:latin typeface="Times New Roman MT"/>
                          <a:ea typeface="Times New Roman MT"/>
                          <a:cs typeface="Times New Roman MT"/>
                          <a:sym typeface="Times New Roman MT"/>
                        </a:rPr>
                        <a:t>Kurtosis</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601702">
                <a:tc vMerge="true">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Desv. Error</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Desv. Error</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2292606">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Precio</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865</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358.65</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371.22</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5,441</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0,083</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56,928</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0,166</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1407272">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GHz Procesador</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787</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2,5185</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0,45857</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0,454</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0,087</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-0,719</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0,174</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1787338">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N válido (por lista)</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787</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Times New Roman MT"/>
                          <a:ea typeface="Times New Roman MT"/>
                          <a:cs typeface="Times New Roman MT"/>
                          <a:sym typeface="Times New Roman MT"/>
                        </a:rPr>
                        <a:t> </a:t>
                      </a:r>
                      <a:endParaRPr lang="en-US" sz="1100"/>
                    </a:p>
                  </a:txBody>
                  <a:tcPr marL="95250" marR="95250" marT="95250" marB="9525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bl>
          </a:graphicData>
        </a:graphic>
      </p:graphicFrame>
      <p:sp>
        <p:nvSpPr>
          <p:cNvPr name="Freeform 7" id="7"/>
          <p:cNvSpPr/>
          <p:nvPr/>
        </p:nvSpPr>
        <p:spPr>
          <a:xfrm flipH="false" flipV="false" rot="0">
            <a:off x="1028700" y="5892055"/>
            <a:ext cx="4112524" cy="4114800"/>
          </a:xfrm>
          <a:custGeom>
            <a:avLst/>
            <a:gdLst/>
            <a:ahLst/>
            <a:cxnLst/>
            <a:rect r="r" b="b" t="t" l="l"/>
            <a:pathLst>
              <a:path h="4114800" w="4112524">
                <a:moveTo>
                  <a:pt x="0" y="0"/>
                </a:moveTo>
                <a:lnTo>
                  <a:pt x="4112524" y="0"/>
                </a:lnTo>
                <a:lnTo>
                  <a:pt x="411252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3134498" y="5143500"/>
            <a:ext cx="13022616" cy="2271241"/>
            <a:chOff x="0" y="0"/>
            <a:chExt cx="17363488" cy="3028321"/>
          </a:xfrm>
        </p:grpSpPr>
        <p:sp>
          <p:nvSpPr>
            <p:cNvPr name="TextBox 9" id="9"/>
            <p:cNvSpPr txBox="true"/>
            <p:nvPr/>
          </p:nvSpPr>
          <p:spPr>
            <a:xfrm rot="0">
              <a:off x="0" y="-180975"/>
              <a:ext cx="17363488" cy="2009775"/>
            </a:xfrm>
            <a:prstGeom prst="rect">
              <a:avLst/>
            </a:prstGeom>
          </p:spPr>
          <p:txBody>
            <a:bodyPr anchor="t" rtlCol="false" tIns="0" lIns="0" bIns="0" rIns="0">
              <a:spAutoFit/>
            </a:bodyPr>
            <a:lstStyle/>
            <a:p>
              <a:pPr algn="l">
                <a:lnSpc>
                  <a:spcPts val="10800"/>
                </a:lnSpc>
              </a:pPr>
            </a:p>
          </p:txBody>
        </p:sp>
        <p:sp>
          <p:nvSpPr>
            <p:cNvPr name="TextBox 10" id="10"/>
            <p:cNvSpPr txBox="true"/>
            <p:nvPr/>
          </p:nvSpPr>
          <p:spPr>
            <a:xfrm rot="0">
              <a:off x="0" y="2323471"/>
              <a:ext cx="17363488" cy="704850"/>
            </a:xfrm>
            <a:prstGeom prst="rect">
              <a:avLst/>
            </a:prstGeom>
          </p:spPr>
          <p:txBody>
            <a:bodyPr anchor="t" rtlCol="false" tIns="0" lIns="0" bIns="0" rIns="0">
              <a:spAutoFit/>
            </a:bodyPr>
            <a:lstStyle/>
            <a:p>
              <a:pPr algn="l">
                <a:lnSpc>
                  <a:spcPts val="3900"/>
                </a:lnSpc>
              </a:pPr>
            </a:p>
          </p:txBody>
        </p:sp>
      </p:grpSp>
      <p:sp>
        <p:nvSpPr>
          <p:cNvPr name="Freeform 11" id="11"/>
          <p:cNvSpPr/>
          <p:nvPr/>
        </p:nvSpPr>
        <p:spPr>
          <a:xfrm flipH="false" flipV="false" rot="-10800000">
            <a:off x="12519618" y="1477779"/>
            <a:ext cx="4112524" cy="4114800"/>
          </a:xfrm>
          <a:custGeom>
            <a:avLst/>
            <a:gdLst/>
            <a:ahLst/>
            <a:cxnLst/>
            <a:rect r="r" b="b" t="t" l="l"/>
            <a:pathLst>
              <a:path h="4114800" w="4112524">
                <a:moveTo>
                  <a:pt x="0" y="0"/>
                </a:moveTo>
                <a:lnTo>
                  <a:pt x="4112524" y="0"/>
                </a:lnTo>
                <a:lnTo>
                  <a:pt x="411252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5871934" y="458152"/>
            <a:ext cx="7121366" cy="979171"/>
          </a:xfrm>
          <a:prstGeom prst="rect">
            <a:avLst/>
          </a:prstGeom>
        </p:spPr>
        <p:txBody>
          <a:bodyPr anchor="t" rtlCol="false" tIns="0" lIns="0" bIns="0" rIns="0">
            <a:spAutoFit/>
          </a:bodyPr>
          <a:lstStyle/>
          <a:p>
            <a:pPr algn="ctr">
              <a:lnSpc>
                <a:spcPts val="7019"/>
              </a:lnSpc>
              <a:spcBef>
                <a:spcPct val="0"/>
              </a:spcBef>
            </a:pPr>
            <a:r>
              <a:rPr lang="en-US" sz="5399">
                <a:solidFill>
                  <a:srgbClr val="FFFFFF"/>
                </a:solidFill>
                <a:latin typeface="Times New Roman MT"/>
                <a:ea typeface="Times New Roman MT"/>
                <a:cs typeface="Times New Roman MT"/>
                <a:sym typeface="Times New Roman MT"/>
              </a:rPr>
              <a:t>Diagrama de dispersión </a:t>
            </a:r>
          </a:p>
        </p:txBody>
      </p:sp>
      <p:sp>
        <p:nvSpPr>
          <p:cNvPr name="Freeform 3" id="3"/>
          <p:cNvSpPr/>
          <p:nvPr/>
        </p:nvSpPr>
        <p:spPr>
          <a:xfrm flipH="false" flipV="false" rot="0">
            <a:off x="845235" y="3258530"/>
            <a:ext cx="9771904" cy="5752907"/>
          </a:xfrm>
          <a:custGeom>
            <a:avLst/>
            <a:gdLst/>
            <a:ahLst/>
            <a:cxnLst/>
            <a:rect r="r" b="b" t="t" l="l"/>
            <a:pathLst>
              <a:path h="5752907" w="9771904">
                <a:moveTo>
                  <a:pt x="0" y="0"/>
                </a:moveTo>
                <a:lnTo>
                  <a:pt x="9771904" y="0"/>
                </a:lnTo>
                <a:lnTo>
                  <a:pt x="9771904" y="5752907"/>
                </a:lnTo>
                <a:lnTo>
                  <a:pt x="0" y="5752907"/>
                </a:lnTo>
                <a:lnTo>
                  <a:pt x="0" y="0"/>
                </a:lnTo>
                <a:close/>
              </a:path>
            </a:pathLst>
          </a:custGeom>
          <a:blipFill>
            <a:blip r:embed="rId2"/>
            <a:stretch>
              <a:fillRect l="0" t="0" r="0" b="0"/>
            </a:stretch>
          </a:blipFill>
        </p:spPr>
      </p:sp>
      <p:sp>
        <p:nvSpPr>
          <p:cNvPr name="Freeform 4" id="4"/>
          <p:cNvSpPr/>
          <p:nvPr/>
        </p:nvSpPr>
        <p:spPr>
          <a:xfrm flipH="false" flipV="false" rot="0">
            <a:off x="0" y="5537134"/>
            <a:ext cx="4112524" cy="4114800"/>
          </a:xfrm>
          <a:custGeom>
            <a:avLst/>
            <a:gdLst/>
            <a:ahLst/>
            <a:cxnLst/>
            <a:rect r="r" b="b" t="t" l="l"/>
            <a:pathLst>
              <a:path h="4114800" w="4112524">
                <a:moveTo>
                  <a:pt x="0" y="0"/>
                </a:moveTo>
                <a:lnTo>
                  <a:pt x="4112524" y="0"/>
                </a:lnTo>
                <a:lnTo>
                  <a:pt x="411252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6986735" y="2636748"/>
            <a:ext cx="4112524" cy="4114800"/>
          </a:xfrm>
          <a:custGeom>
            <a:avLst/>
            <a:gdLst/>
            <a:ahLst/>
            <a:cxnLst/>
            <a:rect r="r" b="b" t="t" l="l"/>
            <a:pathLst>
              <a:path h="4114800" w="4112524">
                <a:moveTo>
                  <a:pt x="0" y="0"/>
                </a:moveTo>
                <a:lnTo>
                  <a:pt x="4112524" y="0"/>
                </a:lnTo>
                <a:lnTo>
                  <a:pt x="411252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a:extLst>
              <a:ext uri="{C183D7F6-B498-43B3-948B-1728B52AA6E4}">
                <adec:decorative xmlns:adec="http://schemas.microsoft.com/office/drawing/2017/decorative" val="1"/>
              </a:ext>
            </a:extLst>
          </p:cNvPr>
          <p:cNvSpPr/>
          <p:nvPr/>
        </p:nvSpPr>
        <p:spPr>
          <a:xfrm>
            <a:off x="3663490" y="1489710"/>
            <a:ext cx="10961021" cy="0"/>
          </a:xfrm>
          <a:prstGeom prst="line">
            <a:avLst/>
          </a:prstGeom>
          <a:ln cap="flat" w="104775">
            <a:solidFill>
              <a:srgbClr val="FA632A"/>
            </a:solidFill>
            <a:prstDash val="solid"/>
            <a:headEnd type="none" len="sm" w="sm"/>
            <a:tailEnd type="none" len="sm" w="sm"/>
          </a:ln>
        </p:spPr>
      </p:sp>
      <p:sp>
        <p:nvSpPr>
          <p:cNvPr name="TextBox 7" id="7"/>
          <p:cNvSpPr txBox="true"/>
          <p:nvPr/>
        </p:nvSpPr>
        <p:spPr>
          <a:xfrm rot="0">
            <a:off x="12153456" y="2866926"/>
            <a:ext cx="5421082" cy="6185535"/>
          </a:xfrm>
          <a:prstGeom prst="rect">
            <a:avLst/>
          </a:prstGeom>
        </p:spPr>
        <p:txBody>
          <a:bodyPr anchor="t" rtlCol="false" tIns="0" lIns="0" bIns="0" rIns="0">
            <a:spAutoFit/>
          </a:bodyPr>
          <a:lstStyle/>
          <a:p>
            <a:pPr algn="ctr">
              <a:lnSpc>
                <a:spcPts val="3510"/>
              </a:lnSpc>
            </a:pPr>
            <a:r>
              <a:rPr lang="en-US" sz="2700">
                <a:solidFill>
                  <a:srgbClr val="FFFFFF"/>
                </a:solidFill>
                <a:latin typeface="Times New Roman MT"/>
                <a:ea typeface="Times New Roman MT"/>
                <a:cs typeface="Times New Roman MT"/>
                <a:sym typeface="Times New Roman MT"/>
              </a:rPr>
              <a:t>La mayor parte de los pares ordenados se encuentran se encuentran cercano al eje X que contiene a los valores de los Ghz del procesador, se puede ver que hay una correlación positiva moderada, es decir, mientras los Ghz del Procesador aumenta, también lo hace el precio, aunque hay algunas excepciones como lo es el Xiaomi Redmi K20 que a pesar de tener 2.8 Ghz su precio es de casi 6.000 dólares.  </a:t>
            </a:r>
          </a:p>
          <a:p>
            <a:pPr algn="ctr">
              <a:lnSpc>
                <a:spcPts val="351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17504" y="2130893"/>
            <a:ext cx="4930909" cy="2741916"/>
          </a:xfrm>
          <a:custGeom>
            <a:avLst/>
            <a:gdLst/>
            <a:ahLst/>
            <a:cxnLst/>
            <a:rect r="r" b="b" t="t" l="l"/>
            <a:pathLst>
              <a:path h="2741916" w="4930909">
                <a:moveTo>
                  <a:pt x="0" y="0"/>
                </a:moveTo>
                <a:lnTo>
                  <a:pt x="4930909" y="0"/>
                </a:lnTo>
                <a:lnTo>
                  <a:pt x="4930909" y="2741916"/>
                </a:lnTo>
                <a:lnTo>
                  <a:pt x="0" y="2741916"/>
                </a:lnTo>
                <a:lnTo>
                  <a:pt x="0" y="0"/>
                </a:lnTo>
                <a:close/>
              </a:path>
            </a:pathLst>
          </a:custGeom>
          <a:blipFill>
            <a:blip r:embed="rId2"/>
            <a:stretch>
              <a:fillRect l="-2467" t="0" r="-2467" b="0"/>
            </a:stretch>
          </a:blipFill>
        </p:spPr>
      </p:sp>
      <p:graphicFrame>
        <p:nvGraphicFramePr>
          <p:cNvPr name="Table 3" id="3"/>
          <p:cNvGraphicFramePr>
            <a:graphicFrameLocks noGrp="true"/>
          </p:cNvGraphicFramePr>
          <p:nvPr/>
        </p:nvGraphicFramePr>
        <p:xfrm>
          <a:off x="0" y="186509"/>
          <a:ext cx="11339094" cy="4686300"/>
        </p:xfrm>
        <a:graphic>
          <a:graphicData uri="http://schemas.openxmlformats.org/drawingml/2006/table">
            <a:tbl>
              <a:tblPr/>
              <a:tblGrid>
                <a:gridCol w="439110"/>
                <a:gridCol w="1191163"/>
                <a:gridCol w="1012623"/>
                <a:gridCol w="1177569"/>
                <a:gridCol w="1856990"/>
                <a:gridCol w="647008"/>
                <a:gridCol w="709087"/>
                <a:gridCol w="1067452"/>
                <a:gridCol w="3238092"/>
              </a:tblGrid>
              <a:tr h="583397">
                <a:tc gridSpan="7">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37260">
                <a:tc rowSpan="2" grid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Modelo</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rowSpan="2"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Modelo</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grid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 no estandarizados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 no estandarizados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Coeficientes estandarizados</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row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Z</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row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Sig.</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grid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95,0% intervalo de confianza para B</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95,0% intervalo de confianza para B</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37260">
                <a:tc vMerge="true" grid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Modelo</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vMerge="true"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Modelo</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B</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Desv. Error</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Beta</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Z</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Sig.</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Límite inferior</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Límite superior</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37260">
                <a:tc row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(Constante)</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-780,914</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54,841</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-14,240</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0,000</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-888,567</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-673,261</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91123">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GHz Procesador</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442,685</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21,424</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0,594</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20,663</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0,000</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400,630</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400,630</a:t>
                      </a:r>
                      <a:endParaRPr lang="en-US" sz="1100"/>
                    </a:p>
                  </a:txBody>
                  <a:tcPr marL="85725" marR="85725" marT="85725" marB="857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AutoShape 4" id="4">
            <a:extLst>
              <a:ext uri="{C183D7F6-B498-43B3-948B-1728B52AA6E4}">
                <adec:decorative xmlns:adec="http://schemas.microsoft.com/office/drawing/2017/decorative" val="1"/>
              </a:ext>
            </a:extLst>
          </p:cNvPr>
          <p:cNvSpPr/>
          <p:nvPr/>
        </p:nvSpPr>
        <p:spPr>
          <a:xfrm flipV="true">
            <a:off x="11339094" y="-1524615"/>
            <a:ext cx="52373" cy="11811615"/>
          </a:xfrm>
          <a:prstGeom prst="line">
            <a:avLst/>
          </a:prstGeom>
          <a:ln cap="flat" w="104775">
            <a:solidFill>
              <a:srgbClr val="FA632A"/>
            </a:solidFill>
            <a:prstDash val="solid"/>
            <a:headEnd type="none" len="sm" w="sm"/>
            <a:tailEnd type="none" len="sm" w="sm"/>
          </a:ln>
        </p:spPr>
      </p:sp>
      <p:sp>
        <p:nvSpPr>
          <p:cNvPr name="Freeform 5" id="5"/>
          <p:cNvSpPr/>
          <p:nvPr/>
        </p:nvSpPr>
        <p:spPr>
          <a:xfrm flipH="false" flipV="false" rot="0">
            <a:off x="783595" y="4872809"/>
            <a:ext cx="9478867" cy="5600388"/>
          </a:xfrm>
          <a:custGeom>
            <a:avLst/>
            <a:gdLst/>
            <a:ahLst/>
            <a:cxnLst/>
            <a:rect r="r" b="b" t="t" l="l"/>
            <a:pathLst>
              <a:path h="5600388" w="9478867">
                <a:moveTo>
                  <a:pt x="0" y="0"/>
                </a:moveTo>
                <a:lnTo>
                  <a:pt x="9478867" y="0"/>
                </a:lnTo>
                <a:lnTo>
                  <a:pt x="9478867" y="5600388"/>
                </a:lnTo>
                <a:lnTo>
                  <a:pt x="0" y="5600388"/>
                </a:lnTo>
                <a:lnTo>
                  <a:pt x="0" y="0"/>
                </a:lnTo>
                <a:close/>
              </a:path>
            </a:pathLst>
          </a:custGeom>
          <a:blipFill>
            <a:blip r:embed="rId3"/>
            <a:stretch>
              <a:fillRect l="-179" t="0" r="-179" b="0"/>
            </a:stretch>
          </a:blipFill>
        </p:spPr>
      </p:sp>
      <p:sp>
        <p:nvSpPr>
          <p:cNvPr name="TextBox 6" id="6"/>
          <p:cNvSpPr txBox="true"/>
          <p:nvPr/>
        </p:nvSpPr>
        <p:spPr>
          <a:xfrm rot="0">
            <a:off x="12146471" y="328295"/>
            <a:ext cx="5751909" cy="1286510"/>
          </a:xfrm>
          <a:prstGeom prst="rect">
            <a:avLst/>
          </a:prstGeom>
        </p:spPr>
        <p:txBody>
          <a:bodyPr anchor="t" rtlCol="false" tIns="0" lIns="0" bIns="0" rIns="0">
            <a:spAutoFit/>
          </a:bodyPr>
          <a:lstStyle/>
          <a:p>
            <a:pPr algn="ctr">
              <a:lnSpc>
                <a:spcPts val="4809"/>
              </a:lnSpc>
            </a:pPr>
            <a:r>
              <a:rPr lang="en-US" sz="3699">
                <a:solidFill>
                  <a:srgbClr val="000000"/>
                </a:solidFill>
                <a:latin typeface="Times New Roman MT"/>
                <a:ea typeface="Times New Roman MT"/>
                <a:cs typeface="Times New Roman MT"/>
                <a:sym typeface="Times New Roman MT"/>
              </a:rPr>
              <a:t>Estimación de los coeficiente</a:t>
            </a:r>
          </a:p>
          <a:p>
            <a:pPr algn="ctr">
              <a:lnSpc>
                <a:spcPts val="4809"/>
              </a:lnSpc>
              <a:spcBef>
                <a:spcPct val="0"/>
              </a:spcBef>
            </a:pPr>
            <a:r>
              <a:rPr lang="en-US" sz="3699">
                <a:solidFill>
                  <a:srgbClr val="000000"/>
                </a:solidFill>
                <a:latin typeface="Times New Roman MT"/>
                <a:ea typeface="Times New Roman MT"/>
                <a:cs typeface="Times New Roman MT"/>
                <a:sym typeface="Times New Roman MT"/>
              </a:rPr>
              <a:t> de Regresión </a:t>
            </a:r>
          </a:p>
        </p:txBody>
      </p:sp>
      <p:sp>
        <p:nvSpPr>
          <p:cNvPr name="TextBox 7" id="7"/>
          <p:cNvSpPr txBox="true"/>
          <p:nvPr/>
        </p:nvSpPr>
        <p:spPr>
          <a:xfrm rot="0">
            <a:off x="12317504" y="5570129"/>
            <a:ext cx="5409843" cy="1047750"/>
          </a:xfrm>
          <a:prstGeom prst="rect">
            <a:avLst/>
          </a:prstGeom>
        </p:spPr>
        <p:txBody>
          <a:bodyPr anchor="t" rtlCol="false" tIns="0" lIns="0" bIns="0" rIns="0">
            <a:spAutoFit/>
          </a:bodyPr>
          <a:lstStyle/>
          <a:p>
            <a:pPr algn="ctr">
              <a:lnSpc>
                <a:spcPts val="3900"/>
              </a:lnSpc>
            </a:pPr>
            <a:r>
              <a:rPr lang="en-US" sz="3000">
                <a:solidFill>
                  <a:srgbClr val="000000"/>
                </a:solidFill>
                <a:latin typeface="Times New Roman MT"/>
                <a:ea typeface="Times New Roman MT"/>
                <a:cs typeface="Times New Roman MT"/>
                <a:sym typeface="Times New Roman MT"/>
              </a:rPr>
              <a:t>Interpretación de los coeficientes </a:t>
            </a:r>
          </a:p>
          <a:p>
            <a:pPr algn="ctr">
              <a:lnSpc>
                <a:spcPts val="3900"/>
              </a:lnSpc>
              <a:spcBef>
                <a:spcPct val="0"/>
              </a:spcBef>
            </a:pPr>
            <a:r>
              <a:rPr lang="en-US" sz="3000">
                <a:solidFill>
                  <a:srgbClr val="000000"/>
                </a:solidFill>
                <a:latin typeface="Times New Roman MT"/>
                <a:ea typeface="Times New Roman MT"/>
                <a:cs typeface="Times New Roman MT"/>
                <a:sym typeface="Times New Roman MT"/>
              </a:rPr>
              <a:t>a y b </a:t>
            </a:r>
          </a:p>
        </p:txBody>
      </p:sp>
      <p:sp>
        <p:nvSpPr>
          <p:cNvPr name="AutoShape 8" id="8">
            <a:extLst>
              <a:ext uri="{C183D7F6-B498-43B3-948B-1728B52AA6E4}">
                <adec:decorative xmlns:adec="http://schemas.microsoft.com/office/drawing/2017/decorative" val="1"/>
              </a:ext>
            </a:extLst>
          </p:cNvPr>
          <p:cNvSpPr/>
          <p:nvPr/>
        </p:nvSpPr>
        <p:spPr>
          <a:xfrm flipH="true">
            <a:off x="11339094" y="5403442"/>
            <a:ext cx="11644151" cy="0"/>
          </a:xfrm>
          <a:prstGeom prst="line">
            <a:avLst/>
          </a:prstGeom>
          <a:ln cap="flat" w="104775">
            <a:solidFill>
              <a:srgbClr val="FA632A"/>
            </a:solidFill>
            <a:prstDash val="solid"/>
            <a:headEnd type="none" len="sm" w="sm"/>
            <a:tailEnd type="none" len="sm" w="sm"/>
          </a:ln>
        </p:spPr>
      </p:sp>
      <p:grpSp>
        <p:nvGrpSpPr>
          <p:cNvPr name="Group 9" id="9"/>
          <p:cNvGrpSpPr/>
          <p:nvPr/>
        </p:nvGrpSpPr>
        <p:grpSpPr>
          <a:xfrm rot="0">
            <a:off x="11605639" y="6827429"/>
            <a:ext cx="6462495" cy="1111228"/>
            <a:chOff x="0" y="0"/>
            <a:chExt cx="8616660" cy="1481637"/>
          </a:xfrm>
        </p:grpSpPr>
        <p:sp>
          <p:nvSpPr>
            <p:cNvPr name="TextBox 10" id="10"/>
            <p:cNvSpPr txBox="true"/>
            <p:nvPr/>
          </p:nvSpPr>
          <p:spPr>
            <a:xfrm rot="0">
              <a:off x="0" y="-76200"/>
              <a:ext cx="8616660" cy="556260"/>
            </a:xfrm>
            <a:prstGeom prst="rect">
              <a:avLst/>
            </a:prstGeom>
          </p:spPr>
          <p:txBody>
            <a:bodyPr anchor="t" rtlCol="false" tIns="0" lIns="0" bIns="0" rIns="0">
              <a:spAutoFit/>
            </a:bodyPr>
            <a:lstStyle/>
            <a:p>
              <a:pPr algn="l">
                <a:lnSpc>
                  <a:spcPts val="3120"/>
                </a:lnSpc>
              </a:pPr>
              <a:r>
                <a:rPr lang="en-US" sz="2400">
                  <a:solidFill>
                    <a:srgbClr val="000000"/>
                  </a:solidFill>
                  <a:latin typeface="Times New Roman MT"/>
                  <a:ea typeface="Times New Roman MT"/>
                  <a:cs typeface="Times New Roman MT"/>
                  <a:sym typeface="Times New Roman MT"/>
                </a:rPr>
                <a:t>Coeficiente a </a:t>
              </a:r>
            </a:p>
          </p:txBody>
        </p:sp>
        <p:sp>
          <p:nvSpPr>
            <p:cNvPr name="TextBox 11" id="11"/>
            <p:cNvSpPr txBox="true"/>
            <p:nvPr/>
          </p:nvSpPr>
          <p:spPr>
            <a:xfrm rot="0">
              <a:off x="0" y="775306"/>
              <a:ext cx="8616660" cy="706332"/>
            </a:xfrm>
            <a:prstGeom prst="rect">
              <a:avLst/>
            </a:prstGeom>
          </p:spPr>
          <p:txBody>
            <a:bodyPr anchor="t" rtlCol="false" tIns="0" lIns="0" bIns="0" rIns="0">
              <a:spAutoFit/>
            </a:bodyPr>
            <a:lstStyle/>
            <a:p>
              <a:pPr algn="l" marL="345441" indent="-172721" lvl="1">
                <a:lnSpc>
                  <a:spcPts val="2080"/>
                </a:lnSpc>
                <a:buFont typeface="Arial"/>
                <a:buChar char="•"/>
              </a:pPr>
              <a:r>
                <a:rPr lang="en-US" sz="1600">
                  <a:solidFill>
                    <a:srgbClr val="000000"/>
                  </a:solidFill>
                  <a:latin typeface="Times New Roman MT"/>
                  <a:ea typeface="Times New Roman MT"/>
                  <a:cs typeface="Times New Roman MT"/>
                  <a:sym typeface="Times New Roman MT"/>
                </a:rPr>
                <a:t>a es el valor promedio del precio en USD cuando la variable Ghz es constante</a:t>
              </a:r>
            </a:p>
          </p:txBody>
        </p:sp>
      </p:grpSp>
      <p:grpSp>
        <p:nvGrpSpPr>
          <p:cNvPr name="Group 12" id="12"/>
          <p:cNvGrpSpPr/>
          <p:nvPr/>
        </p:nvGrpSpPr>
        <p:grpSpPr>
          <a:xfrm rot="0">
            <a:off x="11605639" y="8148208"/>
            <a:ext cx="5957995" cy="1368403"/>
            <a:chOff x="0" y="0"/>
            <a:chExt cx="7943993" cy="1824537"/>
          </a:xfrm>
        </p:grpSpPr>
        <p:sp>
          <p:nvSpPr>
            <p:cNvPr name="TextBox 13" id="13"/>
            <p:cNvSpPr txBox="true"/>
            <p:nvPr/>
          </p:nvSpPr>
          <p:spPr>
            <a:xfrm rot="0">
              <a:off x="0" y="-76200"/>
              <a:ext cx="7943993" cy="556260"/>
            </a:xfrm>
            <a:prstGeom prst="rect">
              <a:avLst/>
            </a:prstGeom>
          </p:spPr>
          <p:txBody>
            <a:bodyPr anchor="t" rtlCol="false" tIns="0" lIns="0" bIns="0" rIns="0">
              <a:spAutoFit/>
            </a:bodyPr>
            <a:lstStyle/>
            <a:p>
              <a:pPr algn="l">
                <a:lnSpc>
                  <a:spcPts val="3120"/>
                </a:lnSpc>
              </a:pPr>
              <a:r>
                <a:rPr lang="en-US" sz="2400">
                  <a:solidFill>
                    <a:srgbClr val="000000"/>
                  </a:solidFill>
                  <a:latin typeface="Times New Roman MT"/>
                  <a:ea typeface="Times New Roman MT"/>
                  <a:cs typeface="Times New Roman MT"/>
                  <a:sym typeface="Times New Roman MT"/>
                </a:rPr>
                <a:t>Coeficiente b</a:t>
              </a:r>
            </a:p>
          </p:txBody>
        </p:sp>
        <p:sp>
          <p:nvSpPr>
            <p:cNvPr name="TextBox 14" id="14"/>
            <p:cNvSpPr txBox="true"/>
            <p:nvPr/>
          </p:nvSpPr>
          <p:spPr>
            <a:xfrm rot="0">
              <a:off x="0" y="775306"/>
              <a:ext cx="7943993" cy="1049232"/>
            </a:xfrm>
            <a:prstGeom prst="rect">
              <a:avLst/>
            </a:prstGeom>
          </p:spPr>
          <p:txBody>
            <a:bodyPr anchor="t" rtlCol="false" tIns="0" lIns="0" bIns="0" rIns="0">
              <a:spAutoFit/>
            </a:bodyPr>
            <a:lstStyle/>
            <a:p>
              <a:pPr algn="l" marL="345441" indent="-172721" lvl="1">
                <a:lnSpc>
                  <a:spcPts val="2080"/>
                </a:lnSpc>
                <a:buFont typeface="Arial"/>
                <a:buChar char="•"/>
              </a:pPr>
              <a:r>
                <a:rPr lang="en-US" sz="1600">
                  <a:solidFill>
                    <a:srgbClr val="000000"/>
                  </a:solidFill>
                  <a:latin typeface="Times New Roman MT"/>
                  <a:ea typeface="Times New Roman MT"/>
                  <a:cs typeface="Times New Roman MT"/>
                  <a:sym typeface="Times New Roman MT"/>
                </a:rPr>
                <a:t>El coeficiente b representa la razón de cambio que mide la variación promedio en el precio en USD por un cambio unitario en la variable Ghz.</a:t>
              </a:r>
            </a:p>
          </p:txBody>
        </p:sp>
      </p:grpSp>
      <p:sp>
        <p:nvSpPr>
          <p:cNvPr name="AutoShape 15" id="15"/>
          <p:cNvSpPr/>
          <p:nvPr/>
        </p:nvSpPr>
        <p:spPr>
          <a:xfrm flipV="true">
            <a:off x="0" y="4853759"/>
            <a:ext cx="11391467" cy="19050"/>
          </a:xfrm>
          <a:prstGeom prst="line">
            <a:avLst/>
          </a:prstGeom>
          <a:ln cap="flat" w="38100">
            <a:solidFill>
              <a:srgbClr val="FA632A"/>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00776" y="29382"/>
            <a:ext cx="17926836" cy="2465462"/>
          </a:xfrm>
          <a:prstGeom prst="rect">
            <a:avLst/>
          </a:prstGeom>
        </p:spPr>
        <p:txBody>
          <a:bodyPr anchor="t" rtlCol="false" tIns="0" lIns="0" bIns="0" rIns="0">
            <a:spAutoFit/>
          </a:bodyPr>
          <a:lstStyle/>
          <a:p>
            <a:pPr algn="l">
              <a:lnSpc>
                <a:spcPts val="6196"/>
              </a:lnSpc>
            </a:pPr>
            <a:r>
              <a:rPr lang="en-US" sz="5163">
                <a:solidFill>
                  <a:srgbClr val="FFFFFF"/>
                </a:solidFill>
                <a:latin typeface="Times New Roman MT"/>
                <a:ea typeface="Times New Roman MT"/>
                <a:cs typeface="Times New Roman MT"/>
                <a:sym typeface="Times New Roman MT"/>
              </a:rPr>
              <a:t>INFERENCIAS ACERCA DE LOS COEFICIENTES DE REGRESIÓN A Y B</a:t>
            </a:r>
          </a:p>
          <a:p>
            <a:pPr algn="l">
              <a:lnSpc>
                <a:spcPts val="6196"/>
              </a:lnSpc>
            </a:pPr>
          </a:p>
        </p:txBody>
      </p:sp>
      <p:sp>
        <p:nvSpPr>
          <p:cNvPr name="AutoShape 3" id="3"/>
          <p:cNvSpPr/>
          <p:nvPr/>
        </p:nvSpPr>
        <p:spPr>
          <a:xfrm>
            <a:off x="100776" y="1731628"/>
            <a:ext cx="17848284" cy="0"/>
          </a:xfrm>
          <a:prstGeom prst="line">
            <a:avLst/>
          </a:prstGeom>
          <a:ln cap="flat" w="57150">
            <a:solidFill>
              <a:srgbClr val="FA632A"/>
            </a:solidFill>
            <a:prstDash val="solid"/>
            <a:headEnd type="none" len="sm" w="sm"/>
            <a:tailEnd type="none" len="sm" w="sm"/>
          </a:ln>
        </p:spPr>
      </p:sp>
      <p:sp>
        <p:nvSpPr>
          <p:cNvPr name="TextBox 4" id="4"/>
          <p:cNvSpPr txBox="true"/>
          <p:nvPr/>
        </p:nvSpPr>
        <p:spPr>
          <a:xfrm rot="0">
            <a:off x="1430830" y="2100461"/>
            <a:ext cx="15426341" cy="7826375"/>
          </a:xfrm>
          <a:prstGeom prst="rect">
            <a:avLst/>
          </a:prstGeom>
        </p:spPr>
        <p:txBody>
          <a:bodyPr anchor="t" rtlCol="false" tIns="0" lIns="0" bIns="0" rIns="0">
            <a:spAutoFit/>
          </a:bodyPr>
          <a:lstStyle/>
          <a:p>
            <a:pPr algn="l">
              <a:lnSpc>
                <a:spcPts val="3250"/>
              </a:lnSpc>
              <a:spcBef>
                <a:spcPct val="0"/>
              </a:spcBef>
            </a:pPr>
            <a:r>
              <a:rPr lang="en-US" sz="2500">
                <a:solidFill>
                  <a:srgbClr val="FFFFFF"/>
                </a:solidFill>
                <a:latin typeface="Times New Roman MT"/>
                <a:ea typeface="Times New Roman MT"/>
                <a:cs typeface="Times New Roman MT"/>
                <a:sym typeface="Times New Roman MT"/>
              </a:rPr>
              <a:t>Considerando la ecuación de regresión poblacional : Y = A + BX</a:t>
            </a:r>
          </a:p>
          <a:p>
            <a:pPr algn="l">
              <a:lnSpc>
                <a:spcPts val="3250"/>
              </a:lnSpc>
              <a:spcBef>
                <a:spcPct val="0"/>
              </a:spcBef>
            </a:pP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Donde </a:t>
            </a:r>
          </a:p>
          <a:p>
            <a:pPr algn="ctr">
              <a:lnSpc>
                <a:spcPts val="3250"/>
              </a:lnSpc>
              <a:spcBef>
                <a:spcPct val="0"/>
              </a:spcBef>
            </a:pPr>
            <a:r>
              <a:rPr lang="en-US" sz="2500">
                <a:solidFill>
                  <a:srgbClr val="FFFFFF"/>
                </a:solidFill>
                <a:latin typeface="Times New Roman MT"/>
                <a:ea typeface="Times New Roman MT"/>
                <a:cs typeface="Times New Roman MT"/>
                <a:sym typeface="Times New Roman MT"/>
              </a:rPr>
              <a:t>      A = Coeficiente de regresión constante.</a:t>
            </a:r>
          </a:p>
          <a:p>
            <a:pPr algn="ctr">
              <a:lnSpc>
                <a:spcPts val="3250"/>
              </a:lnSpc>
              <a:spcBef>
                <a:spcPct val="0"/>
              </a:spcBef>
            </a:pPr>
            <a:r>
              <a:rPr lang="en-US" sz="2500">
                <a:solidFill>
                  <a:srgbClr val="FFFFFF"/>
                </a:solidFill>
                <a:latin typeface="Times New Roman MT"/>
                <a:ea typeface="Times New Roman MT"/>
                <a:cs typeface="Times New Roman MT"/>
                <a:sym typeface="Times New Roman MT"/>
              </a:rPr>
              <a:t>    B = Pendiente de la recta de regresión.</a:t>
            </a: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Contraste de significación conjunta </a:t>
            </a: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                                                    Ho = A = B = 0   y   H1: A ≠ B ≠ 0 </a:t>
            </a:r>
          </a:p>
          <a:p>
            <a:pPr algn="l">
              <a:lnSpc>
                <a:spcPts val="3250"/>
              </a:lnSpc>
              <a:spcBef>
                <a:spcPct val="0"/>
              </a:spcBef>
            </a:pP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Dado un nivel de significación α=0.05</a:t>
            </a: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Estadístico de contraste = 426.970</a:t>
            </a:r>
          </a:p>
          <a:p>
            <a:pPr algn="l">
              <a:lnSpc>
                <a:spcPts val="3250"/>
              </a:lnSpc>
              <a:spcBef>
                <a:spcPct val="0"/>
              </a:spcBef>
            </a:pP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Se rechaza  Ho si </a:t>
            </a:r>
          </a:p>
          <a:p>
            <a:pPr algn="ctr">
              <a:lnSpc>
                <a:spcPts val="3250"/>
              </a:lnSpc>
              <a:spcBef>
                <a:spcPct val="0"/>
              </a:spcBef>
            </a:pPr>
            <a:r>
              <a:rPr lang="en-US" sz="2500">
                <a:solidFill>
                  <a:srgbClr val="FFFFFF"/>
                </a:solidFill>
                <a:latin typeface="Times New Roman MT"/>
                <a:ea typeface="Times New Roman MT"/>
                <a:cs typeface="Times New Roman MT"/>
                <a:sym typeface="Times New Roman MT"/>
              </a:rPr>
              <a:t>F* &gt;  Fk-1;n-k;1-α   </a:t>
            </a: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Sustituyendo </a:t>
            </a:r>
          </a:p>
          <a:p>
            <a:pPr algn="ctr">
              <a:lnSpc>
                <a:spcPts val="3250"/>
              </a:lnSpc>
              <a:spcBef>
                <a:spcPct val="0"/>
              </a:spcBef>
            </a:pPr>
            <a:r>
              <a:rPr lang="en-US" sz="2500">
                <a:solidFill>
                  <a:srgbClr val="FFFFFF"/>
                </a:solidFill>
                <a:latin typeface="Times New Roman MT"/>
                <a:ea typeface="Times New Roman MT"/>
                <a:cs typeface="Times New Roman MT"/>
                <a:sym typeface="Times New Roman MT"/>
              </a:rPr>
              <a:t>F2-1;787-2;1-0.05 =F1;785;0.95=3.854  </a:t>
            </a:r>
          </a:p>
          <a:p>
            <a:pPr algn="ctr">
              <a:lnSpc>
                <a:spcPts val="3250"/>
              </a:lnSpc>
              <a:spcBef>
                <a:spcPct val="0"/>
              </a:spcBef>
            </a:pPr>
            <a:r>
              <a:rPr lang="en-US" sz="2500">
                <a:solidFill>
                  <a:srgbClr val="FFFFFF"/>
                </a:solidFill>
                <a:latin typeface="Times New Roman MT"/>
                <a:ea typeface="Times New Roman MT"/>
                <a:cs typeface="Times New Roman MT"/>
                <a:sym typeface="Times New Roman MT"/>
              </a:rPr>
              <a:t> </a:t>
            </a:r>
          </a:p>
          <a:p>
            <a:pPr algn="l">
              <a:lnSpc>
                <a:spcPts val="3250"/>
              </a:lnSpc>
              <a:spcBef>
                <a:spcPct val="0"/>
              </a:spcBef>
            </a:pPr>
            <a:r>
              <a:rPr lang="en-US" sz="2500">
                <a:solidFill>
                  <a:srgbClr val="FFFFFF"/>
                </a:solidFill>
                <a:latin typeface="Times New Roman MT"/>
                <a:ea typeface="Times New Roman MT"/>
                <a:cs typeface="Times New Roman MT"/>
                <a:sym typeface="Times New Roman MT"/>
              </a:rPr>
              <a:t>El estadístico de contraste es mayor al valor crítico de 3.854, por lo tanto se rechaza Ho con un nivel de significación del 5% por lo que ambos coeficientes son distintos de 0. </a:t>
            </a:r>
          </a:p>
          <a:p>
            <a:pPr algn="l">
              <a:lnSpc>
                <a:spcPts val="3250"/>
              </a:lnSpc>
              <a:spcBef>
                <a:spcPct val="0"/>
              </a:spcBef>
            </a:pPr>
          </a:p>
        </p:txBody>
      </p:sp>
      <p:sp>
        <p:nvSpPr>
          <p:cNvPr name="Freeform 5" id="5"/>
          <p:cNvSpPr/>
          <p:nvPr/>
        </p:nvSpPr>
        <p:spPr>
          <a:xfrm flipH="false" flipV="false" rot="2209218">
            <a:off x="10825064" y="4250621"/>
            <a:ext cx="7315200" cy="1183732"/>
          </a:xfrm>
          <a:custGeom>
            <a:avLst/>
            <a:gdLst/>
            <a:ahLst/>
            <a:cxnLst/>
            <a:rect r="r" b="b" t="t" l="l"/>
            <a:pathLst>
              <a:path h="1183732" w="7315200">
                <a:moveTo>
                  <a:pt x="0" y="0"/>
                </a:moveTo>
                <a:lnTo>
                  <a:pt x="7315200" y="0"/>
                </a:lnTo>
                <a:lnTo>
                  <a:pt x="7315200" y="1183733"/>
                </a:lnTo>
                <a:lnTo>
                  <a:pt x="0" y="1183733"/>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23107" y="5450915"/>
            <a:ext cx="6321620" cy="4114800"/>
          </a:xfrm>
          <a:custGeom>
            <a:avLst/>
            <a:gdLst/>
            <a:ahLst/>
            <a:cxnLst/>
            <a:rect r="r" b="b" t="t" l="l"/>
            <a:pathLst>
              <a:path h="4114800" w="6321620">
                <a:moveTo>
                  <a:pt x="0" y="0"/>
                </a:moveTo>
                <a:lnTo>
                  <a:pt x="6321620" y="0"/>
                </a:lnTo>
                <a:lnTo>
                  <a:pt x="6321620" y="4114800"/>
                </a:lnTo>
                <a:lnTo>
                  <a:pt x="0" y="4114800"/>
                </a:lnTo>
                <a:lnTo>
                  <a:pt x="0" y="0"/>
                </a:lnTo>
                <a:close/>
              </a:path>
            </a:pathLst>
          </a:custGeom>
          <a:blipFill>
            <a:blip r:embed="rId4">
              <a:alphaModFix amt="4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2176661"/>
            <a:ext cx="7315200" cy="2048256"/>
          </a:xfrm>
          <a:custGeom>
            <a:avLst/>
            <a:gdLst/>
            <a:ahLst/>
            <a:cxnLst/>
            <a:rect r="r" b="b" t="t" l="l"/>
            <a:pathLst>
              <a:path h="2048256" w="7315200">
                <a:moveTo>
                  <a:pt x="0" y="0"/>
                </a:moveTo>
                <a:lnTo>
                  <a:pt x="7315200" y="0"/>
                </a:lnTo>
                <a:lnTo>
                  <a:pt x="7315200" y="2048256"/>
                </a:lnTo>
                <a:lnTo>
                  <a:pt x="0" y="2048256"/>
                </a:lnTo>
                <a:lnTo>
                  <a:pt x="0" y="0"/>
                </a:lnTo>
                <a:close/>
              </a:path>
            </a:pathLst>
          </a:custGeom>
          <a:blipFill>
            <a:blip r:embed="rId6">
              <a:alphaModFix amt="4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00776" y="422829"/>
            <a:ext cx="17926836" cy="1678566"/>
          </a:xfrm>
          <a:prstGeom prst="rect">
            <a:avLst/>
          </a:prstGeom>
        </p:spPr>
        <p:txBody>
          <a:bodyPr anchor="t" rtlCol="false" tIns="0" lIns="0" bIns="0" rIns="0">
            <a:spAutoFit/>
          </a:bodyPr>
          <a:lstStyle/>
          <a:p>
            <a:pPr algn="l">
              <a:lnSpc>
                <a:spcPts val="6196"/>
              </a:lnSpc>
            </a:pPr>
            <a:r>
              <a:rPr lang="en-US" sz="5163">
                <a:solidFill>
                  <a:srgbClr val="FFFFFF"/>
                </a:solidFill>
                <a:latin typeface="Times New Roman MT"/>
                <a:ea typeface="Times New Roman MT"/>
                <a:cs typeface="Times New Roman MT"/>
                <a:sym typeface="Times New Roman MT"/>
              </a:rPr>
              <a:t>Estimación de los coeficientes de regresión de μyx</a:t>
            </a:r>
          </a:p>
          <a:p>
            <a:pPr algn="l">
              <a:lnSpc>
                <a:spcPts val="6196"/>
              </a:lnSpc>
            </a:pPr>
          </a:p>
        </p:txBody>
      </p:sp>
      <p:sp>
        <p:nvSpPr>
          <p:cNvPr name="AutoShape 3" id="3"/>
          <p:cNvSpPr/>
          <p:nvPr/>
        </p:nvSpPr>
        <p:spPr>
          <a:xfrm>
            <a:off x="100776" y="1731628"/>
            <a:ext cx="17848284" cy="0"/>
          </a:xfrm>
          <a:prstGeom prst="line">
            <a:avLst/>
          </a:prstGeom>
          <a:ln cap="flat" w="57150">
            <a:solidFill>
              <a:srgbClr val="FA632A"/>
            </a:solidFill>
            <a:prstDash val="solid"/>
            <a:headEnd type="none" len="sm" w="sm"/>
            <a:tailEnd type="none" len="sm" w="sm"/>
          </a:ln>
        </p:spPr>
      </p:sp>
      <p:sp>
        <p:nvSpPr>
          <p:cNvPr name="TextBox 4" id="4"/>
          <p:cNvSpPr txBox="true"/>
          <p:nvPr/>
        </p:nvSpPr>
        <p:spPr>
          <a:xfrm rot="0">
            <a:off x="3206601" y="2491921"/>
            <a:ext cx="11310343" cy="7375039"/>
          </a:xfrm>
          <a:prstGeom prst="rect">
            <a:avLst/>
          </a:prstGeom>
        </p:spPr>
        <p:txBody>
          <a:bodyPr anchor="t" rtlCol="false" tIns="0" lIns="0" bIns="0" rIns="0">
            <a:spAutoFit/>
          </a:bodyPr>
          <a:lstStyle/>
          <a:p>
            <a:pPr algn="ctr">
              <a:lnSpc>
                <a:spcPts val="2649"/>
              </a:lnSpc>
              <a:spcBef>
                <a:spcPct val="0"/>
              </a:spcBef>
            </a:pPr>
            <a:r>
              <a:rPr lang="en-US" b="true" sz="2038">
                <a:solidFill>
                  <a:srgbClr val="FFFFFF"/>
                </a:solidFill>
                <a:latin typeface="Times New Roman MT Bold"/>
                <a:ea typeface="Times New Roman MT Bold"/>
                <a:cs typeface="Times New Roman MT Bold"/>
                <a:sym typeface="Times New Roman MT Bold"/>
              </a:rPr>
              <a:t>A: Coeficiente de regresión constante</a:t>
            </a:r>
          </a:p>
          <a:p>
            <a:pPr algn="ctr">
              <a:lnSpc>
                <a:spcPts val="2649"/>
              </a:lnSpc>
              <a:spcBef>
                <a:spcPct val="0"/>
              </a:spcBef>
            </a:pPr>
          </a:p>
          <a:p>
            <a:pPr algn="ctr">
              <a:lnSpc>
                <a:spcPts val="2649"/>
              </a:lnSpc>
              <a:spcBef>
                <a:spcPct val="0"/>
              </a:spcBef>
            </a:pPr>
            <a:r>
              <a:rPr lang="en-US" b="true" sz="2038">
                <a:solidFill>
                  <a:srgbClr val="FFFFFF"/>
                </a:solidFill>
                <a:latin typeface="Times New Roman MT Bold"/>
                <a:ea typeface="Times New Roman MT Bold"/>
                <a:cs typeface="Times New Roman MT Bold"/>
                <a:sym typeface="Times New Roman MT Bold"/>
              </a:rPr>
              <a:t>2)  Hipótesis</a:t>
            </a:r>
          </a:p>
          <a:p>
            <a:pPr algn="ctr">
              <a:lnSpc>
                <a:spcPts val="2649"/>
              </a:lnSpc>
              <a:spcBef>
                <a:spcPct val="0"/>
              </a:spcBef>
            </a:pPr>
          </a:p>
          <a:p>
            <a:pPr algn="ctr">
              <a:lnSpc>
                <a:spcPts val="2649"/>
              </a:lnSpc>
              <a:spcBef>
                <a:spcPct val="0"/>
              </a:spcBef>
            </a:pPr>
            <a:r>
              <a:rPr lang="en-US" sz="2038">
                <a:solidFill>
                  <a:srgbClr val="FFFFFF"/>
                </a:solidFill>
                <a:latin typeface="Times New Roman MT"/>
                <a:ea typeface="Times New Roman MT"/>
                <a:cs typeface="Times New Roman MT"/>
                <a:sym typeface="Times New Roman MT"/>
              </a:rPr>
              <a:t>    Ho: A = 0 </a:t>
            </a:r>
          </a:p>
          <a:p>
            <a:pPr algn="ctr">
              <a:lnSpc>
                <a:spcPts val="2649"/>
              </a:lnSpc>
              <a:spcBef>
                <a:spcPct val="0"/>
              </a:spcBef>
            </a:pPr>
            <a:r>
              <a:rPr lang="en-US" sz="2038">
                <a:solidFill>
                  <a:srgbClr val="FFFFFF"/>
                </a:solidFill>
                <a:latin typeface="Times New Roman MT"/>
                <a:ea typeface="Times New Roman MT"/>
                <a:cs typeface="Times New Roman MT"/>
                <a:sym typeface="Times New Roman MT"/>
              </a:rPr>
              <a:t>    H1: A ≠ 0</a:t>
            </a:r>
          </a:p>
          <a:p>
            <a:pPr algn="ctr">
              <a:lnSpc>
                <a:spcPts val="2649"/>
              </a:lnSpc>
              <a:spcBef>
                <a:spcPct val="0"/>
              </a:spcBef>
            </a:pPr>
          </a:p>
          <a:p>
            <a:pPr algn="ctr">
              <a:lnSpc>
                <a:spcPts val="2649"/>
              </a:lnSpc>
              <a:spcBef>
                <a:spcPct val="0"/>
              </a:spcBef>
            </a:pPr>
            <a:r>
              <a:rPr lang="en-US" b="true" sz="2038">
                <a:solidFill>
                  <a:srgbClr val="FFFFFF"/>
                </a:solidFill>
                <a:latin typeface="Times New Roman MT Bold"/>
                <a:ea typeface="Times New Roman MT Bold"/>
                <a:cs typeface="Times New Roman MT Bold"/>
                <a:sym typeface="Times New Roman MT Bold"/>
              </a:rPr>
              <a:t>3) Nivel de significación: α=0.05 </a:t>
            </a:r>
          </a:p>
          <a:p>
            <a:pPr algn="ctr">
              <a:lnSpc>
                <a:spcPts val="2649"/>
              </a:lnSpc>
              <a:spcBef>
                <a:spcPct val="0"/>
              </a:spcBef>
            </a:pPr>
          </a:p>
          <a:p>
            <a:pPr algn="ctr">
              <a:lnSpc>
                <a:spcPts val="2649"/>
              </a:lnSpc>
              <a:spcBef>
                <a:spcPct val="0"/>
              </a:spcBef>
            </a:pPr>
          </a:p>
          <a:p>
            <a:pPr algn="ctr">
              <a:lnSpc>
                <a:spcPts val="2649"/>
              </a:lnSpc>
              <a:spcBef>
                <a:spcPct val="0"/>
              </a:spcBef>
            </a:pPr>
            <a:r>
              <a:rPr lang="en-US" b="true" sz="2038">
                <a:solidFill>
                  <a:srgbClr val="FFFFFF"/>
                </a:solidFill>
                <a:latin typeface="Times New Roman MT Bold"/>
                <a:ea typeface="Times New Roman MT Bold"/>
                <a:cs typeface="Times New Roman MT Bold"/>
                <a:sym typeface="Times New Roman MT Bold"/>
              </a:rPr>
              <a:t>4) Estadístico de contraste</a:t>
            </a:r>
            <a:r>
              <a:rPr lang="en-US" sz="2038">
                <a:solidFill>
                  <a:srgbClr val="FFFFFF"/>
                </a:solidFill>
                <a:latin typeface="Times New Roman MT"/>
                <a:ea typeface="Times New Roman MT"/>
                <a:cs typeface="Times New Roman MT"/>
                <a:sym typeface="Times New Roman MT"/>
              </a:rPr>
              <a:t> = Z* = -14.240  (Z* Por ser n&gt;=30) </a:t>
            </a:r>
          </a:p>
          <a:p>
            <a:pPr algn="ctr">
              <a:lnSpc>
                <a:spcPts val="2649"/>
              </a:lnSpc>
              <a:spcBef>
                <a:spcPct val="0"/>
              </a:spcBef>
            </a:pPr>
          </a:p>
          <a:p>
            <a:pPr algn="ctr">
              <a:lnSpc>
                <a:spcPts val="2649"/>
              </a:lnSpc>
              <a:spcBef>
                <a:spcPct val="0"/>
              </a:spcBef>
            </a:pPr>
            <a:r>
              <a:rPr lang="en-US" b="true" sz="2038">
                <a:solidFill>
                  <a:srgbClr val="FFFFFF"/>
                </a:solidFill>
                <a:latin typeface="Times New Roman MT Bold"/>
                <a:ea typeface="Times New Roman MT Bold"/>
                <a:cs typeface="Times New Roman MT Bold"/>
                <a:sym typeface="Times New Roman MT Bold"/>
              </a:rPr>
              <a:t>5) Regla de decisión</a:t>
            </a:r>
          </a:p>
          <a:p>
            <a:pPr algn="ctr">
              <a:lnSpc>
                <a:spcPts val="2649"/>
              </a:lnSpc>
              <a:spcBef>
                <a:spcPct val="0"/>
              </a:spcBef>
            </a:pPr>
          </a:p>
          <a:p>
            <a:pPr algn="ctr">
              <a:lnSpc>
                <a:spcPts val="2649"/>
              </a:lnSpc>
              <a:spcBef>
                <a:spcPct val="0"/>
              </a:spcBef>
            </a:pPr>
            <a:r>
              <a:rPr lang="en-US" sz="2038">
                <a:solidFill>
                  <a:srgbClr val="FFFFFF"/>
                </a:solidFill>
                <a:latin typeface="Times New Roman MT"/>
                <a:ea typeface="Times New Roman MT"/>
                <a:cs typeface="Times New Roman MT"/>
                <a:sym typeface="Times New Roman MT"/>
              </a:rPr>
              <a:t>Se rechaza Ho sii  </a:t>
            </a:r>
          </a:p>
          <a:p>
            <a:pPr algn="ctr">
              <a:lnSpc>
                <a:spcPts val="2649"/>
              </a:lnSpc>
              <a:spcBef>
                <a:spcPct val="0"/>
              </a:spcBef>
            </a:pPr>
            <a:r>
              <a:rPr lang="en-US" sz="2038">
                <a:solidFill>
                  <a:srgbClr val="FFFFFF"/>
                </a:solidFill>
                <a:latin typeface="Times New Roman MT"/>
                <a:ea typeface="Times New Roman MT"/>
                <a:cs typeface="Times New Roman MT"/>
                <a:sym typeface="Times New Roman MT"/>
              </a:rPr>
              <a:t>Z* &lt; Zα/2 V Z* &gt; Z1-α/2  </a:t>
            </a:r>
          </a:p>
          <a:p>
            <a:pPr algn="ctr">
              <a:lnSpc>
                <a:spcPts val="2649"/>
              </a:lnSpc>
              <a:spcBef>
                <a:spcPct val="0"/>
              </a:spcBef>
            </a:pPr>
            <a:r>
              <a:rPr lang="en-US" sz="2038">
                <a:solidFill>
                  <a:srgbClr val="FFFFFF"/>
                </a:solidFill>
                <a:latin typeface="Times New Roman MT"/>
                <a:ea typeface="Times New Roman MT"/>
                <a:cs typeface="Times New Roman MT"/>
                <a:sym typeface="Times New Roman MT"/>
              </a:rPr>
              <a:t>Z1-α/2 = 1,96 Zα/2 = -1,96 </a:t>
            </a:r>
          </a:p>
          <a:p>
            <a:pPr algn="ctr">
              <a:lnSpc>
                <a:spcPts val="2649"/>
              </a:lnSpc>
              <a:spcBef>
                <a:spcPct val="0"/>
              </a:spcBef>
            </a:pPr>
            <a:r>
              <a:rPr lang="en-US" sz="2038">
                <a:solidFill>
                  <a:srgbClr val="FFFFFF"/>
                </a:solidFill>
                <a:latin typeface="Times New Roman MT"/>
                <a:ea typeface="Times New Roman MT"/>
                <a:cs typeface="Times New Roman MT"/>
                <a:sym typeface="Times New Roman MT"/>
              </a:rPr>
              <a:t>-14.240 &lt; -1.96 V -14.96 &gt; 1.96</a:t>
            </a:r>
          </a:p>
          <a:p>
            <a:pPr algn="ctr">
              <a:lnSpc>
                <a:spcPts val="2649"/>
              </a:lnSpc>
              <a:spcBef>
                <a:spcPct val="0"/>
              </a:spcBef>
            </a:pPr>
          </a:p>
          <a:p>
            <a:pPr algn="ctr">
              <a:lnSpc>
                <a:spcPts val="2649"/>
              </a:lnSpc>
              <a:spcBef>
                <a:spcPct val="0"/>
              </a:spcBef>
            </a:pPr>
            <a:r>
              <a:rPr lang="en-US" b="true" sz="2038">
                <a:solidFill>
                  <a:srgbClr val="FFFFFF"/>
                </a:solidFill>
                <a:latin typeface="Times New Roman MT Bold"/>
                <a:ea typeface="Times New Roman MT Bold"/>
                <a:cs typeface="Times New Roman MT Bold"/>
                <a:sym typeface="Times New Roman MT Bold"/>
              </a:rPr>
              <a:t>6) Se rechaza Ho</a:t>
            </a:r>
            <a:r>
              <a:rPr lang="en-US" sz="2038">
                <a:solidFill>
                  <a:srgbClr val="FFFFFF"/>
                </a:solidFill>
                <a:latin typeface="Times New Roman MT"/>
                <a:ea typeface="Times New Roman MT"/>
                <a:cs typeface="Times New Roman MT"/>
                <a:sym typeface="Times New Roman MT"/>
              </a:rPr>
              <a:t>, por lo que el coeficiente de regresión constante es distinto de 0, es decir, es estadísticamente significativo, con un nivel de significación de 0.05.</a:t>
            </a:r>
          </a:p>
          <a:p>
            <a:pPr algn="ctr">
              <a:lnSpc>
                <a:spcPts val="2649"/>
              </a:lnSpc>
              <a:spcBef>
                <a:spcPct val="0"/>
              </a:spcBef>
            </a:pPr>
          </a:p>
        </p:txBody>
      </p:sp>
      <p:sp>
        <p:nvSpPr>
          <p:cNvPr name="TextBox 5" id="5"/>
          <p:cNvSpPr txBox="true"/>
          <p:nvPr/>
        </p:nvSpPr>
        <p:spPr>
          <a:xfrm rot="0">
            <a:off x="275937" y="2006146"/>
            <a:ext cx="5861328" cy="552450"/>
          </a:xfrm>
          <a:prstGeom prst="rect">
            <a:avLst/>
          </a:prstGeom>
        </p:spPr>
        <p:txBody>
          <a:bodyPr anchor="t" rtlCol="false" tIns="0" lIns="0" bIns="0" rIns="0">
            <a:spAutoFit/>
          </a:bodyPr>
          <a:lstStyle/>
          <a:p>
            <a:pPr algn="ctr">
              <a:lnSpc>
                <a:spcPts val="3900"/>
              </a:lnSpc>
              <a:spcBef>
                <a:spcPct val="0"/>
              </a:spcBef>
            </a:pPr>
            <a:r>
              <a:rPr lang="en-US" b="true" sz="3000">
                <a:solidFill>
                  <a:srgbClr val="FFFFFF"/>
                </a:solidFill>
                <a:latin typeface="Times New Roman MT Bold"/>
                <a:ea typeface="Times New Roman MT Bold"/>
                <a:cs typeface="Times New Roman MT Bold"/>
                <a:sym typeface="Times New Roman MT Bold"/>
              </a:rPr>
              <a:t>Contraste de hipótesis para constante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80582" y="416741"/>
            <a:ext cx="17926836" cy="1895475"/>
          </a:xfrm>
          <a:prstGeom prst="rect">
            <a:avLst/>
          </a:prstGeom>
        </p:spPr>
        <p:txBody>
          <a:bodyPr anchor="t" rtlCol="false" tIns="0" lIns="0" bIns="0" rIns="0">
            <a:spAutoFit/>
          </a:bodyPr>
          <a:lstStyle/>
          <a:p>
            <a:pPr algn="l">
              <a:lnSpc>
                <a:spcPts val="7036"/>
              </a:lnSpc>
            </a:pPr>
            <a:r>
              <a:rPr lang="en-US" sz="5863">
                <a:solidFill>
                  <a:srgbClr val="FFFFFF"/>
                </a:solidFill>
                <a:latin typeface="Times New Roman MT"/>
                <a:ea typeface="Times New Roman MT"/>
                <a:cs typeface="Times New Roman MT"/>
                <a:sym typeface="Times New Roman MT"/>
              </a:rPr>
              <a:t>Estimación de los coeficientes de regresión de μyx</a:t>
            </a:r>
          </a:p>
          <a:p>
            <a:pPr algn="l">
              <a:lnSpc>
                <a:spcPts val="7036"/>
              </a:lnSpc>
            </a:pPr>
          </a:p>
        </p:txBody>
      </p:sp>
      <p:sp>
        <p:nvSpPr>
          <p:cNvPr name="AutoShape 3" id="3"/>
          <p:cNvSpPr/>
          <p:nvPr/>
        </p:nvSpPr>
        <p:spPr>
          <a:xfrm>
            <a:off x="100776" y="1731628"/>
            <a:ext cx="17848284" cy="0"/>
          </a:xfrm>
          <a:prstGeom prst="line">
            <a:avLst/>
          </a:prstGeom>
          <a:ln cap="flat" w="57150">
            <a:solidFill>
              <a:srgbClr val="FA632A"/>
            </a:solidFill>
            <a:prstDash val="solid"/>
            <a:headEnd type="none" len="sm" w="sm"/>
            <a:tailEnd type="none" len="sm" w="sm"/>
          </a:ln>
        </p:spPr>
      </p:sp>
      <p:sp>
        <p:nvSpPr>
          <p:cNvPr name="TextBox 4" id="4"/>
          <p:cNvSpPr txBox="true"/>
          <p:nvPr/>
        </p:nvSpPr>
        <p:spPr>
          <a:xfrm rot="0">
            <a:off x="4991215" y="2553373"/>
            <a:ext cx="7721116" cy="8001691"/>
          </a:xfrm>
          <a:prstGeom prst="rect">
            <a:avLst/>
          </a:prstGeom>
        </p:spPr>
        <p:txBody>
          <a:bodyPr anchor="t" rtlCol="false" tIns="0" lIns="0" bIns="0" rIns="0">
            <a:spAutoFit/>
          </a:bodyPr>
          <a:lstStyle/>
          <a:p>
            <a:pPr algn="ctr">
              <a:lnSpc>
                <a:spcPts val="2854"/>
              </a:lnSpc>
              <a:spcBef>
                <a:spcPct val="0"/>
              </a:spcBef>
            </a:pPr>
            <a:r>
              <a:rPr lang="en-US" b="true" sz="2195">
                <a:solidFill>
                  <a:srgbClr val="FFFFFF"/>
                </a:solidFill>
                <a:latin typeface="Times New Roman MT Bold"/>
                <a:ea typeface="Times New Roman MT Bold"/>
                <a:cs typeface="Times New Roman MT Bold"/>
                <a:sym typeface="Times New Roman MT Bold"/>
              </a:rPr>
              <a:t>B: Pendiente de la recta de regresión</a:t>
            </a:r>
          </a:p>
          <a:p>
            <a:pPr algn="ctr">
              <a:lnSpc>
                <a:spcPts val="2854"/>
              </a:lnSpc>
              <a:spcBef>
                <a:spcPct val="0"/>
              </a:spcBef>
            </a:pPr>
          </a:p>
          <a:p>
            <a:pPr algn="ctr">
              <a:lnSpc>
                <a:spcPts val="2854"/>
              </a:lnSpc>
              <a:spcBef>
                <a:spcPct val="0"/>
              </a:spcBef>
            </a:pPr>
            <a:r>
              <a:rPr lang="en-US" b="true" sz="2195">
                <a:solidFill>
                  <a:srgbClr val="FFFFFF"/>
                </a:solidFill>
                <a:latin typeface="Times New Roman MT Bold"/>
                <a:ea typeface="Times New Roman MT Bold"/>
                <a:cs typeface="Times New Roman MT Bold"/>
                <a:sym typeface="Times New Roman MT Bold"/>
              </a:rPr>
              <a:t>2) Hipótesis</a:t>
            </a:r>
            <a:r>
              <a:rPr lang="en-US" sz="2195">
                <a:solidFill>
                  <a:srgbClr val="FFFFFF"/>
                </a:solidFill>
                <a:latin typeface="Times New Roman MT"/>
                <a:ea typeface="Times New Roman MT"/>
                <a:cs typeface="Times New Roman MT"/>
                <a:sym typeface="Times New Roman MT"/>
              </a:rPr>
              <a:t> </a:t>
            </a:r>
          </a:p>
          <a:p>
            <a:pPr algn="ctr">
              <a:lnSpc>
                <a:spcPts val="2854"/>
              </a:lnSpc>
              <a:spcBef>
                <a:spcPct val="0"/>
              </a:spcBef>
            </a:pPr>
            <a:r>
              <a:rPr lang="en-US" sz="2195">
                <a:solidFill>
                  <a:srgbClr val="FFFFFF"/>
                </a:solidFill>
                <a:latin typeface="Times New Roman MT"/>
                <a:ea typeface="Times New Roman MT"/>
                <a:cs typeface="Times New Roman MT"/>
                <a:sym typeface="Times New Roman MT"/>
              </a:rPr>
              <a:t>    </a:t>
            </a:r>
          </a:p>
          <a:p>
            <a:pPr algn="ctr">
              <a:lnSpc>
                <a:spcPts val="2854"/>
              </a:lnSpc>
              <a:spcBef>
                <a:spcPct val="0"/>
              </a:spcBef>
            </a:pPr>
            <a:r>
              <a:rPr lang="en-US" sz="2195">
                <a:solidFill>
                  <a:srgbClr val="FFFFFF"/>
                </a:solidFill>
                <a:latin typeface="Times New Roman MT"/>
                <a:ea typeface="Times New Roman MT"/>
                <a:cs typeface="Times New Roman MT"/>
                <a:sym typeface="Times New Roman MT"/>
              </a:rPr>
              <a:t>       Ho: B=0 </a:t>
            </a:r>
          </a:p>
          <a:p>
            <a:pPr algn="ctr">
              <a:lnSpc>
                <a:spcPts val="2854"/>
              </a:lnSpc>
              <a:spcBef>
                <a:spcPct val="0"/>
              </a:spcBef>
            </a:pPr>
            <a:r>
              <a:rPr lang="en-US" sz="2195">
                <a:solidFill>
                  <a:srgbClr val="FFFFFF"/>
                </a:solidFill>
                <a:latin typeface="Times New Roman MT"/>
                <a:ea typeface="Times New Roman MT"/>
                <a:cs typeface="Times New Roman MT"/>
                <a:sym typeface="Times New Roman MT"/>
              </a:rPr>
              <a:t>       H1: B≠0 </a:t>
            </a:r>
          </a:p>
          <a:p>
            <a:pPr algn="ctr">
              <a:lnSpc>
                <a:spcPts val="2854"/>
              </a:lnSpc>
              <a:spcBef>
                <a:spcPct val="0"/>
              </a:spcBef>
            </a:pPr>
          </a:p>
          <a:p>
            <a:pPr algn="ctr">
              <a:lnSpc>
                <a:spcPts val="2854"/>
              </a:lnSpc>
              <a:spcBef>
                <a:spcPct val="0"/>
              </a:spcBef>
            </a:pPr>
            <a:r>
              <a:rPr lang="en-US" b="true" sz="2195">
                <a:solidFill>
                  <a:srgbClr val="FFFFFF"/>
                </a:solidFill>
                <a:latin typeface="Times New Roman MT Bold"/>
                <a:ea typeface="Times New Roman MT Bold"/>
                <a:cs typeface="Times New Roman MT Bold"/>
                <a:sym typeface="Times New Roman MT Bold"/>
              </a:rPr>
              <a:t>3)  Nivel de significación: α=0.05 </a:t>
            </a:r>
          </a:p>
          <a:p>
            <a:pPr algn="ctr">
              <a:lnSpc>
                <a:spcPts val="2854"/>
              </a:lnSpc>
              <a:spcBef>
                <a:spcPct val="0"/>
              </a:spcBef>
            </a:pPr>
          </a:p>
          <a:p>
            <a:pPr algn="ctr">
              <a:lnSpc>
                <a:spcPts val="2854"/>
              </a:lnSpc>
              <a:spcBef>
                <a:spcPct val="0"/>
              </a:spcBef>
            </a:pPr>
            <a:r>
              <a:rPr lang="en-US" b="true" sz="2195">
                <a:solidFill>
                  <a:srgbClr val="FFFFFF"/>
                </a:solidFill>
                <a:latin typeface="Times New Roman MT Bold"/>
                <a:ea typeface="Times New Roman MT Bold"/>
                <a:cs typeface="Times New Roman MT Bold"/>
                <a:sym typeface="Times New Roman MT Bold"/>
              </a:rPr>
              <a:t>4)  Estadístico de contraste:</a:t>
            </a:r>
            <a:r>
              <a:rPr lang="en-US" sz="2195">
                <a:solidFill>
                  <a:srgbClr val="FFFFFF"/>
                </a:solidFill>
                <a:latin typeface="Times New Roman MT"/>
                <a:ea typeface="Times New Roman MT"/>
                <a:cs typeface="Times New Roman MT"/>
                <a:sym typeface="Times New Roman MT"/>
              </a:rPr>
              <a:t> Z* = 20.633 (Por ser n&gt;=30) </a:t>
            </a:r>
          </a:p>
          <a:p>
            <a:pPr algn="ctr">
              <a:lnSpc>
                <a:spcPts val="2854"/>
              </a:lnSpc>
              <a:spcBef>
                <a:spcPct val="0"/>
              </a:spcBef>
            </a:pPr>
          </a:p>
          <a:p>
            <a:pPr algn="ctr">
              <a:lnSpc>
                <a:spcPts val="2854"/>
              </a:lnSpc>
              <a:spcBef>
                <a:spcPct val="0"/>
              </a:spcBef>
            </a:pPr>
            <a:r>
              <a:rPr lang="en-US" b="true" sz="2195">
                <a:solidFill>
                  <a:srgbClr val="FFFFFF"/>
                </a:solidFill>
                <a:latin typeface="Times New Roman MT Bold"/>
                <a:ea typeface="Times New Roman MT Bold"/>
                <a:cs typeface="Times New Roman MT Bold"/>
                <a:sym typeface="Times New Roman MT Bold"/>
              </a:rPr>
              <a:t>5)  Regla de decisión</a:t>
            </a:r>
          </a:p>
          <a:p>
            <a:pPr algn="ctr">
              <a:lnSpc>
                <a:spcPts val="2854"/>
              </a:lnSpc>
              <a:spcBef>
                <a:spcPct val="0"/>
              </a:spcBef>
            </a:pPr>
            <a:r>
              <a:rPr lang="en-US" sz="2195">
                <a:solidFill>
                  <a:srgbClr val="FFFFFF"/>
                </a:solidFill>
                <a:latin typeface="Times New Roman MT"/>
                <a:ea typeface="Times New Roman MT"/>
                <a:cs typeface="Times New Roman MT"/>
                <a:sym typeface="Times New Roman MT"/>
              </a:rPr>
              <a:t>Se rechaza Ho sii</a:t>
            </a:r>
          </a:p>
          <a:p>
            <a:pPr algn="ctr">
              <a:lnSpc>
                <a:spcPts val="2854"/>
              </a:lnSpc>
              <a:spcBef>
                <a:spcPct val="0"/>
              </a:spcBef>
            </a:pPr>
            <a:r>
              <a:rPr lang="en-US" sz="2195">
                <a:solidFill>
                  <a:srgbClr val="FFFFFF"/>
                </a:solidFill>
                <a:latin typeface="Times New Roman MT"/>
                <a:ea typeface="Times New Roman MT"/>
                <a:cs typeface="Times New Roman MT"/>
                <a:sym typeface="Times New Roman MT"/>
              </a:rPr>
              <a:t> Z* &lt; Zα/2 V Z* &gt; Z1-α/2</a:t>
            </a:r>
          </a:p>
          <a:p>
            <a:pPr algn="ctr">
              <a:lnSpc>
                <a:spcPts val="2854"/>
              </a:lnSpc>
              <a:spcBef>
                <a:spcPct val="0"/>
              </a:spcBef>
            </a:pPr>
            <a:r>
              <a:rPr lang="en-US" sz="2195">
                <a:solidFill>
                  <a:srgbClr val="FFFFFF"/>
                </a:solidFill>
                <a:latin typeface="Times New Roman MT"/>
                <a:ea typeface="Times New Roman MT"/>
                <a:cs typeface="Times New Roman MT"/>
                <a:sym typeface="Times New Roman MT"/>
              </a:rPr>
              <a:t> Z1-α/2 = 1,96 Zα/2 = -1,96</a:t>
            </a:r>
          </a:p>
          <a:p>
            <a:pPr algn="ctr">
              <a:lnSpc>
                <a:spcPts val="2854"/>
              </a:lnSpc>
              <a:spcBef>
                <a:spcPct val="0"/>
              </a:spcBef>
            </a:pPr>
            <a:r>
              <a:rPr lang="en-US" sz="2195">
                <a:solidFill>
                  <a:srgbClr val="FFFFFF"/>
                </a:solidFill>
                <a:latin typeface="Times New Roman MT"/>
                <a:ea typeface="Times New Roman MT"/>
                <a:cs typeface="Times New Roman MT"/>
                <a:sym typeface="Times New Roman MT"/>
              </a:rPr>
              <a:t>20.633 &lt; -1.96 V 20.633 &gt; 1.96</a:t>
            </a:r>
          </a:p>
          <a:p>
            <a:pPr algn="ctr">
              <a:lnSpc>
                <a:spcPts val="2854"/>
              </a:lnSpc>
              <a:spcBef>
                <a:spcPct val="0"/>
              </a:spcBef>
            </a:pPr>
          </a:p>
          <a:p>
            <a:pPr algn="ctr">
              <a:lnSpc>
                <a:spcPts val="2854"/>
              </a:lnSpc>
              <a:spcBef>
                <a:spcPct val="0"/>
              </a:spcBef>
            </a:pPr>
            <a:r>
              <a:rPr lang="en-US" b="true" sz="2195">
                <a:solidFill>
                  <a:srgbClr val="FFFFFF"/>
                </a:solidFill>
                <a:latin typeface="Times New Roman MT Bold"/>
                <a:ea typeface="Times New Roman MT Bold"/>
                <a:cs typeface="Times New Roman MT Bold"/>
                <a:sym typeface="Times New Roman MT Bold"/>
              </a:rPr>
              <a:t>6) Se rechaza Ho,</a:t>
            </a:r>
            <a:r>
              <a:rPr lang="en-US" sz="2195">
                <a:solidFill>
                  <a:srgbClr val="FFFFFF"/>
                </a:solidFill>
                <a:latin typeface="Times New Roman MT"/>
                <a:ea typeface="Times New Roman MT"/>
                <a:cs typeface="Times New Roman MT"/>
                <a:sym typeface="Times New Roman MT"/>
              </a:rPr>
              <a:t> por lo que el coeficiente de regresión asociado a la variable Ghz del procesador es distinto de 0, es decir, es estadísticamente significativo, con un nivel de significación de 0.05.</a:t>
            </a:r>
          </a:p>
          <a:p>
            <a:pPr algn="ctr">
              <a:lnSpc>
                <a:spcPts val="2854"/>
              </a:lnSpc>
              <a:spcBef>
                <a:spcPct val="0"/>
              </a:spcBef>
            </a:pPr>
          </a:p>
        </p:txBody>
      </p:sp>
      <p:grpSp>
        <p:nvGrpSpPr>
          <p:cNvPr name="Group 5" id="5"/>
          <p:cNvGrpSpPr/>
          <p:nvPr/>
        </p:nvGrpSpPr>
        <p:grpSpPr>
          <a:xfrm rot="0">
            <a:off x="15201900" y="4495800"/>
            <a:ext cx="3086100" cy="6059264"/>
            <a:chOff x="0" y="0"/>
            <a:chExt cx="812800" cy="1595856"/>
          </a:xfrm>
        </p:grpSpPr>
        <p:sp>
          <p:nvSpPr>
            <p:cNvPr name="Freeform 6" id="6"/>
            <p:cNvSpPr/>
            <p:nvPr/>
          </p:nvSpPr>
          <p:spPr>
            <a:xfrm flipH="false" flipV="false" rot="0">
              <a:off x="0" y="0"/>
              <a:ext cx="812800" cy="1595856"/>
            </a:xfrm>
            <a:custGeom>
              <a:avLst/>
              <a:gdLst/>
              <a:ahLst/>
              <a:cxnLst/>
              <a:rect r="r" b="b" t="t" l="l"/>
              <a:pathLst>
                <a:path h="1595856" w="812800">
                  <a:moveTo>
                    <a:pt x="0" y="0"/>
                  </a:moveTo>
                  <a:lnTo>
                    <a:pt x="812800" y="0"/>
                  </a:lnTo>
                  <a:lnTo>
                    <a:pt x="812800" y="1595856"/>
                  </a:lnTo>
                  <a:lnTo>
                    <a:pt x="0" y="1595856"/>
                  </a:lnTo>
                  <a:close/>
                </a:path>
              </a:pathLst>
            </a:custGeom>
            <a:ln w="76200" cap="sq">
              <a:solidFill>
                <a:srgbClr val="FA632A"/>
              </a:solidFill>
              <a:prstDash val="solid"/>
              <a:miter/>
            </a:ln>
          </p:spPr>
        </p:sp>
        <p:sp>
          <p:nvSpPr>
            <p:cNvPr name="TextBox 7" id="7"/>
            <p:cNvSpPr txBox="true"/>
            <p:nvPr/>
          </p:nvSpPr>
          <p:spPr>
            <a:xfrm>
              <a:off x="0" y="-66675"/>
              <a:ext cx="812800" cy="1662531"/>
            </a:xfrm>
            <a:prstGeom prst="rect">
              <a:avLst/>
            </a:prstGeom>
          </p:spPr>
          <p:txBody>
            <a:bodyPr anchor="ctr" rtlCol="false" tIns="50800" lIns="50800" bIns="50800" rIns="50800"/>
            <a:lstStyle/>
            <a:p>
              <a:pPr algn="ctr">
                <a:lnSpc>
                  <a:spcPts val="2699"/>
                </a:lnSpc>
              </a:pPr>
            </a:p>
          </p:txBody>
        </p:sp>
      </p:grpSp>
      <p:sp>
        <p:nvSpPr>
          <p:cNvPr name="Freeform 8" id="8"/>
          <p:cNvSpPr/>
          <p:nvPr/>
        </p:nvSpPr>
        <p:spPr>
          <a:xfrm flipH="false" flipV="false" rot="0">
            <a:off x="14037566" y="3484278"/>
            <a:ext cx="1947933" cy="2023044"/>
          </a:xfrm>
          <a:custGeom>
            <a:avLst/>
            <a:gdLst/>
            <a:ahLst/>
            <a:cxnLst/>
            <a:rect r="r" b="b" t="t" l="l"/>
            <a:pathLst>
              <a:path h="2023044" w="1947933">
                <a:moveTo>
                  <a:pt x="0" y="0"/>
                </a:moveTo>
                <a:lnTo>
                  <a:pt x="1947933" y="0"/>
                </a:lnTo>
                <a:lnTo>
                  <a:pt x="1947933" y="2023044"/>
                </a:lnTo>
                <a:lnTo>
                  <a:pt x="0" y="2023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481800" y="4781550"/>
            <a:ext cx="2625618" cy="5505450"/>
          </a:xfrm>
          <a:prstGeom prst="rect">
            <a:avLst/>
          </a:prstGeom>
        </p:spPr>
        <p:txBody>
          <a:bodyPr anchor="t" rtlCol="false" tIns="0" lIns="0" bIns="0" rIns="0">
            <a:spAutoFit/>
          </a:bodyPr>
          <a:lstStyle/>
          <a:p>
            <a:pPr algn="ctr">
              <a:lnSpc>
                <a:spcPts val="3900"/>
              </a:lnSpc>
              <a:spcBef>
                <a:spcPct val="0"/>
              </a:spcBef>
            </a:pPr>
            <a:r>
              <a:rPr lang="en-US" sz="3000">
                <a:solidFill>
                  <a:srgbClr val="FFFFFF"/>
                </a:solidFill>
                <a:latin typeface="Times New Roman MT"/>
                <a:ea typeface="Times New Roman MT"/>
                <a:cs typeface="Times New Roman MT"/>
                <a:sym typeface="Times New Roman MT"/>
              </a:rPr>
              <a:t>Se cumple el primer supuesto para el modelo, debido a que los coeficientes son diferentes de cero, es decir, si existen dentro de la función para el modelo de regresión.</a:t>
            </a:r>
          </a:p>
        </p:txBody>
      </p:sp>
      <p:sp>
        <p:nvSpPr>
          <p:cNvPr name="TextBox 10" id="10"/>
          <p:cNvSpPr txBox="true"/>
          <p:nvPr/>
        </p:nvSpPr>
        <p:spPr>
          <a:xfrm rot="0">
            <a:off x="100776" y="1893608"/>
            <a:ext cx="9289137" cy="507365"/>
          </a:xfrm>
          <a:prstGeom prst="rect">
            <a:avLst/>
          </a:prstGeom>
        </p:spPr>
        <p:txBody>
          <a:bodyPr anchor="t" rtlCol="false" tIns="0" lIns="0" bIns="0" rIns="0">
            <a:spAutoFit/>
          </a:bodyPr>
          <a:lstStyle/>
          <a:p>
            <a:pPr algn="ctr">
              <a:lnSpc>
                <a:spcPts val="3640"/>
              </a:lnSpc>
              <a:spcBef>
                <a:spcPct val="0"/>
              </a:spcBef>
            </a:pPr>
            <a:r>
              <a:rPr lang="en-US" b="true" sz="2800">
                <a:solidFill>
                  <a:srgbClr val="FFFFFF"/>
                </a:solidFill>
                <a:latin typeface="Times New Roman MT Bold"/>
                <a:ea typeface="Times New Roman MT Bold"/>
                <a:cs typeface="Times New Roman MT Bold"/>
                <a:sym typeface="Times New Roman MT Bold"/>
              </a:rPr>
              <a:t>Contraste de hipótesis para la pendiente de la recta de regresión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flipV="true">
            <a:off x="9144000" y="1443958"/>
            <a:ext cx="0" cy="11811731"/>
          </a:xfrm>
          <a:prstGeom prst="line">
            <a:avLst/>
          </a:prstGeom>
          <a:ln cap="flat" w="104775">
            <a:solidFill>
              <a:srgbClr val="FA632A"/>
            </a:solidFill>
            <a:prstDash val="solid"/>
            <a:headEnd type="none" len="sm" w="sm"/>
            <a:tailEnd type="none" len="sm" w="sm"/>
          </a:ln>
        </p:spPr>
      </p:sp>
      <p:sp>
        <p:nvSpPr>
          <p:cNvPr name="Freeform 3" id="3"/>
          <p:cNvSpPr/>
          <p:nvPr/>
        </p:nvSpPr>
        <p:spPr>
          <a:xfrm flipH="false" flipV="false" rot="0">
            <a:off x="1084121" y="2510749"/>
            <a:ext cx="5946289" cy="2182308"/>
          </a:xfrm>
          <a:custGeom>
            <a:avLst/>
            <a:gdLst/>
            <a:ahLst/>
            <a:cxnLst/>
            <a:rect r="r" b="b" t="t" l="l"/>
            <a:pathLst>
              <a:path h="2182308" w="5946289">
                <a:moveTo>
                  <a:pt x="0" y="0"/>
                </a:moveTo>
                <a:lnTo>
                  <a:pt x="5946289" y="0"/>
                </a:lnTo>
                <a:lnTo>
                  <a:pt x="5946289" y="2182308"/>
                </a:lnTo>
                <a:lnTo>
                  <a:pt x="0" y="2182308"/>
                </a:lnTo>
                <a:lnTo>
                  <a:pt x="0" y="0"/>
                </a:lnTo>
                <a:close/>
              </a:path>
            </a:pathLst>
          </a:custGeom>
          <a:blipFill>
            <a:blip r:embed="rId2"/>
            <a:stretch>
              <a:fillRect l="0" t="0" r="0" b="0"/>
            </a:stretch>
          </a:blipFill>
        </p:spPr>
      </p:sp>
      <p:sp>
        <p:nvSpPr>
          <p:cNvPr name="Freeform 4" id="4"/>
          <p:cNvSpPr/>
          <p:nvPr/>
        </p:nvSpPr>
        <p:spPr>
          <a:xfrm flipH="false" flipV="false" rot="0">
            <a:off x="152984" y="5350393"/>
            <a:ext cx="8578706" cy="4750458"/>
          </a:xfrm>
          <a:custGeom>
            <a:avLst/>
            <a:gdLst/>
            <a:ahLst/>
            <a:cxnLst/>
            <a:rect r="r" b="b" t="t" l="l"/>
            <a:pathLst>
              <a:path h="4750458" w="8578706">
                <a:moveTo>
                  <a:pt x="0" y="0"/>
                </a:moveTo>
                <a:lnTo>
                  <a:pt x="8578706" y="0"/>
                </a:lnTo>
                <a:lnTo>
                  <a:pt x="8578706" y="4750459"/>
                </a:lnTo>
                <a:lnTo>
                  <a:pt x="0" y="4750459"/>
                </a:lnTo>
                <a:lnTo>
                  <a:pt x="0" y="0"/>
                </a:lnTo>
                <a:close/>
              </a:path>
            </a:pathLst>
          </a:custGeom>
          <a:blipFill>
            <a:blip r:embed="rId3"/>
            <a:stretch>
              <a:fillRect l="0" t="0" r="0" b="0"/>
            </a:stretch>
          </a:blipFill>
        </p:spPr>
      </p:sp>
      <p:sp>
        <p:nvSpPr>
          <p:cNvPr name="Freeform 5" id="5"/>
          <p:cNvSpPr/>
          <p:nvPr/>
        </p:nvSpPr>
        <p:spPr>
          <a:xfrm flipH="false" flipV="false" rot="0">
            <a:off x="10865279" y="2510749"/>
            <a:ext cx="5843772" cy="1454830"/>
          </a:xfrm>
          <a:custGeom>
            <a:avLst/>
            <a:gdLst/>
            <a:ahLst/>
            <a:cxnLst/>
            <a:rect r="r" b="b" t="t" l="l"/>
            <a:pathLst>
              <a:path h="1454830" w="5843772">
                <a:moveTo>
                  <a:pt x="0" y="0"/>
                </a:moveTo>
                <a:lnTo>
                  <a:pt x="5843772" y="0"/>
                </a:lnTo>
                <a:lnTo>
                  <a:pt x="5843772" y="1454830"/>
                </a:lnTo>
                <a:lnTo>
                  <a:pt x="0" y="1454830"/>
                </a:lnTo>
                <a:lnTo>
                  <a:pt x="0" y="0"/>
                </a:lnTo>
                <a:close/>
              </a:path>
            </a:pathLst>
          </a:custGeom>
          <a:blipFill>
            <a:blip r:embed="rId4"/>
            <a:stretch>
              <a:fillRect l="0" t="0" r="0" b="0"/>
            </a:stretch>
          </a:blipFill>
        </p:spPr>
      </p:sp>
      <p:sp>
        <p:nvSpPr>
          <p:cNvPr name="Freeform 6" id="6"/>
          <p:cNvSpPr/>
          <p:nvPr/>
        </p:nvSpPr>
        <p:spPr>
          <a:xfrm flipH="false" flipV="false" rot="0">
            <a:off x="11580897" y="4694476"/>
            <a:ext cx="4412535" cy="1311835"/>
          </a:xfrm>
          <a:custGeom>
            <a:avLst/>
            <a:gdLst/>
            <a:ahLst/>
            <a:cxnLst/>
            <a:rect r="r" b="b" t="t" l="l"/>
            <a:pathLst>
              <a:path h="1311835" w="4412535">
                <a:moveTo>
                  <a:pt x="0" y="0"/>
                </a:moveTo>
                <a:lnTo>
                  <a:pt x="4412535" y="0"/>
                </a:lnTo>
                <a:lnTo>
                  <a:pt x="4412535" y="1311835"/>
                </a:lnTo>
                <a:lnTo>
                  <a:pt x="0" y="1311835"/>
                </a:lnTo>
                <a:lnTo>
                  <a:pt x="0" y="0"/>
                </a:lnTo>
                <a:close/>
              </a:path>
            </a:pathLst>
          </a:custGeom>
          <a:blipFill>
            <a:blip r:embed="rId5"/>
            <a:stretch>
              <a:fillRect l="0" t="0" r="0" b="0"/>
            </a:stretch>
          </a:blipFill>
        </p:spPr>
      </p:sp>
      <p:sp>
        <p:nvSpPr>
          <p:cNvPr name="Freeform 7" id="7"/>
          <p:cNvSpPr/>
          <p:nvPr/>
        </p:nvSpPr>
        <p:spPr>
          <a:xfrm flipH="false" flipV="false" rot="0">
            <a:off x="9983556" y="7042698"/>
            <a:ext cx="7607219" cy="2215602"/>
          </a:xfrm>
          <a:custGeom>
            <a:avLst/>
            <a:gdLst/>
            <a:ahLst/>
            <a:cxnLst/>
            <a:rect r="r" b="b" t="t" l="l"/>
            <a:pathLst>
              <a:path h="2215602" w="7607219">
                <a:moveTo>
                  <a:pt x="0" y="0"/>
                </a:moveTo>
                <a:lnTo>
                  <a:pt x="7607218" y="0"/>
                </a:lnTo>
                <a:lnTo>
                  <a:pt x="7607218" y="2215602"/>
                </a:lnTo>
                <a:lnTo>
                  <a:pt x="0" y="2215602"/>
                </a:lnTo>
                <a:lnTo>
                  <a:pt x="0" y="0"/>
                </a:lnTo>
                <a:close/>
              </a:path>
            </a:pathLst>
          </a:custGeom>
          <a:blipFill>
            <a:blip r:embed="rId6"/>
            <a:stretch>
              <a:fillRect l="0" t="0" r="0" b="0"/>
            </a:stretch>
          </a:blipFill>
        </p:spPr>
      </p:sp>
      <p:sp>
        <p:nvSpPr>
          <p:cNvPr name="TextBox 8" id="8"/>
          <p:cNvSpPr txBox="true"/>
          <p:nvPr/>
        </p:nvSpPr>
        <p:spPr>
          <a:xfrm rot="0">
            <a:off x="5650655" y="319080"/>
            <a:ext cx="6450687" cy="872491"/>
          </a:xfrm>
          <a:prstGeom prst="rect">
            <a:avLst/>
          </a:prstGeom>
        </p:spPr>
        <p:txBody>
          <a:bodyPr anchor="t" rtlCol="false" tIns="0" lIns="0" bIns="0" rIns="0">
            <a:spAutoFit/>
          </a:bodyPr>
          <a:lstStyle/>
          <a:p>
            <a:pPr algn="ctr">
              <a:lnSpc>
                <a:spcPts val="6239"/>
              </a:lnSpc>
              <a:spcBef>
                <a:spcPct val="0"/>
              </a:spcBef>
            </a:pPr>
            <a:r>
              <a:rPr lang="en-US" sz="4799">
                <a:solidFill>
                  <a:srgbClr val="000000"/>
                </a:solidFill>
                <a:latin typeface="Times New Roman MT"/>
                <a:ea typeface="Times New Roman MT"/>
                <a:cs typeface="Times New Roman MT"/>
                <a:sym typeface="Times New Roman MT"/>
              </a:rPr>
              <a:t>Estimación por intervalo</a:t>
            </a:r>
          </a:p>
        </p:txBody>
      </p:sp>
      <p:sp>
        <p:nvSpPr>
          <p:cNvPr name="TextBox 9" id="9"/>
          <p:cNvSpPr txBox="true"/>
          <p:nvPr/>
        </p:nvSpPr>
        <p:spPr>
          <a:xfrm rot="0">
            <a:off x="3057140" y="1483072"/>
            <a:ext cx="1000125" cy="827406"/>
          </a:xfrm>
          <a:prstGeom prst="rect">
            <a:avLst/>
          </a:prstGeom>
        </p:spPr>
        <p:txBody>
          <a:bodyPr anchor="t" rtlCol="false" tIns="0" lIns="0" bIns="0" rIns="0">
            <a:spAutoFit/>
          </a:bodyPr>
          <a:lstStyle/>
          <a:p>
            <a:pPr algn="ctr">
              <a:lnSpc>
                <a:spcPts val="5979"/>
              </a:lnSpc>
              <a:spcBef>
                <a:spcPct val="0"/>
              </a:spcBef>
            </a:pPr>
            <a:r>
              <a:rPr lang="en-US" b="true" sz="4599">
                <a:solidFill>
                  <a:srgbClr val="000000"/>
                </a:solidFill>
                <a:latin typeface="Times New Roman MT Bold"/>
                <a:ea typeface="Times New Roman MT Bold"/>
                <a:cs typeface="Times New Roman MT Bold"/>
                <a:sym typeface="Times New Roman MT Bold"/>
              </a:rPr>
              <a:t>μyx</a:t>
            </a:r>
          </a:p>
        </p:txBody>
      </p:sp>
      <p:sp>
        <p:nvSpPr>
          <p:cNvPr name="TextBox 10" id="10"/>
          <p:cNvSpPr txBox="true"/>
          <p:nvPr/>
        </p:nvSpPr>
        <p:spPr>
          <a:xfrm rot="0">
            <a:off x="13431108" y="1483072"/>
            <a:ext cx="712113" cy="827406"/>
          </a:xfrm>
          <a:prstGeom prst="rect">
            <a:avLst/>
          </a:prstGeom>
        </p:spPr>
        <p:txBody>
          <a:bodyPr anchor="t" rtlCol="false" tIns="0" lIns="0" bIns="0" rIns="0">
            <a:spAutoFit/>
          </a:bodyPr>
          <a:lstStyle/>
          <a:p>
            <a:pPr algn="ctr">
              <a:lnSpc>
                <a:spcPts val="5979"/>
              </a:lnSpc>
              <a:spcBef>
                <a:spcPct val="0"/>
              </a:spcBef>
            </a:pPr>
            <a:r>
              <a:rPr lang="en-US" b="true" sz="4599">
                <a:solidFill>
                  <a:srgbClr val="000000"/>
                </a:solidFill>
                <a:latin typeface="Times New Roman MT Bold"/>
                <a:ea typeface="Times New Roman MT Bold"/>
                <a:cs typeface="Times New Roman MT Bold"/>
                <a:sym typeface="Times New Roman MT Bold"/>
              </a:rPr>
              <a:t>Ya</a:t>
            </a:r>
          </a:p>
        </p:txBody>
      </p:sp>
      <p:sp>
        <p:nvSpPr>
          <p:cNvPr name="TextBox 11" id="11"/>
          <p:cNvSpPr txBox="true"/>
          <p:nvPr/>
        </p:nvSpPr>
        <p:spPr>
          <a:xfrm rot="0">
            <a:off x="586368" y="4826654"/>
            <a:ext cx="2826068" cy="365125"/>
          </a:xfrm>
          <a:prstGeom prst="rect">
            <a:avLst/>
          </a:prstGeom>
        </p:spPr>
        <p:txBody>
          <a:bodyPr anchor="t" rtlCol="false" tIns="0" lIns="0" bIns="0" rIns="0">
            <a:spAutoFit/>
          </a:bodyPr>
          <a:lstStyle/>
          <a:p>
            <a:pPr algn="ctr">
              <a:lnSpc>
                <a:spcPts val="2600"/>
              </a:lnSpc>
              <a:spcBef>
                <a:spcPct val="0"/>
              </a:spcBef>
            </a:pPr>
            <a:r>
              <a:rPr lang="en-US" b="true" sz="2000">
                <a:solidFill>
                  <a:srgbClr val="000000"/>
                </a:solidFill>
                <a:latin typeface="Times New Roman MT Bold"/>
                <a:ea typeface="Times New Roman MT Bold"/>
                <a:cs typeface="Times New Roman MT Bold"/>
                <a:sym typeface="Times New Roman MT Bold"/>
              </a:rPr>
              <a:t>Se toma el valor de x = 4.5</a:t>
            </a:r>
          </a:p>
        </p:txBody>
      </p:sp>
      <p:sp>
        <p:nvSpPr>
          <p:cNvPr name="TextBox 12" id="12"/>
          <p:cNvSpPr txBox="true"/>
          <p:nvPr/>
        </p:nvSpPr>
        <p:spPr>
          <a:xfrm rot="0">
            <a:off x="9700197" y="4098929"/>
            <a:ext cx="5069443" cy="373677"/>
          </a:xfrm>
          <a:prstGeom prst="rect">
            <a:avLst/>
          </a:prstGeom>
        </p:spPr>
        <p:txBody>
          <a:bodyPr anchor="t" rtlCol="false" tIns="0" lIns="0" bIns="0" rIns="0">
            <a:spAutoFit/>
          </a:bodyPr>
          <a:lstStyle/>
          <a:p>
            <a:pPr algn="ctr">
              <a:lnSpc>
                <a:spcPts val="2699"/>
              </a:lnSpc>
              <a:spcBef>
                <a:spcPct val="0"/>
              </a:spcBef>
            </a:pPr>
            <a:r>
              <a:rPr lang="en-US" b="true" sz="2076">
                <a:solidFill>
                  <a:srgbClr val="000000"/>
                </a:solidFill>
                <a:latin typeface="Times New Roman MT Bold"/>
                <a:ea typeface="Times New Roman MT Bold"/>
                <a:cs typeface="Times New Roman MT Bold"/>
                <a:sym typeface="Times New Roman MT Bold"/>
              </a:rPr>
              <a:t>Desarrollando el cálculo de V(Ya), queda que  </a:t>
            </a:r>
          </a:p>
        </p:txBody>
      </p:sp>
      <p:sp>
        <p:nvSpPr>
          <p:cNvPr name="TextBox 13" id="13"/>
          <p:cNvSpPr txBox="true"/>
          <p:nvPr/>
        </p:nvSpPr>
        <p:spPr>
          <a:xfrm rot="0">
            <a:off x="9703031" y="6130136"/>
            <a:ext cx="5343525" cy="392684"/>
          </a:xfrm>
          <a:prstGeom prst="rect">
            <a:avLst/>
          </a:prstGeom>
        </p:spPr>
        <p:txBody>
          <a:bodyPr anchor="t" rtlCol="false" tIns="0" lIns="0" bIns="0" rIns="0">
            <a:spAutoFit/>
          </a:bodyPr>
          <a:lstStyle/>
          <a:p>
            <a:pPr algn="ctr">
              <a:lnSpc>
                <a:spcPts val="2703"/>
              </a:lnSpc>
              <a:spcBef>
                <a:spcPct val="0"/>
              </a:spcBef>
            </a:pPr>
            <a:r>
              <a:rPr lang="en-US" b="true" sz="2079">
                <a:solidFill>
                  <a:srgbClr val="000000"/>
                </a:solidFill>
                <a:latin typeface="Times New Roman MT Bold"/>
                <a:ea typeface="Times New Roman MT Bold"/>
                <a:cs typeface="Times New Roman MT Bold"/>
                <a:sym typeface="Times New Roman MT Bold"/>
              </a:rPr>
              <a:t>Sustituyendo valores en el intervalo de confianza </a:t>
            </a:r>
          </a:p>
        </p:txBody>
      </p:sp>
      <p:sp>
        <p:nvSpPr>
          <p:cNvPr name="AutoShape 14" id="14">
            <a:extLst>
              <a:ext uri="{C183D7F6-B498-43B3-948B-1728B52AA6E4}">
                <adec:decorative xmlns:adec="http://schemas.microsoft.com/office/drawing/2017/decorative" val="1"/>
              </a:ext>
            </a:extLst>
          </p:cNvPr>
          <p:cNvSpPr/>
          <p:nvPr/>
        </p:nvSpPr>
        <p:spPr>
          <a:xfrm flipH="true">
            <a:off x="1999607" y="2362865"/>
            <a:ext cx="13417036" cy="52388"/>
          </a:xfrm>
          <a:prstGeom prst="line">
            <a:avLst/>
          </a:prstGeom>
          <a:ln cap="flat" w="104775">
            <a:solidFill>
              <a:srgbClr val="FA632A"/>
            </a:solidFill>
            <a:prstDash val="solid"/>
            <a:headEnd type="none" len="sm" w="sm"/>
            <a:tailEnd type="none" len="sm" w="sm"/>
          </a:ln>
        </p:spPr>
      </p:sp>
    </p:spTree>
  </p:cSld>
  <p:clrMapOvr>
    <a:masterClrMapping/>
  </p:clrMapOvr>
</p:sld>
</file>

<file path=ppt/slides/slide25.xml><?xml version="1.0" encoding="utf-8"?>
<p:sld xmlns:p="http://schemas.openxmlformats.org/presentationml/2006/main" xmlns:a="http://schemas.openxmlformats.org/drawingml/2006/main">
  <p:cSld>
    <p:bg>
      <p:bgPr>
        <a:solidFill>
          <a:srgbClr val="FA632A"/>
        </a:solidFill>
      </p:bgPr>
    </p:bg>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a:off x="377726" y="2920262"/>
            <a:ext cx="10010284" cy="0"/>
          </a:xfrm>
          <a:prstGeom prst="line">
            <a:avLst/>
          </a:prstGeom>
          <a:ln cap="flat" w="104775">
            <a:solidFill>
              <a:srgbClr val="FFFFFF"/>
            </a:solidFill>
            <a:prstDash val="solid"/>
            <a:headEnd type="none" len="sm" w="sm"/>
            <a:tailEnd type="none" len="sm" w="sm"/>
          </a:ln>
        </p:spPr>
      </p:sp>
      <p:graphicFrame>
        <p:nvGraphicFramePr>
          <p:cNvPr name="Table 3" id="3"/>
          <p:cNvGraphicFramePr>
            <a:graphicFrameLocks noGrp="true"/>
          </p:cNvGraphicFramePr>
          <p:nvPr/>
        </p:nvGraphicFramePr>
        <p:xfrm>
          <a:off x="146465" y="3747909"/>
          <a:ext cx="10499129" cy="6172200"/>
        </p:xfrm>
        <a:graphic>
          <a:graphicData uri="http://schemas.openxmlformats.org/drawingml/2006/table">
            <a:tbl>
              <a:tblPr/>
              <a:tblGrid>
                <a:gridCol w="2877654"/>
                <a:gridCol w="2877654"/>
                <a:gridCol w="2877654"/>
                <a:gridCol w="1866168"/>
              </a:tblGrid>
              <a:tr h="881743">
                <a:tc grid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GHz del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Precio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1743">
                <a:tc rowSpan="3">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GHz del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Correlación de Pearson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0,594**</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1743">
                <a:tc v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GHz del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Sig. (bilateral)</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1743">
                <a:tc v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GHz del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1743">
                <a:tc rowSpan="3">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Precio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Correlación de Pearson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0,594**</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1743">
                <a:tc v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Precio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Sig. (bilateral)</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1743">
                <a:tc v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Precio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865</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377726" y="48475"/>
            <a:ext cx="11159944" cy="2924175"/>
          </a:xfrm>
          <a:prstGeom prst="rect">
            <a:avLst/>
          </a:prstGeom>
        </p:spPr>
        <p:txBody>
          <a:bodyPr anchor="t" rtlCol="false" tIns="0" lIns="0" bIns="0" rIns="0">
            <a:spAutoFit/>
          </a:bodyPr>
          <a:lstStyle/>
          <a:p>
            <a:pPr algn="l">
              <a:lnSpc>
                <a:spcPts val="10800"/>
              </a:lnSpc>
            </a:pPr>
            <a:r>
              <a:rPr lang="en-US" sz="9000">
                <a:solidFill>
                  <a:srgbClr val="191919"/>
                </a:solidFill>
                <a:latin typeface="Times New Roman MT"/>
                <a:ea typeface="Times New Roman MT"/>
                <a:cs typeface="Times New Roman MT"/>
                <a:sym typeface="Times New Roman MT"/>
              </a:rPr>
              <a:t>ANALISIS DE  </a:t>
            </a:r>
            <a:r>
              <a:rPr lang="en-US" sz="9000">
                <a:solidFill>
                  <a:srgbClr val="FFFFFF"/>
                </a:solidFill>
                <a:latin typeface="Times New Roman MT"/>
                <a:ea typeface="Times New Roman MT"/>
                <a:cs typeface="Times New Roman MT"/>
                <a:sym typeface="Times New Roman MT"/>
              </a:rPr>
              <a:t>CORRELACIÓN</a:t>
            </a:r>
          </a:p>
        </p:txBody>
      </p:sp>
      <p:sp>
        <p:nvSpPr>
          <p:cNvPr name="TextBox 5" id="5"/>
          <p:cNvSpPr txBox="true"/>
          <p:nvPr/>
        </p:nvSpPr>
        <p:spPr>
          <a:xfrm rot="0">
            <a:off x="146465" y="3027331"/>
            <a:ext cx="14190821" cy="1047750"/>
          </a:xfrm>
          <a:prstGeom prst="rect">
            <a:avLst/>
          </a:prstGeom>
        </p:spPr>
        <p:txBody>
          <a:bodyPr anchor="t" rtlCol="false" tIns="0" lIns="0" bIns="0" rIns="0">
            <a:spAutoFit/>
          </a:bodyPr>
          <a:lstStyle/>
          <a:p>
            <a:pPr algn="ctr">
              <a:lnSpc>
                <a:spcPts val="3900"/>
              </a:lnSpc>
              <a:spcBef>
                <a:spcPct val="0"/>
              </a:spcBef>
            </a:pPr>
            <a:r>
              <a:rPr lang="en-US" b="true" sz="3000">
                <a:solidFill>
                  <a:srgbClr val="000000"/>
                </a:solidFill>
                <a:latin typeface="Times New Roman MT Bold"/>
                <a:ea typeface="Times New Roman MT Bold"/>
                <a:cs typeface="Times New Roman MT Bold"/>
                <a:sym typeface="Times New Roman MT Bold"/>
              </a:rPr>
              <a:t>Correlación lineal de Pearson del Precio en USD y los Ghz del procesador de los teléfonos.</a:t>
            </a:r>
          </a:p>
          <a:p>
            <a:pPr algn="ctr">
              <a:lnSpc>
                <a:spcPts val="3900"/>
              </a:lnSpc>
              <a:spcBef>
                <a:spcPct val="0"/>
              </a:spcBef>
            </a:pPr>
          </a:p>
        </p:txBody>
      </p:sp>
      <p:sp>
        <p:nvSpPr>
          <p:cNvPr name="TextBox 6" id="6"/>
          <p:cNvSpPr txBox="true"/>
          <p:nvPr/>
        </p:nvSpPr>
        <p:spPr>
          <a:xfrm rot="0">
            <a:off x="11074259" y="3837174"/>
            <a:ext cx="6810560" cy="5877825"/>
          </a:xfrm>
          <a:prstGeom prst="rect">
            <a:avLst/>
          </a:prstGeom>
        </p:spPr>
        <p:txBody>
          <a:bodyPr anchor="t" rtlCol="false" tIns="0" lIns="0" bIns="0" rIns="0">
            <a:spAutoFit/>
          </a:bodyPr>
          <a:lstStyle/>
          <a:p>
            <a:pPr algn="ctr">
              <a:lnSpc>
                <a:spcPts val="3349"/>
              </a:lnSpc>
              <a:spcBef>
                <a:spcPct val="0"/>
              </a:spcBef>
            </a:pPr>
            <a:r>
              <a:rPr lang="en-US" sz="2576">
                <a:solidFill>
                  <a:srgbClr val="000000"/>
                </a:solidFill>
                <a:latin typeface="Times New Roman MT"/>
                <a:ea typeface="Times New Roman MT"/>
                <a:cs typeface="Times New Roman MT"/>
                <a:sym typeface="Times New Roman MT"/>
              </a:rPr>
              <a:t>La correlación es significativa en el nivel 0,01 (bilateral).</a:t>
            </a:r>
          </a:p>
          <a:p>
            <a:pPr algn="ctr">
              <a:lnSpc>
                <a:spcPts val="3349"/>
              </a:lnSpc>
              <a:spcBef>
                <a:spcPct val="0"/>
              </a:spcBef>
            </a:pPr>
          </a:p>
          <a:p>
            <a:pPr algn="ctr">
              <a:lnSpc>
                <a:spcPts val="3349"/>
              </a:lnSpc>
              <a:spcBef>
                <a:spcPct val="0"/>
              </a:spcBef>
            </a:pPr>
            <a:r>
              <a:rPr lang="en-US" sz="2576">
                <a:solidFill>
                  <a:srgbClr val="000000"/>
                </a:solidFill>
                <a:latin typeface="Times New Roman MT"/>
                <a:ea typeface="Times New Roman MT"/>
                <a:cs typeface="Times New Roman MT"/>
                <a:sym typeface="Times New Roman MT"/>
              </a:rPr>
              <a:t>La correlación anteriormente dada en tabla fue creada a partir de la hoja de datos de teléfono _act.</a:t>
            </a:r>
          </a:p>
          <a:p>
            <a:pPr algn="ctr">
              <a:lnSpc>
                <a:spcPts val="3349"/>
              </a:lnSpc>
              <a:spcBef>
                <a:spcPct val="0"/>
              </a:spcBef>
            </a:pPr>
          </a:p>
          <a:p>
            <a:pPr algn="ctr">
              <a:lnSpc>
                <a:spcPts val="3349"/>
              </a:lnSpc>
              <a:spcBef>
                <a:spcPct val="0"/>
              </a:spcBef>
            </a:pPr>
          </a:p>
          <a:p>
            <a:pPr algn="ctr">
              <a:lnSpc>
                <a:spcPts val="3349"/>
              </a:lnSpc>
              <a:spcBef>
                <a:spcPct val="0"/>
              </a:spcBef>
            </a:pPr>
            <a:r>
              <a:rPr lang="en-US" sz="2576">
                <a:solidFill>
                  <a:srgbClr val="000000"/>
                </a:solidFill>
                <a:latin typeface="Times New Roman MT"/>
                <a:ea typeface="Times New Roman MT"/>
                <a:cs typeface="Times New Roman MT"/>
                <a:sym typeface="Times New Roman MT"/>
              </a:rPr>
              <a:t>La estimación puntual observada “rxy” vale 0,594, esto nos demuestra que las variables precio en USD y los Ghz del procesador en los teléfonos tienen una relación positiva moderada, entonces si los Ghz del procesador son mayores el precio en USD también aumentará.</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flipH="true">
            <a:off x="6131440" y="-337010"/>
            <a:ext cx="0" cy="6241510"/>
          </a:xfrm>
          <a:prstGeom prst="line">
            <a:avLst/>
          </a:prstGeom>
          <a:ln cap="flat" w="104775">
            <a:solidFill>
              <a:srgbClr val="FA632A"/>
            </a:solidFill>
            <a:prstDash val="solid"/>
            <a:headEnd type="none" len="sm" w="sm"/>
            <a:tailEnd type="none" len="sm" w="sm"/>
          </a:ln>
        </p:spPr>
      </p:sp>
      <p:sp>
        <p:nvSpPr>
          <p:cNvPr name="AutoShape 3" id="3">
            <a:extLst>
              <a:ext uri="{C183D7F6-B498-43B3-948B-1728B52AA6E4}">
                <adec:decorative xmlns:adec="http://schemas.microsoft.com/office/drawing/2017/decorative" val="1"/>
              </a:ext>
            </a:extLst>
          </p:cNvPr>
          <p:cNvSpPr/>
          <p:nvPr/>
        </p:nvSpPr>
        <p:spPr>
          <a:xfrm flipV="true">
            <a:off x="6195920" y="5904500"/>
            <a:ext cx="12092080" cy="0"/>
          </a:xfrm>
          <a:prstGeom prst="line">
            <a:avLst/>
          </a:prstGeom>
          <a:ln cap="flat" w="104775">
            <a:solidFill>
              <a:srgbClr val="FA632A"/>
            </a:solidFill>
            <a:prstDash val="solid"/>
            <a:headEnd type="none" len="sm" w="sm"/>
            <a:tailEnd type="none" len="sm" w="sm"/>
          </a:ln>
        </p:spPr>
      </p:sp>
      <p:graphicFrame>
        <p:nvGraphicFramePr>
          <p:cNvPr name="Table 4" id="4"/>
          <p:cNvGraphicFramePr>
            <a:graphicFrameLocks noGrp="true"/>
          </p:cNvGraphicFramePr>
          <p:nvPr/>
        </p:nvGraphicFramePr>
        <p:xfrm>
          <a:off x="6275749" y="0"/>
          <a:ext cx="11472623" cy="5690235"/>
        </p:xfrm>
        <a:graphic>
          <a:graphicData uri="http://schemas.openxmlformats.org/drawingml/2006/table">
            <a:tbl>
              <a:tblPr/>
              <a:tblGrid>
                <a:gridCol w="1637047"/>
                <a:gridCol w="1637047"/>
                <a:gridCol w="1637047"/>
                <a:gridCol w="1637047"/>
                <a:gridCol w="2422391"/>
                <a:gridCol w="2502045"/>
              </a:tblGrid>
              <a:tr h="1005173">
                <a:tc gridSpan="5">
                  <a:txBody>
                    <a:bodyPr anchor="t" rtlCol="false"/>
                    <a:lstStyle/>
                    <a:p>
                      <a:pPr algn="l">
                        <a:lnSpc>
                          <a:spcPts val="3360"/>
                        </a:lnSpc>
                        <a:defRPr/>
                      </a:pPr>
                      <a:r>
                        <a:rPr lang="en-US" sz="2400">
                          <a:solidFill>
                            <a:srgbClr val="000000"/>
                          </a:solidFill>
                          <a:latin typeface="Times New Roman MT"/>
                          <a:ea typeface="Times New Roman MT"/>
                          <a:cs typeface="Times New Roman MT"/>
                          <a:sym typeface="Times New Roman MT"/>
                        </a:rPr>
                        <a:t>Resumen del modelo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hMerge="true">
                  <a:txBody>
                    <a:bodyPr anchor="t" rtlCol="false"/>
                    <a:lstStyle/>
                    <a:p>
                      <a:pPr algn="l">
                        <a:lnSpc>
                          <a:spcPts val="3360"/>
                        </a:lnSpc>
                        <a:defRPr/>
                      </a:pPr>
                      <a:r>
                        <a:rPr lang="en-US" sz="2400">
                          <a:solidFill>
                            <a:srgbClr val="000000"/>
                          </a:solidFill>
                          <a:latin typeface="Times New Roman MT"/>
                          <a:ea typeface="Times New Roman MT"/>
                          <a:cs typeface="Times New Roman MT"/>
                          <a:sym typeface="Times New Roman MT"/>
                        </a:rPr>
                        <a:t>Resumen del modelo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hMerge="true">
                  <a:txBody>
                    <a:bodyPr anchor="t" rtlCol="false"/>
                    <a:lstStyle/>
                    <a:p>
                      <a:pPr algn="l">
                        <a:lnSpc>
                          <a:spcPts val="3360"/>
                        </a:lnSpc>
                        <a:defRPr/>
                      </a:pPr>
                      <a:r>
                        <a:rPr lang="en-US" sz="2400">
                          <a:solidFill>
                            <a:srgbClr val="000000"/>
                          </a:solidFill>
                          <a:latin typeface="Times New Roman MT"/>
                          <a:ea typeface="Times New Roman MT"/>
                          <a:cs typeface="Times New Roman MT"/>
                          <a:sym typeface="Times New Roman MT"/>
                        </a:rPr>
                        <a:t>Resumen del modelo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hMerge="true">
                  <a:txBody>
                    <a:bodyPr anchor="t" rtlCol="false"/>
                    <a:lstStyle/>
                    <a:p>
                      <a:pPr algn="l">
                        <a:lnSpc>
                          <a:spcPts val="3360"/>
                        </a:lnSpc>
                        <a:defRPr/>
                      </a:pPr>
                      <a:r>
                        <a:rPr lang="en-US" sz="2400">
                          <a:solidFill>
                            <a:srgbClr val="000000"/>
                          </a:solidFill>
                          <a:latin typeface="Times New Roman MT"/>
                          <a:ea typeface="Times New Roman MT"/>
                          <a:cs typeface="Times New Roman MT"/>
                          <a:sym typeface="Times New Roman MT"/>
                        </a:rPr>
                        <a:t>Resumen del modelo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hMerge="true">
                  <a:txBody>
                    <a:bodyPr anchor="t" rtlCol="false"/>
                    <a:lstStyle/>
                    <a:p>
                      <a:pPr algn="l">
                        <a:lnSpc>
                          <a:spcPts val="3360"/>
                        </a:lnSpc>
                        <a:defRPr/>
                      </a:pPr>
                      <a:r>
                        <a:rPr lang="en-US" sz="2400">
                          <a:solidFill>
                            <a:srgbClr val="000000"/>
                          </a:solidFill>
                          <a:latin typeface="Times New Roman MT"/>
                          <a:ea typeface="Times New Roman MT"/>
                          <a:cs typeface="Times New Roman MT"/>
                          <a:sym typeface="Times New Roman MT"/>
                        </a:rPr>
                        <a:t>Resumen del modelo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4200"/>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941228">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Modelo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R cuadrado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R cuadrado ajustado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Error estándar de la estimación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Durbin-Watson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743834">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1</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,594a</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,352</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,351</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275,4282327</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MT"/>
                          <a:ea typeface="Times New Roman MT"/>
                          <a:cs typeface="Times New Roman MT"/>
                          <a:sym typeface="Times New Roman MT"/>
                        </a:rPr>
                        <a:t>1,918</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graphicFrame>
        <p:nvGraphicFramePr>
          <p:cNvPr name="Table 5" id="5"/>
          <p:cNvGraphicFramePr>
            <a:graphicFrameLocks noGrp="true"/>
          </p:cNvGraphicFramePr>
          <p:nvPr/>
        </p:nvGraphicFramePr>
        <p:xfrm>
          <a:off x="325113" y="2051638"/>
          <a:ext cx="5259012" cy="7705725"/>
        </p:xfrm>
        <a:graphic>
          <a:graphicData uri="http://schemas.openxmlformats.org/drawingml/2006/table">
            <a:tbl>
              <a:tblPr/>
              <a:tblGrid>
                <a:gridCol w="1327911"/>
                <a:gridCol w="1327911"/>
                <a:gridCol w="1327911"/>
                <a:gridCol w="1275280"/>
              </a:tblGrid>
              <a:tr h="1403645">
                <a:tc gridSpan="2">
                  <a:txBody>
                    <a:bodyPr anchor="t" rtlCol="false"/>
                    <a:lstStyle/>
                    <a:p>
                      <a:pPr algn="l">
                        <a:lnSpc>
                          <a:spcPts val="1260"/>
                        </a:lnSpc>
                        <a:defRPr/>
                      </a:pPr>
                      <a:r>
                        <a:rPr lang="en-US" sz="900">
                          <a:solidFill>
                            <a:srgbClr val="000000"/>
                          </a:solidFill>
                          <a:latin typeface="Times New Roman MT"/>
                          <a:ea typeface="Times New Roman MT"/>
                          <a:cs typeface="Times New Roman MT"/>
                          <a:sym typeface="Times New Roman MT"/>
                        </a:rPr>
                        <a:t>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1260"/>
                        </a:lnSpc>
                        <a:defRPr/>
                      </a:pPr>
                      <a:r>
                        <a:rPr lang="en-US" sz="900">
                          <a:solidFill>
                            <a:srgbClr val="000000"/>
                          </a:solidFill>
                          <a:latin typeface="Times New Roman MT"/>
                          <a:ea typeface="Times New Roman MT"/>
                          <a:cs typeface="Times New Roman MT"/>
                          <a:sym typeface="Times New Roman MT"/>
                        </a:rPr>
                        <a:t>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Precio$</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GHz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97048">
                <a:tc row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Correlación de Pearson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Precio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1,000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0,594</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403645">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Correlación de Pearson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GHz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0,594</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1,000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97048">
                <a:tc row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Sig. (unilateral)</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Precio$</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403645">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Sig. (unilateral)</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GHz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97048">
                <a:tc row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Precio $</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403645">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GHz Procesador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6" id="6"/>
          <p:cNvSpPr/>
          <p:nvPr/>
        </p:nvSpPr>
        <p:spPr>
          <a:xfrm flipH="false" flipV="false" rot="0">
            <a:off x="621396" y="1254709"/>
            <a:ext cx="1921466" cy="2149892"/>
          </a:xfrm>
          <a:custGeom>
            <a:avLst/>
            <a:gdLst/>
            <a:ahLst/>
            <a:cxnLst/>
            <a:rect r="r" b="b" t="t" l="l"/>
            <a:pathLst>
              <a:path h="2149892" w="1921466">
                <a:moveTo>
                  <a:pt x="0" y="0"/>
                </a:moveTo>
                <a:lnTo>
                  <a:pt x="1921466" y="0"/>
                </a:lnTo>
                <a:lnTo>
                  <a:pt x="1921466" y="2149892"/>
                </a:lnTo>
                <a:lnTo>
                  <a:pt x="0" y="2149892"/>
                </a:lnTo>
                <a:lnTo>
                  <a:pt x="0" y="0"/>
                </a:lnTo>
                <a:close/>
              </a:path>
            </a:pathLst>
          </a:custGeom>
          <a:blipFill>
            <a:blip r:embed="rId2"/>
            <a:stretch>
              <a:fillRect l="0" t="0" r="0" b="0"/>
            </a:stretch>
          </a:blipFill>
        </p:spPr>
      </p:sp>
      <p:sp>
        <p:nvSpPr>
          <p:cNvPr name="TextBox 7" id="7"/>
          <p:cNvSpPr txBox="true"/>
          <p:nvPr/>
        </p:nvSpPr>
        <p:spPr>
          <a:xfrm rot="0">
            <a:off x="6039346" y="6085623"/>
            <a:ext cx="5350193" cy="1124326"/>
          </a:xfrm>
          <a:prstGeom prst="rect">
            <a:avLst/>
          </a:prstGeom>
        </p:spPr>
        <p:txBody>
          <a:bodyPr anchor="t" rtlCol="false" tIns="0" lIns="0" bIns="0" rIns="0">
            <a:spAutoFit/>
          </a:bodyPr>
          <a:lstStyle/>
          <a:p>
            <a:pPr algn="ctr">
              <a:lnSpc>
                <a:spcPts val="2886"/>
              </a:lnSpc>
              <a:spcBef>
                <a:spcPct val="0"/>
              </a:spcBef>
            </a:pPr>
            <a:r>
              <a:rPr lang="en-US" b="true" sz="2220">
                <a:solidFill>
                  <a:srgbClr val="000000"/>
                </a:solidFill>
                <a:latin typeface="Times New Roman MT Bold"/>
                <a:ea typeface="Times New Roman MT Bold"/>
                <a:cs typeface="Times New Roman MT Bold"/>
                <a:sym typeface="Times New Roman MT Bold"/>
              </a:rPr>
              <a:t>a. Predictores: (Constante)</a:t>
            </a:r>
            <a:r>
              <a:rPr lang="en-US" sz="2220">
                <a:solidFill>
                  <a:srgbClr val="000000"/>
                </a:solidFill>
                <a:latin typeface="Times New Roman MT"/>
                <a:ea typeface="Times New Roman MT"/>
                <a:cs typeface="Times New Roman MT"/>
                <a:sym typeface="Times New Roman MT"/>
              </a:rPr>
              <a:t>, GHz_Procesador</a:t>
            </a:r>
          </a:p>
          <a:p>
            <a:pPr algn="just">
              <a:lnSpc>
                <a:spcPts val="2886"/>
              </a:lnSpc>
              <a:spcBef>
                <a:spcPct val="0"/>
              </a:spcBef>
            </a:pPr>
            <a:r>
              <a:rPr lang="en-US" b="true" sz="2220">
                <a:solidFill>
                  <a:srgbClr val="000000"/>
                </a:solidFill>
                <a:latin typeface="Times New Roman MT Bold"/>
                <a:ea typeface="Times New Roman MT Bold"/>
                <a:cs typeface="Times New Roman MT Bold"/>
                <a:sym typeface="Times New Roman MT Bold"/>
              </a:rPr>
              <a:t>b. Variable dependiente:</a:t>
            </a:r>
            <a:r>
              <a:rPr lang="en-US" sz="2220">
                <a:solidFill>
                  <a:srgbClr val="000000"/>
                </a:solidFill>
                <a:latin typeface="Times New Roman MT"/>
                <a:ea typeface="Times New Roman MT"/>
                <a:cs typeface="Times New Roman MT"/>
                <a:sym typeface="Times New Roman MT"/>
              </a:rPr>
              <a:t> Precio en USD</a:t>
            </a:r>
          </a:p>
          <a:p>
            <a:pPr algn="ctr">
              <a:lnSpc>
                <a:spcPts val="2886"/>
              </a:lnSpc>
              <a:spcBef>
                <a:spcPct val="0"/>
              </a:spcBef>
            </a:pPr>
          </a:p>
        </p:txBody>
      </p:sp>
      <p:sp>
        <p:nvSpPr>
          <p:cNvPr name="TextBox 8" id="8"/>
          <p:cNvSpPr txBox="true"/>
          <p:nvPr/>
        </p:nvSpPr>
        <p:spPr>
          <a:xfrm rot="0">
            <a:off x="6039346" y="7076317"/>
            <a:ext cx="10486109" cy="1124326"/>
          </a:xfrm>
          <a:prstGeom prst="rect">
            <a:avLst/>
          </a:prstGeom>
        </p:spPr>
        <p:txBody>
          <a:bodyPr anchor="t" rtlCol="false" tIns="0" lIns="0" bIns="0" rIns="0">
            <a:spAutoFit/>
          </a:bodyPr>
          <a:lstStyle/>
          <a:p>
            <a:pPr algn="just">
              <a:lnSpc>
                <a:spcPts val="2886"/>
              </a:lnSpc>
              <a:spcBef>
                <a:spcPct val="0"/>
              </a:spcBef>
            </a:pPr>
            <a:r>
              <a:rPr lang="en-US" b="true" sz="2220">
                <a:solidFill>
                  <a:srgbClr val="000000"/>
                </a:solidFill>
                <a:latin typeface="Times New Roman MT Bold"/>
                <a:ea typeface="Times New Roman MT Bold"/>
                <a:cs typeface="Times New Roman MT Bold"/>
                <a:sym typeface="Times New Roman MT Bold"/>
              </a:rPr>
              <a:t>R cuadrado: </a:t>
            </a:r>
            <a:r>
              <a:rPr lang="en-US" sz="2220">
                <a:solidFill>
                  <a:srgbClr val="000000"/>
                </a:solidFill>
                <a:latin typeface="Times New Roman MT"/>
                <a:ea typeface="Times New Roman MT"/>
                <a:cs typeface="Times New Roman MT"/>
                <a:sym typeface="Times New Roman MT"/>
              </a:rPr>
              <a:t>Aproximadamente el 35.2% de los cambios en la variable Precio USD se deben a cambios en la variable independiente Ghz del procesador, es un ajuste moderado hay otros factores que  también influyen en el Precio de los teléfonos. </a:t>
            </a:r>
          </a:p>
        </p:txBody>
      </p:sp>
      <p:sp>
        <p:nvSpPr>
          <p:cNvPr name="TextBox 9" id="9"/>
          <p:cNvSpPr txBox="true"/>
          <p:nvPr/>
        </p:nvSpPr>
        <p:spPr>
          <a:xfrm rot="0">
            <a:off x="6039346" y="8381619"/>
            <a:ext cx="8036838" cy="400431"/>
          </a:xfrm>
          <a:prstGeom prst="rect">
            <a:avLst/>
          </a:prstGeom>
        </p:spPr>
        <p:txBody>
          <a:bodyPr anchor="t" rtlCol="false" tIns="0" lIns="0" bIns="0" rIns="0">
            <a:spAutoFit/>
          </a:bodyPr>
          <a:lstStyle/>
          <a:p>
            <a:pPr algn="ctr">
              <a:lnSpc>
                <a:spcPts val="2885"/>
              </a:lnSpc>
              <a:spcBef>
                <a:spcPct val="0"/>
              </a:spcBef>
            </a:pPr>
            <a:r>
              <a:rPr lang="en-US" b="true" sz="2219">
                <a:solidFill>
                  <a:srgbClr val="000000"/>
                </a:solidFill>
                <a:latin typeface="Times New Roman MT Bold"/>
                <a:ea typeface="Times New Roman MT Bold"/>
                <a:cs typeface="Times New Roman MT Bold"/>
                <a:sym typeface="Times New Roman MT Bold"/>
              </a:rPr>
              <a:t>Correlación de Pearson</a:t>
            </a:r>
            <a:r>
              <a:rPr lang="en-US" sz="2219">
                <a:solidFill>
                  <a:srgbClr val="000000"/>
                </a:solidFill>
                <a:latin typeface="Times New Roman MT"/>
                <a:ea typeface="Times New Roman MT"/>
                <a:cs typeface="Times New Roman MT"/>
                <a:sym typeface="Times New Roman MT"/>
              </a:rPr>
              <a:t> : 0.594 correlación lineal positiva moderada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286647"/>
            <a:ext cx="17943763" cy="1952625"/>
          </a:xfrm>
          <a:prstGeom prst="rect">
            <a:avLst/>
          </a:prstGeom>
        </p:spPr>
        <p:txBody>
          <a:bodyPr anchor="t" rtlCol="false" tIns="0" lIns="0" bIns="0" rIns="0">
            <a:spAutoFit/>
          </a:bodyPr>
          <a:lstStyle/>
          <a:p>
            <a:pPr algn="l">
              <a:lnSpc>
                <a:spcPts val="7200"/>
              </a:lnSpc>
            </a:pPr>
            <a:r>
              <a:rPr lang="en-US" sz="6000">
                <a:solidFill>
                  <a:srgbClr val="14110F"/>
                </a:solidFill>
                <a:latin typeface="Times New Roman MT"/>
                <a:ea typeface="Times New Roman MT"/>
                <a:cs typeface="Times New Roman MT"/>
                <a:sym typeface="Times New Roman MT"/>
              </a:rPr>
              <a:t>ESTIMACION Y ANALISIS DEL COEFICIENTE DE DETERMINACIÓN (Tabla anova)</a:t>
            </a:r>
          </a:p>
        </p:txBody>
      </p:sp>
      <p:sp>
        <p:nvSpPr>
          <p:cNvPr name="AutoShape 3" id="3">
            <a:extLst>
              <a:ext uri="{C183D7F6-B498-43B3-948B-1728B52AA6E4}">
                <adec:decorative xmlns:adec="http://schemas.microsoft.com/office/drawing/2017/decorative" val="1"/>
              </a:ext>
            </a:extLst>
          </p:cNvPr>
          <p:cNvSpPr/>
          <p:nvPr/>
        </p:nvSpPr>
        <p:spPr>
          <a:xfrm>
            <a:off x="-205640" y="2239272"/>
            <a:ext cx="19067713" cy="0"/>
          </a:xfrm>
          <a:prstGeom prst="line">
            <a:avLst/>
          </a:prstGeom>
          <a:ln cap="flat" w="104775">
            <a:solidFill>
              <a:srgbClr val="FA632A"/>
            </a:solidFill>
            <a:prstDash val="solid"/>
            <a:headEnd type="none" len="sm" w="sm"/>
            <a:tailEnd type="none" len="sm" w="sm"/>
          </a:ln>
        </p:spPr>
      </p:sp>
      <p:grpSp>
        <p:nvGrpSpPr>
          <p:cNvPr name="Group 4" id="4"/>
          <p:cNvGrpSpPr/>
          <p:nvPr/>
        </p:nvGrpSpPr>
        <p:grpSpPr>
          <a:xfrm rot="0">
            <a:off x="663147" y="3083805"/>
            <a:ext cx="17088196" cy="5792335"/>
            <a:chOff x="0" y="0"/>
            <a:chExt cx="4500595" cy="1525553"/>
          </a:xfrm>
        </p:grpSpPr>
        <p:sp>
          <p:nvSpPr>
            <p:cNvPr name="Freeform 5" id="5"/>
            <p:cNvSpPr/>
            <p:nvPr/>
          </p:nvSpPr>
          <p:spPr>
            <a:xfrm flipH="false" flipV="false" rot="0">
              <a:off x="0" y="0"/>
              <a:ext cx="4500595" cy="1525553"/>
            </a:xfrm>
            <a:custGeom>
              <a:avLst/>
              <a:gdLst/>
              <a:ahLst/>
              <a:cxnLst/>
              <a:rect r="r" b="b" t="t" l="l"/>
              <a:pathLst>
                <a:path h="1525553" w="4500595">
                  <a:moveTo>
                    <a:pt x="0" y="0"/>
                  </a:moveTo>
                  <a:lnTo>
                    <a:pt x="4500595" y="0"/>
                  </a:lnTo>
                  <a:lnTo>
                    <a:pt x="4500595" y="1525553"/>
                  </a:lnTo>
                  <a:lnTo>
                    <a:pt x="0" y="1525553"/>
                  </a:lnTo>
                  <a:close/>
                </a:path>
              </a:pathLst>
            </a:custGeom>
            <a:ln w="114300" cap="sq">
              <a:solidFill>
                <a:srgbClr val="000000"/>
              </a:solidFill>
              <a:prstDash val="lgDash"/>
              <a:miter/>
            </a:ln>
          </p:spPr>
        </p:sp>
        <p:sp>
          <p:nvSpPr>
            <p:cNvPr name="TextBox 6" id="6"/>
            <p:cNvSpPr txBox="true"/>
            <p:nvPr/>
          </p:nvSpPr>
          <p:spPr>
            <a:xfrm>
              <a:off x="0" y="-66675"/>
              <a:ext cx="4500595" cy="1592228"/>
            </a:xfrm>
            <a:prstGeom prst="rect">
              <a:avLst/>
            </a:prstGeom>
          </p:spPr>
          <p:txBody>
            <a:bodyPr anchor="ctr" rtlCol="false" tIns="50800" lIns="50800" bIns="50800" rIns="50800"/>
            <a:lstStyle/>
            <a:p>
              <a:pPr algn="ctr">
                <a:lnSpc>
                  <a:spcPts val="2886"/>
                </a:lnSpc>
              </a:pPr>
            </a:p>
          </p:txBody>
        </p:sp>
      </p:grpSp>
      <p:sp>
        <p:nvSpPr>
          <p:cNvPr name="TextBox 7" id="7"/>
          <p:cNvSpPr txBox="true"/>
          <p:nvPr/>
        </p:nvSpPr>
        <p:spPr>
          <a:xfrm rot="0">
            <a:off x="599470" y="3635133"/>
            <a:ext cx="17196500" cy="4321272"/>
          </a:xfrm>
          <a:prstGeom prst="rect">
            <a:avLst/>
          </a:prstGeom>
        </p:spPr>
        <p:txBody>
          <a:bodyPr anchor="t" rtlCol="false" tIns="0" lIns="0" bIns="0" rIns="0">
            <a:spAutoFit/>
          </a:bodyPr>
          <a:lstStyle/>
          <a:p>
            <a:pPr algn="ctr">
              <a:lnSpc>
                <a:spcPts val="3737"/>
              </a:lnSpc>
              <a:spcBef>
                <a:spcPct val="0"/>
              </a:spcBef>
            </a:pPr>
            <a:r>
              <a:rPr lang="en-US" sz="2875">
                <a:solidFill>
                  <a:srgbClr val="14110F"/>
                </a:solidFill>
                <a:latin typeface="Times New Roman MT"/>
                <a:ea typeface="Times New Roman MT"/>
                <a:cs typeface="Times New Roman MT"/>
                <a:sym typeface="Times New Roman MT"/>
              </a:rPr>
              <a:t>Para estimar el R cuadrado la forma más simple es elevar al cuadrado el coeficiente de correlación lineal de pearson, ya mostrado anteriormente</a:t>
            </a:r>
          </a:p>
          <a:p>
            <a:pPr algn="ctr">
              <a:lnSpc>
                <a:spcPts val="3737"/>
              </a:lnSpc>
              <a:spcBef>
                <a:spcPct val="0"/>
              </a:spcBef>
            </a:pPr>
          </a:p>
          <a:p>
            <a:pPr algn="ctr">
              <a:lnSpc>
                <a:spcPts val="3737"/>
              </a:lnSpc>
              <a:spcBef>
                <a:spcPct val="0"/>
              </a:spcBef>
            </a:pPr>
          </a:p>
          <a:p>
            <a:pPr algn="ctr">
              <a:lnSpc>
                <a:spcPts val="3737"/>
              </a:lnSpc>
              <a:spcBef>
                <a:spcPct val="0"/>
              </a:spcBef>
            </a:pPr>
            <a:r>
              <a:rPr lang="en-US" b="true" sz="2875">
                <a:solidFill>
                  <a:srgbClr val="14110F"/>
                </a:solidFill>
                <a:latin typeface="Times New Roman MT Bold"/>
                <a:ea typeface="Times New Roman MT Bold"/>
                <a:cs typeface="Times New Roman MT Bold"/>
                <a:sym typeface="Times New Roman MT Bold"/>
              </a:rPr>
              <a:t>R cuadrado = 35,28%</a:t>
            </a:r>
          </a:p>
          <a:p>
            <a:pPr algn="ctr">
              <a:lnSpc>
                <a:spcPts val="3737"/>
              </a:lnSpc>
              <a:spcBef>
                <a:spcPct val="0"/>
              </a:spcBef>
            </a:pPr>
          </a:p>
          <a:p>
            <a:pPr algn="ctr">
              <a:lnSpc>
                <a:spcPts val="3737"/>
              </a:lnSpc>
              <a:spcBef>
                <a:spcPct val="0"/>
              </a:spcBef>
            </a:pPr>
            <a:r>
              <a:rPr lang="en-US" sz="2875">
                <a:solidFill>
                  <a:srgbClr val="14110F"/>
                </a:solidFill>
                <a:latin typeface="Times New Roman MT"/>
                <a:ea typeface="Times New Roman MT"/>
                <a:cs typeface="Times New Roman MT"/>
                <a:sym typeface="Times New Roman MT"/>
              </a:rPr>
              <a:t>Con esto se puede interpretar que con el valor R cuadrado el cual es 35,2 % de la  variabilidad del Precio es explicada por la variable Ghz del procesador. Por esto mismo hay un 64,8% de las veces que no pueden ser explicadas por el modelo planteado en este estudio son explicadas  por otras variables.</a:t>
            </a:r>
          </a:p>
        </p:txBody>
      </p:sp>
      <p:sp>
        <p:nvSpPr>
          <p:cNvPr name="Freeform 8" id="8"/>
          <p:cNvSpPr/>
          <p:nvPr/>
        </p:nvSpPr>
        <p:spPr>
          <a:xfrm flipH="false" flipV="false" rot="0">
            <a:off x="5136845" y="5199828"/>
            <a:ext cx="1692903" cy="1064990"/>
          </a:xfrm>
          <a:custGeom>
            <a:avLst/>
            <a:gdLst/>
            <a:ahLst/>
            <a:cxnLst/>
            <a:rect r="r" b="b" t="t" l="l"/>
            <a:pathLst>
              <a:path h="1064990" w="1692903">
                <a:moveTo>
                  <a:pt x="0" y="0"/>
                </a:moveTo>
                <a:lnTo>
                  <a:pt x="1692903" y="0"/>
                </a:lnTo>
                <a:lnTo>
                  <a:pt x="1692903" y="1064990"/>
                </a:lnTo>
                <a:lnTo>
                  <a:pt x="0" y="10649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806375" y="2155286"/>
          <a:ext cx="11331505" cy="7103014"/>
        </p:xfrm>
        <a:graphic>
          <a:graphicData uri="http://schemas.openxmlformats.org/drawingml/2006/table">
            <a:tbl>
              <a:tblPr/>
              <a:tblGrid>
                <a:gridCol w="1618786"/>
                <a:gridCol w="1618786"/>
                <a:gridCol w="1939153"/>
                <a:gridCol w="1766648"/>
                <a:gridCol w="2160945"/>
                <a:gridCol w="1125915"/>
                <a:gridCol w="1101272"/>
              </a:tblGrid>
              <a:tr h="1060519">
                <a:tc gridSpan="7">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8297">
                <a:tc grid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Modelo</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Modelo</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Suma de cuadrados</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a:t>
                      </a:r>
                      <a:r>
                        <a:rPr lang="en-US" sz="2000">
                          <a:solidFill>
                            <a:srgbClr val="000000"/>
                          </a:solidFill>
                          <a:latin typeface="Times New Roman MT"/>
                          <a:ea typeface="Times New Roman MT"/>
                          <a:cs typeface="Times New Roman MT"/>
                          <a:sym typeface="Times New Roman MT"/>
                        </a:rPr>
                        <a:t>rados de libertad</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Cuadrados Medios</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F</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Sig.</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2269220">
                <a:tc rowSpan="3">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Regresión</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32390283,108</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32390283,108</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426,970</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0,000b</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82489">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Residuo</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59550658,418</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785</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75860,711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82489">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Total</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91940941,526</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786</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260858" y="1543685"/>
            <a:ext cx="4173527" cy="560705"/>
          </a:xfrm>
          <a:prstGeom prst="rect">
            <a:avLst/>
          </a:prstGeom>
        </p:spPr>
        <p:txBody>
          <a:bodyPr anchor="t" rtlCol="false" tIns="0" lIns="0" bIns="0" rIns="0">
            <a:spAutoFit/>
          </a:bodyPr>
          <a:lstStyle/>
          <a:p>
            <a:pPr algn="l" marL="0" indent="0" lvl="0">
              <a:lnSpc>
                <a:spcPts val="4029"/>
              </a:lnSpc>
              <a:spcBef>
                <a:spcPct val="0"/>
              </a:spcBef>
            </a:pPr>
            <a:r>
              <a:rPr lang="en-US" b="true" sz="3099">
                <a:solidFill>
                  <a:srgbClr val="14110F"/>
                </a:solidFill>
                <a:latin typeface="Times New Roman MT Bold"/>
                <a:ea typeface="Times New Roman MT Bold"/>
                <a:cs typeface="Times New Roman MT Bold"/>
                <a:sym typeface="Times New Roman MT Bold"/>
              </a:rPr>
              <a:t>LINEALIDAD</a:t>
            </a:r>
          </a:p>
        </p:txBody>
      </p:sp>
      <p:grpSp>
        <p:nvGrpSpPr>
          <p:cNvPr name="Group 4" id="4"/>
          <p:cNvGrpSpPr/>
          <p:nvPr/>
        </p:nvGrpSpPr>
        <p:grpSpPr>
          <a:xfrm rot="0">
            <a:off x="2367422" y="140807"/>
            <a:ext cx="11770458" cy="1687041"/>
            <a:chOff x="0" y="0"/>
            <a:chExt cx="15693944" cy="2249388"/>
          </a:xfrm>
        </p:grpSpPr>
        <p:sp>
          <p:nvSpPr>
            <p:cNvPr name="TextBox 5" id="5"/>
            <p:cNvSpPr txBox="true"/>
            <p:nvPr/>
          </p:nvSpPr>
          <p:spPr>
            <a:xfrm rot="0">
              <a:off x="0" y="-152400"/>
              <a:ext cx="15693944" cy="1689100"/>
            </a:xfrm>
            <a:prstGeom prst="rect">
              <a:avLst/>
            </a:prstGeom>
          </p:spPr>
          <p:txBody>
            <a:bodyPr anchor="t" rtlCol="false" tIns="0" lIns="0" bIns="0" rIns="0">
              <a:spAutoFit/>
            </a:bodyPr>
            <a:lstStyle/>
            <a:p>
              <a:pPr algn="ctr">
                <a:lnSpc>
                  <a:spcPts val="9119"/>
                </a:lnSpc>
              </a:pPr>
              <a:r>
                <a:rPr lang="en-US" b="true" sz="7599">
                  <a:solidFill>
                    <a:srgbClr val="FA632A"/>
                  </a:solidFill>
                  <a:latin typeface="Times New Roman MT Bold"/>
                  <a:ea typeface="Times New Roman MT Bold"/>
                  <a:cs typeface="Times New Roman MT Bold"/>
                  <a:sym typeface="Times New Roman MT Bold"/>
                </a:rPr>
                <a:t>Supuestos</a:t>
              </a:r>
            </a:p>
          </p:txBody>
        </p:sp>
        <p:sp>
          <p:nvSpPr>
            <p:cNvPr name="TextBox 6" id="6"/>
            <p:cNvSpPr txBox="true"/>
            <p:nvPr/>
          </p:nvSpPr>
          <p:spPr>
            <a:xfrm rot="0">
              <a:off x="0" y="1669421"/>
              <a:ext cx="15693944" cy="579967"/>
            </a:xfrm>
            <a:prstGeom prst="rect">
              <a:avLst/>
            </a:prstGeom>
          </p:spPr>
          <p:txBody>
            <a:bodyPr anchor="t" rtlCol="false" tIns="0" lIns="0" bIns="0" rIns="0">
              <a:spAutoFit/>
            </a:bodyPr>
            <a:lstStyle/>
            <a:p>
              <a:pPr algn="ctr" marL="0" indent="0" lvl="0">
                <a:lnSpc>
                  <a:spcPts val="3249"/>
                </a:lnSpc>
                <a:spcBef>
                  <a:spcPct val="0"/>
                </a:spcBef>
              </a:pPr>
            </a:p>
          </p:txBody>
        </p:sp>
      </p:grpSp>
      <p:sp>
        <p:nvSpPr>
          <p:cNvPr name="AutoShape 7" id="7">
            <a:extLst>
              <a:ext uri="{C183D7F6-B498-43B3-948B-1728B52AA6E4}">
                <adec:decorative xmlns:adec="http://schemas.microsoft.com/office/drawing/2017/decorative" val="1"/>
              </a:ext>
            </a:extLst>
          </p:cNvPr>
          <p:cNvSpPr/>
          <p:nvPr/>
        </p:nvSpPr>
        <p:spPr>
          <a:xfrm>
            <a:off x="3176859" y="1081088"/>
            <a:ext cx="10961021" cy="0"/>
          </a:xfrm>
          <a:prstGeom prst="line">
            <a:avLst/>
          </a:prstGeom>
          <a:ln cap="flat" w="104775">
            <a:solidFill>
              <a:srgbClr val="000000"/>
            </a:solidFill>
            <a:prstDash val="solid"/>
            <a:headEnd type="none" len="sm" w="sm"/>
            <a:tailEnd type="none" len="sm" w="sm"/>
          </a:ln>
        </p:spPr>
      </p:sp>
      <p:sp>
        <p:nvSpPr>
          <p:cNvPr name="Freeform 8" id="8"/>
          <p:cNvSpPr/>
          <p:nvPr/>
        </p:nvSpPr>
        <p:spPr>
          <a:xfrm flipH="false" flipV="false" rot="-10800000">
            <a:off x="10750862" y="1638935"/>
            <a:ext cx="4112524" cy="4114800"/>
          </a:xfrm>
          <a:custGeom>
            <a:avLst/>
            <a:gdLst/>
            <a:ahLst/>
            <a:cxnLst/>
            <a:rect r="r" b="b" t="t" l="l"/>
            <a:pathLst>
              <a:path h="4114800" w="4112524">
                <a:moveTo>
                  <a:pt x="0" y="0"/>
                </a:moveTo>
                <a:lnTo>
                  <a:pt x="4112524" y="0"/>
                </a:lnTo>
                <a:lnTo>
                  <a:pt x="411252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90838" y="1483273"/>
            <a:ext cx="637862" cy="621118"/>
          </a:xfrm>
          <a:custGeom>
            <a:avLst/>
            <a:gdLst/>
            <a:ahLst/>
            <a:cxnLst/>
            <a:rect r="r" b="b" t="t" l="l"/>
            <a:pathLst>
              <a:path h="621118" w="637862">
                <a:moveTo>
                  <a:pt x="0" y="0"/>
                </a:moveTo>
                <a:lnTo>
                  <a:pt x="637862" y="0"/>
                </a:lnTo>
                <a:lnTo>
                  <a:pt x="637862" y="621118"/>
                </a:lnTo>
                <a:lnTo>
                  <a:pt x="0" y="6211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287770" y="9334500"/>
            <a:ext cx="12368716" cy="767637"/>
          </a:xfrm>
          <a:prstGeom prst="rect">
            <a:avLst/>
          </a:prstGeom>
        </p:spPr>
        <p:txBody>
          <a:bodyPr anchor="t" rtlCol="false" tIns="0" lIns="0" bIns="0" rIns="0">
            <a:spAutoFit/>
          </a:bodyPr>
          <a:lstStyle/>
          <a:p>
            <a:pPr algn="ctr">
              <a:lnSpc>
                <a:spcPts val="2870"/>
              </a:lnSpc>
              <a:spcBef>
                <a:spcPct val="0"/>
              </a:spcBef>
            </a:pPr>
            <a:r>
              <a:rPr lang="en-US" sz="2207">
                <a:solidFill>
                  <a:srgbClr val="000000"/>
                </a:solidFill>
                <a:latin typeface="Times New Roman MT"/>
                <a:ea typeface="Times New Roman MT"/>
                <a:cs typeface="Times New Roman MT"/>
                <a:sym typeface="Times New Roman MT"/>
              </a:rPr>
              <a:t>La tabla anterior  nos muestra los valores de la suma de cuadrados y de la suma de los cuadrados medios para el modelo de regresión y de los residuos.</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301162" y="35955"/>
            <a:ext cx="17986838" cy="1552575"/>
          </a:xfrm>
          <a:prstGeom prst="rect">
            <a:avLst/>
          </a:prstGeom>
        </p:spPr>
        <p:txBody>
          <a:bodyPr anchor="t" rtlCol="false" tIns="0" lIns="0" bIns="0" rIns="0">
            <a:spAutoFit/>
          </a:bodyPr>
          <a:lstStyle/>
          <a:p>
            <a:pPr algn="l">
              <a:lnSpc>
                <a:spcPts val="10800"/>
              </a:lnSpc>
            </a:pPr>
            <a:r>
              <a:rPr lang="en-US" sz="9000">
                <a:solidFill>
                  <a:srgbClr val="FFFFFF"/>
                </a:solidFill>
                <a:latin typeface="Times New Roman MT"/>
                <a:ea typeface="Times New Roman MT"/>
                <a:cs typeface="Times New Roman MT"/>
                <a:sym typeface="Times New Roman MT"/>
              </a:rPr>
              <a:t>Independencia d</a:t>
            </a:r>
            <a:r>
              <a:rPr lang="en-US" sz="9000">
                <a:solidFill>
                  <a:srgbClr val="FA632A"/>
                </a:solidFill>
                <a:latin typeface="Times New Roman MT"/>
                <a:ea typeface="Times New Roman MT"/>
                <a:cs typeface="Times New Roman MT"/>
                <a:sym typeface="Times New Roman MT"/>
              </a:rPr>
              <a:t>e los </a:t>
            </a:r>
            <a:r>
              <a:rPr lang="en-US" sz="9000">
                <a:solidFill>
                  <a:srgbClr val="FFFFFF"/>
                </a:solidFill>
                <a:latin typeface="Times New Roman MT"/>
                <a:ea typeface="Times New Roman MT"/>
                <a:cs typeface="Times New Roman MT"/>
                <a:sym typeface="Times New Roman MT"/>
              </a:rPr>
              <a:t> Residuos</a:t>
            </a:r>
          </a:p>
        </p:txBody>
      </p:sp>
      <p:sp>
        <p:nvSpPr>
          <p:cNvPr name="AutoShape 3" id="3"/>
          <p:cNvSpPr/>
          <p:nvPr/>
        </p:nvSpPr>
        <p:spPr>
          <a:xfrm>
            <a:off x="-153424" y="1434805"/>
            <a:ext cx="18441424" cy="52388"/>
          </a:xfrm>
          <a:prstGeom prst="line">
            <a:avLst/>
          </a:prstGeom>
          <a:ln cap="flat" w="104775">
            <a:solidFill>
              <a:srgbClr val="FA632A"/>
            </a:solidFill>
            <a:prstDash val="solid"/>
            <a:headEnd type="none" len="sm" w="sm"/>
            <a:tailEnd type="none" len="sm" w="sm"/>
          </a:ln>
        </p:spPr>
      </p:sp>
      <p:sp>
        <p:nvSpPr>
          <p:cNvPr name="TextBox 4" id="4"/>
          <p:cNvSpPr txBox="true"/>
          <p:nvPr/>
        </p:nvSpPr>
        <p:spPr>
          <a:xfrm rot="0">
            <a:off x="571785" y="2258526"/>
            <a:ext cx="4052542" cy="7486650"/>
          </a:xfrm>
          <a:prstGeom prst="rect">
            <a:avLst/>
          </a:prstGeom>
        </p:spPr>
        <p:txBody>
          <a:bodyPr anchor="t" rtlCol="false" tIns="0" lIns="0" bIns="0" rIns="0">
            <a:spAutoFit/>
          </a:bodyPr>
          <a:lstStyle/>
          <a:p>
            <a:pPr algn="just">
              <a:lnSpc>
                <a:spcPts val="3900"/>
              </a:lnSpc>
              <a:spcBef>
                <a:spcPct val="0"/>
              </a:spcBef>
            </a:pPr>
            <a:r>
              <a:rPr lang="en-US" sz="3000">
                <a:solidFill>
                  <a:srgbClr val="FFFFFF"/>
                </a:solidFill>
                <a:latin typeface="Times New Roman MT"/>
                <a:ea typeface="Times New Roman MT"/>
                <a:cs typeface="Times New Roman MT"/>
                <a:sym typeface="Times New Roman MT"/>
              </a:rPr>
              <a:t>Es tomado en cuenta el campo anteriormente mencionado en una tabla llamado Durbin-Watson</a:t>
            </a:r>
          </a:p>
          <a:p>
            <a:pPr algn="just">
              <a:lnSpc>
                <a:spcPts val="3900"/>
              </a:lnSpc>
              <a:spcBef>
                <a:spcPct val="0"/>
              </a:spcBef>
            </a:pPr>
            <a:r>
              <a:rPr lang="en-US" sz="3000">
                <a:solidFill>
                  <a:srgbClr val="FFFFFF"/>
                </a:solidFill>
                <a:latin typeface="Times New Roman MT"/>
                <a:ea typeface="Times New Roman MT"/>
                <a:cs typeface="Times New Roman MT"/>
                <a:sym typeface="Times New Roman MT"/>
              </a:rPr>
              <a:t>el cual maneja un test llamado igual y nos demuestra si existe independencia en los residuos entre sí por lo que nuestro test arrojó el valor 1,918 el cual se obtiene a través de inferencia.</a:t>
            </a:r>
          </a:p>
          <a:p>
            <a:pPr algn="just">
              <a:lnSpc>
                <a:spcPts val="3900"/>
              </a:lnSpc>
              <a:spcBef>
                <a:spcPct val="0"/>
              </a:spcBef>
            </a:pPr>
          </a:p>
        </p:txBody>
      </p:sp>
      <p:sp>
        <p:nvSpPr>
          <p:cNvPr name="TextBox 5" id="5"/>
          <p:cNvSpPr txBox="true"/>
          <p:nvPr/>
        </p:nvSpPr>
        <p:spPr>
          <a:xfrm rot="0">
            <a:off x="6828612" y="2296626"/>
            <a:ext cx="11082473" cy="6508924"/>
          </a:xfrm>
          <a:prstGeom prst="rect">
            <a:avLst/>
          </a:prstGeom>
        </p:spPr>
        <p:txBody>
          <a:bodyPr anchor="t" rtlCol="false" tIns="0" lIns="0" bIns="0" rIns="0">
            <a:spAutoFit/>
          </a:bodyPr>
          <a:lstStyle/>
          <a:p>
            <a:pPr algn="ctr">
              <a:lnSpc>
                <a:spcPts val="2582"/>
              </a:lnSpc>
              <a:spcBef>
                <a:spcPct val="0"/>
              </a:spcBef>
            </a:pPr>
            <a:r>
              <a:rPr lang="en-US" b="true" sz="1986">
                <a:solidFill>
                  <a:srgbClr val="FFFFFF"/>
                </a:solidFill>
                <a:latin typeface="Times New Roman MT Bold"/>
                <a:ea typeface="Times New Roman MT Bold"/>
                <a:cs typeface="Times New Roman MT Bold"/>
                <a:sym typeface="Times New Roman MT Bold"/>
              </a:rPr>
              <a:t>X: Residuos estandarizados</a:t>
            </a:r>
          </a:p>
          <a:p>
            <a:pPr algn="ctr">
              <a:lnSpc>
                <a:spcPts val="2582"/>
              </a:lnSpc>
              <a:spcBef>
                <a:spcPct val="0"/>
              </a:spcBef>
            </a:pP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Ho: No existe autocorrelación entre los residuos (independientes) </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H1:  Existe autocorrelación entre los residuos</a:t>
            </a:r>
          </a:p>
          <a:p>
            <a:pPr algn="ctr">
              <a:lnSpc>
                <a:spcPts val="2582"/>
              </a:lnSpc>
              <a:spcBef>
                <a:spcPct val="0"/>
              </a:spcBef>
            </a:pPr>
          </a:p>
          <a:p>
            <a:pPr algn="ctr">
              <a:lnSpc>
                <a:spcPts val="2582"/>
              </a:lnSpc>
              <a:spcBef>
                <a:spcPct val="0"/>
              </a:spcBef>
            </a:pPr>
            <a:r>
              <a:rPr lang="en-US" b="true" sz="1986">
                <a:solidFill>
                  <a:srgbClr val="FFFFFF"/>
                </a:solidFill>
                <a:latin typeface="Times New Roman MT Bold"/>
                <a:ea typeface="Times New Roman MT Bold"/>
                <a:cs typeface="Times New Roman MT Bold"/>
                <a:sym typeface="Times New Roman MT Bold"/>
              </a:rPr>
              <a:t>Nivel de significación:</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α = 0.05</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Valor de D:</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D = 1.918            0 ≤ D ≤ 4     </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Regla de decisión:</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 Se rechaza Ho sii:</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Si D es cercano a dos, no se tendrán suficientes elementos estadísticos para rechazar Ho.</a:t>
            </a: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D ≠ 2  </a:t>
            </a:r>
          </a:p>
          <a:p>
            <a:pPr algn="ctr">
              <a:lnSpc>
                <a:spcPts val="2582"/>
              </a:lnSpc>
              <a:spcBef>
                <a:spcPct val="0"/>
              </a:spcBef>
            </a:pPr>
          </a:p>
          <a:p>
            <a:pPr algn="ctr">
              <a:lnSpc>
                <a:spcPts val="2582"/>
              </a:lnSpc>
              <a:spcBef>
                <a:spcPct val="0"/>
              </a:spcBef>
            </a:pPr>
            <a:r>
              <a:rPr lang="en-US" b="true" sz="1986">
                <a:solidFill>
                  <a:srgbClr val="FFFFFF"/>
                </a:solidFill>
                <a:latin typeface="Times New Roman MT Bold"/>
                <a:ea typeface="Times New Roman MT Bold"/>
                <a:cs typeface="Times New Roman MT Bold"/>
                <a:sym typeface="Times New Roman MT Bold"/>
              </a:rPr>
              <a:t>Decisión:</a:t>
            </a:r>
          </a:p>
          <a:p>
            <a:pPr algn="ctr">
              <a:lnSpc>
                <a:spcPts val="2582"/>
              </a:lnSpc>
              <a:spcBef>
                <a:spcPct val="0"/>
              </a:spcBef>
            </a:pPr>
          </a:p>
          <a:p>
            <a:pPr algn="ctr">
              <a:lnSpc>
                <a:spcPts val="2582"/>
              </a:lnSpc>
              <a:spcBef>
                <a:spcPct val="0"/>
              </a:spcBef>
            </a:pPr>
            <a:r>
              <a:rPr lang="en-US" sz="1986">
                <a:solidFill>
                  <a:srgbClr val="FFFFFF"/>
                </a:solidFill>
                <a:latin typeface="Times New Roman MT"/>
                <a:ea typeface="Times New Roman MT"/>
                <a:cs typeface="Times New Roman MT"/>
                <a:sym typeface="Times New Roman MT"/>
              </a:rPr>
              <a:t>Por lo que entonces ya que 1.918 es un  valor cercano a  2 no se tienen elementos suficientes para rechazar que no existe autocorrelación entre los residuos por tanto se concluye que los residuos son auto independientes.</a:t>
            </a:r>
          </a:p>
          <a:p>
            <a:pPr algn="ctr">
              <a:lnSpc>
                <a:spcPts val="2582"/>
              </a:lnSpc>
              <a:spcBef>
                <a:spcPct val="0"/>
              </a:spcBef>
            </a:pPr>
          </a:p>
        </p:txBody>
      </p:sp>
      <p:sp>
        <p:nvSpPr>
          <p:cNvPr name="AutoShape 6" id="6"/>
          <p:cNvSpPr/>
          <p:nvPr/>
        </p:nvSpPr>
        <p:spPr>
          <a:xfrm flipV="true">
            <a:off x="5726469" y="1487193"/>
            <a:ext cx="0" cy="18441498"/>
          </a:xfrm>
          <a:prstGeom prst="line">
            <a:avLst/>
          </a:prstGeom>
          <a:ln cap="flat" w="104775">
            <a:solidFill>
              <a:srgbClr val="FA632A"/>
            </a:solidFill>
            <a:prstDash val="lgDash"/>
            <a:headEnd type="none" len="sm" w="sm"/>
            <a:tailEnd type="none" len="sm" w="sm"/>
          </a:ln>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45793" y="2364673"/>
          <a:ext cx="7923099" cy="4119562"/>
        </p:xfrm>
        <a:graphic>
          <a:graphicData uri="http://schemas.openxmlformats.org/drawingml/2006/table">
            <a:tbl>
              <a:tblPr/>
              <a:tblGrid>
                <a:gridCol w="1654184"/>
                <a:gridCol w="1044819"/>
                <a:gridCol w="1044819"/>
                <a:gridCol w="1044819"/>
                <a:gridCol w="1044819"/>
                <a:gridCol w="1044819"/>
                <a:gridCol w="1044819"/>
              </a:tblGrid>
              <a:tr h="1028694">
                <a:tc gridSpan="7">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Pruebas de normalidad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Pruebas de normalidad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Pruebas de normalidad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Pruebas de normalidad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Pruebas de normalidad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Pruebas de normalidad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Pruebas de normalidad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28694">
                <a:tc rowSpan="2">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gridSpan="3">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Kolmogorov-Smirnova</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Kolmogorov-Smirnova</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Kolmogorov-Smirnova</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gridSpan="3">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Shapiro-Wilk</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Shapiro-Wilk</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Shapiro-Wilk</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33479">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Estadístico</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gl</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Sig.</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Estadístico</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gl</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Sig.</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28694">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Precio_USD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.216</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865</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.596</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865</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10316266" y="-22368"/>
            <a:ext cx="7971734" cy="4593089"/>
          </a:xfrm>
          <a:custGeom>
            <a:avLst/>
            <a:gdLst/>
            <a:ahLst/>
            <a:cxnLst/>
            <a:rect r="r" b="b" t="t" l="l"/>
            <a:pathLst>
              <a:path h="4593089" w="7971734">
                <a:moveTo>
                  <a:pt x="0" y="0"/>
                </a:moveTo>
                <a:lnTo>
                  <a:pt x="7971734" y="0"/>
                </a:lnTo>
                <a:lnTo>
                  <a:pt x="7971734" y="4593089"/>
                </a:lnTo>
                <a:lnTo>
                  <a:pt x="0" y="4593089"/>
                </a:lnTo>
                <a:lnTo>
                  <a:pt x="0" y="0"/>
                </a:lnTo>
                <a:close/>
              </a:path>
            </a:pathLst>
          </a:custGeom>
          <a:blipFill>
            <a:blip r:embed="rId2"/>
            <a:stretch>
              <a:fillRect l="0" t="0" r="0" b="0"/>
            </a:stretch>
          </a:blipFill>
        </p:spPr>
      </p:sp>
      <p:sp>
        <p:nvSpPr>
          <p:cNvPr name="Freeform 4" id="4"/>
          <p:cNvSpPr/>
          <p:nvPr/>
        </p:nvSpPr>
        <p:spPr>
          <a:xfrm flipH="false" flipV="false" rot="0">
            <a:off x="10316266" y="4424455"/>
            <a:ext cx="8260219" cy="5685380"/>
          </a:xfrm>
          <a:custGeom>
            <a:avLst/>
            <a:gdLst/>
            <a:ahLst/>
            <a:cxnLst/>
            <a:rect r="r" b="b" t="t" l="l"/>
            <a:pathLst>
              <a:path h="5685380" w="8260219">
                <a:moveTo>
                  <a:pt x="0" y="0"/>
                </a:moveTo>
                <a:lnTo>
                  <a:pt x="8260219" y="0"/>
                </a:lnTo>
                <a:lnTo>
                  <a:pt x="8260219" y="5685380"/>
                </a:lnTo>
                <a:lnTo>
                  <a:pt x="0" y="5685380"/>
                </a:lnTo>
                <a:lnTo>
                  <a:pt x="0" y="0"/>
                </a:lnTo>
                <a:close/>
              </a:path>
            </a:pathLst>
          </a:custGeom>
          <a:blipFill>
            <a:blip r:embed="rId3"/>
            <a:stretch>
              <a:fillRect l="-16658" t="0" r="0" b="0"/>
            </a:stretch>
          </a:blipFill>
        </p:spPr>
      </p:sp>
      <p:sp>
        <p:nvSpPr>
          <p:cNvPr name="Freeform 5" id="5"/>
          <p:cNvSpPr/>
          <p:nvPr/>
        </p:nvSpPr>
        <p:spPr>
          <a:xfrm flipH="false" flipV="false" rot="0">
            <a:off x="4021153" y="-281828"/>
            <a:ext cx="3005340" cy="2254005"/>
          </a:xfrm>
          <a:custGeom>
            <a:avLst/>
            <a:gdLst/>
            <a:ahLst/>
            <a:cxnLst/>
            <a:rect r="r" b="b" t="t" l="l"/>
            <a:pathLst>
              <a:path h="2254005" w="3005340">
                <a:moveTo>
                  <a:pt x="0" y="0"/>
                </a:moveTo>
                <a:lnTo>
                  <a:pt x="3005340" y="0"/>
                </a:lnTo>
                <a:lnTo>
                  <a:pt x="3005340" y="2254005"/>
                </a:lnTo>
                <a:lnTo>
                  <a:pt x="0" y="2254005"/>
                </a:lnTo>
                <a:lnTo>
                  <a:pt x="0" y="0"/>
                </a:lnTo>
                <a:close/>
              </a:path>
            </a:pathLst>
          </a:custGeom>
          <a:blipFill>
            <a:blip r:embed="rId4"/>
            <a:stretch>
              <a:fillRect l="0" t="0" r="0" b="0"/>
            </a:stretch>
          </a:blipFill>
        </p:spPr>
      </p:sp>
      <p:sp>
        <p:nvSpPr>
          <p:cNvPr name="TextBox 6" id="6"/>
          <p:cNvSpPr txBox="true"/>
          <p:nvPr/>
        </p:nvSpPr>
        <p:spPr>
          <a:xfrm rot="0">
            <a:off x="512636" y="264149"/>
            <a:ext cx="5561263" cy="1038225"/>
          </a:xfrm>
          <a:prstGeom prst="rect">
            <a:avLst/>
          </a:prstGeom>
        </p:spPr>
        <p:txBody>
          <a:bodyPr anchor="t" rtlCol="false" tIns="0" lIns="0" bIns="0" rIns="0">
            <a:spAutoFit/>
          </a:bodyPr>
          <a:lstStyle/>
          <a:p>
            <a:pPr algn="l">
              <a:lnSpc>
                <a:spcPts val="7200"/>
              </a:lnSpc>
            </a:pPr>
            <a:r>
              <a:rPr lang="en-US" sz="6000" b="true">
                <a:solidFill>
                  <a:srgbClr val="14110F"/>
                </a:solidFill>
                <a:latin typeface="Times New Roman MT Bold"/>
                <a:ea typeface="Times New Roman MT Bold"/>
                <a:cs typeface="Times New Roman MT Bold"/>
                <a:sym typeface="Times New Roman MT Bold"/>
              </a:rPr>
              <a:t>Normalidad</a:t>
            </a:r>
          </a:p>
        </p:txBody>
      </p:sp>
      <p:sp>
        <p:nvSpPr>
          <p:cNvPr name="TextBox 7" id="7"/>
          <p:cNvSpPr txBox="true"/>
          <p:nvPr/>
        </p:nvSpPr>
        <p:spPr>
          <a:xfrm rot="0">
            <a:off x="-124127" y="1603502"/>
            <a:ext cx="9064374" cy="670675"/>
          </a:xfrm>
          <a:prstGeom prst="rect">
            <a:avLst/>
          </a:prstGeom>
        </p:spPr>
        <p:txBody>
          <a:bodyPr anchor="t" rtlCol="false" tIns="0" lIns="0" bIns="0" rIns="0">
            <a:spAutoFit/>
          </a:bodyPr>
          <a:lstStyle/>
          <a:p>
            <a:pPr algn="ctr">
              <a:lnSpc>
                <a:spcPts val="2523"/>
              </a:lnSpc>
              <a:spcBef>
                <a:spcPct val="0"/>
              </a:spcBef>
            </a:pPr>
            <a:r>
              <a:rPr lang="en-US" sz="1940">
                <a:solidFill>
                  <a:srgbClr val="14110F"/>
                </a:solidFill>
                <a:latin typeface="Times New Roman MT"/>
                <a:ea typeface="Times New Roman MT"/>
                <a:cs typeface="Times New Roman MT"/>
                <a:sym typeface="Times New Roman MT"/>
              </a:rPr>
              <a:t>Se muestra a continuación la tabla para realizar la prueba de Kolmogorov Smirnov para verificar si hay indicios de que se cumpla la normalidad de los residuos.</a:t>
            </a:r>
          </a:p>
        </p:txBody>
      </p:sp>
      <p:sp>
        <p:nvSpPr>
          <p:cNvPr name="TextBox 8" id="8"/>
          <p:cNvSpPr txBox="true"/>
          <p:nvPr/>
        </p:nvSpPr>
        <p:spPr>
          <a:xfrm rot="0">
            <a:off x="184520" y="6565198"/>
            <a:ext cx="3611166" cy="303063"/>
          </a:xfrm>
          <a:prstGeom prst="rect">
            <a:avLst/>
          </a:prstGeom>
        </p:spPr>
        <p:txBody>
          <a:bodyPr anchor="t" rtlCol="false" tIns="0" lIns="0" bIns="0" rIns="0">
            <a:spAutoFit/>
          </a:bodyPr>
          <a:lstStyle/>
          <a:p>
            <a:pPr algn="ctr">
              <a:lnSpc>
                <a:spcPts val="2127"/>
              </a:lnSpc>
              <a:spcBef>
                <a:spcPct val="0"/>
              </a:spcBef>
            </a:pPr>
            <a:r>
              <a:rPr lang="en-US" b="true" sz="1636">
                <a:solidFill>
                  <a:srgbClr val="14110F"/>
                </a:solidFill>
                <a:latin typeface="Times New Roman MT Bold"/>
                <a:ea typeface="Times New Roman MT Bold"/>
                <a:cs typeface="Times New Roman MT Bold"/>
                <a:sym typeface="Times New Roman MT Bold"/>
              </a:rPr>
              <a:t>a. Corrección de significación de Lilliefors</a:t>
            </a:r>
          </a:p>
        </p:txBody>
      </p:sp>
      <p:sp>
        <p:nvSpPr>
          <p:cNvPr name="TextBox 9" id="9"/>
          <p:cNvSpPr txBox="true"/>
          <p:nvPr/>
        </p:nvSpPr>
        <p:spPr>
          <a:xfrm rot="0">
            <a:off x="0" y="6931160"/>
            <a:ext cx="9066076" cy="3355840"/>
          </a:xfrm>
          <a:prstGeom prst="rect">
            <a:avLst/>
          </a:prstGeom>
        </p:spPr>
        <p:txBody>
          <a:bodyPr anchor="t" rtlCol="false" tIns="0" lIns="0" bIns="0" rIns="0">
            <a:spAutoFit/>
          </a:bodyPr>
          <a:lstStyle/>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X: Residuos estandarizados </a:t>
            </a: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H0: residuos se distribuyen como una normal</a:t>
            </a: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H1: residuos no se distribuyen como una normal</a:t>
            </a: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α = 0,05 </a:t>
            </a: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Debido a que n&gt; 30 se va a utilizar la prueba Kolmogorov-Smirnov </a:t>
            </a: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P-valor = 0,000</a:t>
            </a: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 Se rechaza Ho sii: </a:t>
            </a: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P-valor &lt; α</a:t>
            </a:r>
          </a:p>
          <a:p>
            <a:pPr algn="ctr">
              <a:lnSpc>
                <a:spcPts val="2178"/>
              </a:lnSpc>
              <a:spcBef>
                <a:spcPct val="0"/>
              </a:spcBef>
            </a:pPr>
          </a:p>
          <a:p>
            <a:pPr algn="ctr">
              <a:lnSpc>
                <a:spcPts val="2178"/>
              </a:lnSpc>
              <a:spcBef>
                <a:spcPct val="0"/>
              </a:spcBef>
            </a:pPr>
            <a:r>
              <a:rPr lang="en-US" sz="1675">
                <a:solidFill>
                  <a:srgbClr val="14110F"/>
                </a:solidFill>
                <a:latin typeface="Times New Roman MT"/>
                <a:ea typeface="Times New Roman MT"/>
                <a:cs typeface="Times New Roman MT"/>
                <a:sym typeface="Times New Roman MT"/>
              </a:rPr>
              <a:t>Ya que el P-valor es es menor a el nivel de significación se llega a la conclusión que los residuos para el modelo planteado no se ajustan a una distribución normal.</a:t>
            </a:r>
          </a:p>
          <a:p>
            <a:pPr algn="ctr">
              <a:lnSpc>
                <a:spcPts val="2178"/>
              </a:lnSpc>
              <a:spcBef>
                <a:spcPct val="0"/>
              </a:spcBef>
            </a:pPr>
          </a:p>
        </p:txBody>
      </p:sp>
      <p:sp>
        <p:nvSpPr>
          <p:cNvPr name="AutoShape 10" id="10"/>
          <p:cNvSpPr/>
          <p:nvPr/>
        </p:nvSpPr>
        <p:spPr>
          <a:xfrm>
            <a:off x="-418342" y="1483264"/>
            <a:ext cx="8065175" cy="0"/>
          </a:xfrm>
          <a:prstGeom prst="line">
            <a:avLst/>
          </a:prstGeom>
          <a:ln cap="flat" w="38100">
            <a:solidFill>
              <a:srgbClr val="FA632A"/>
            </a:solidFill>
            <a:prstDash val="solid"/>
            <a:headEnd type="none" len="sm" w="sm"/>
            <a:tailEnd type="none" len="sm" w="sm"/>
          </a:ln>
        </p:spPr>
      </p:sp>
      <p:sp>
        <p:nvSpPr>
          <p:cNvPr name="AutoShape 11" id="11"/>
          <p:cNvSpPr/>
          <p:nvPr/>
        </p:nvSpPr>
        <p:spPr>
          <a:xfrm flipV="true">
            <a:off x="9628257" y="-22368"/>
            <a:ext cx="0" cy="10309368"/>
          </a:xfrm>
          <a:prstGeom prst="line">
            <a:avLst/>
          </a:prstGeom>
          <a:ln cap="flat" w="123825">
            <a:solidFill>
              <a:srgbClr val="FA632A"/>
            </a:solidFill>
            <a:prstDash val="solid"/>
            <a:headEnd type="none" len="sm" w="sm"/>
            <a:tailEnd type="none" len="sm" w="sm"/>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645383" y="3210925"/>
          <a:ext cx="7315200" cy="5505450"/>
        </p:xfrm>
        <a:graphic>
          <a:graphicData uri="http://schemas.openxmlformats.org/drawingml/2006/table">
            <a:tbl>
              <a:tblPr/>
              <a:tblGrid>
                <a:gridCol w="1045029"/>
                <a:gridCol w="1045029"/>
                <a:gridCol w="1045029"/>
                <a:gridCol w="1045029"/>
                <a:gridCol w="1045029"/>
                <a:gridCol w="1045029"/>
                <a:gridCol w="1045029"/>
              </a:tblGrid>
              <a:tr h="821994">
                <a:tc gridSpan="7">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ANOVA</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701337">
                <a:tc gridSpan="2">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Modelo</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hMerge="true">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Modelo</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Suma de cuadrados</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grados de libertad</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Cuadrados Medios</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F</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Times New Roman MT Bold"/>
                          <a:ea typeface="Times New Roman MT Bold"/>
                          <a:cs typeface="Times New Roman MT Bold"/>
                          <a:sym typeface="Times New Roman MT Bold"/>
                        </a:rPr>
                        <a:t>Sig.</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94040">
                <a:tc rowSpan="3">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Regresión</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32390283,108</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32390283,108</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426,970</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0,000b</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94040">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Residuo</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59550658,418</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785</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75860,711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94040">
                <a:tc vMerge="true">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1</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Total</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91940941,526</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786</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Times New Roman MT"/>
                          <a:ea typeface="Times New Roman MT"/>
                          <a:cs typeface="Times New Roman MT"/>
                          <a:sym typeface="Times New Roman MT"/>
                        </a:rPr>
                        <a:t> </a:t>
                      </a: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800"/>
                        </a:lnSpc>
                        <a:defRPr/>
                      </a:pPr>
                      <a:endParaRPr lang="en-US" sz="1100"/>
                    </a:p>
                  </a:txBody>
                  <a:tcPr marL="114300" marR="114300" marT="114300" marB="1143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8651762" y="0"/>
            <a:ext cx="9636238" cy="5685380"/>
          </a:xfrm>
          <a:custGeom>
            <a:avLst/>
            <a:gdLst/>
            <a:ahLst/>
            <a:cxnLst/>
            <a:rect r="r" b="b" t="t" l="l"/>
            <a:pathLst>
              <a:path h="5685380" w="9636238">
                <a:moveTo>
                  <a:pt x="0" y="0"/>
                </a:moveTo>
                <a:lnTo>
                  <a:pt x="9636238" y="0"/>
                </a:lnTo>
                <a:lnTo>
                  <a:pt x="9636238" y="5685380"/>
                </a:lnTo>
                <a:lnTo>
                  <a:pt x="0" y="5685380"/>
                </a:lnTo>
                <a:lnTo>
                  <a:pt x="0" y="0"/>
                </a:lnTo>
                <a:close/>
              </a:path>
            </a:pathLst>
          </a:custGeom>
          <a:blipFill>
            <a:blip r:embed="rId2"/>
            <a:stretch>
              <a:fillRect l="0" t="0" r="0" b="0"/>
            </a:stretch>
          </a:blipFill>
        </p:spPr>
      </p:sp>
      <p:sp>
        <p:nvSpPr>
          <p:cNvPr name="TextBox 4" id="4"/>
          <p:cNvSpPr txBox="true"/>
          <p:nvPr/>
        </p:nvSpPr>
        <p:spPr>
          <a:xfrm rot="0">
            <a:off x="365237" y="294010"/>
            <a:ext cx="7875491" cy="1038225"/>
          </a:xfrm>
          <a:prstGeom prst="rect">
            <a:avLst/>
          </a:prstGeom>
        </p:spPr>
        <p:txBody>
          <a:bodyPr anchor="t" rtlCol="false" tIns="0" lIns="0" bIns="0" rIns="0">
            <a:spAutoFit/>
          </a:bodyPr>
          <a:lstStyle/>
          <a:p>
            <a:pPr algn="l">
              <a:lnSpc>
                <a:spcPts val="7200"/>
              </a:lnSpc>
            </a:pPr>
            <a:r>
              <a:rPr lang="en-US" sz="6000" b="true">
                <a:solidFill>
                  <a:srgbClr val="14110F"/>
                </a:solidFill>
                <a:latin typeface="Times New Roman MT Bold"/>
                <a:ea typeface="Times New Roman MT Bold"/>
                <a:cs typeface="Times New Roman MT Bold"/>
                <a:sym typeface="Times New Roman MT Bold"/>
              </a:rPr>
              <a:t>Homocedasticidad</a:t>
            </a:r>
          </a:p>
        </p:txBody>
      </p:sp>
      <p:sp>
        <p:nvSpPr>
          <p:cNvPr name="AutoShape 5" id="5"/>
          <p:cNvSpPr/>
          <p:nvPr/>
        </p:nvSpPr>
        <p:spPr>
          <a:xfrm>
            <a:off x="-542035" y="1313185"/>
            <a:ext cx="8065175" cy="0"/>
          </a:xfrm>
          <a:prstGeom prst="line">
            <a:avLst/>
          </a:prstGeom>
          <a:ln cap="flat" w="38100">
            <a:solidFill>
              <a:srgbClr val="FA632A"/>
            </a:solidFill>
            <a:prstDash val="solid"/>
            <a:headEnd type="none" len="sm" w="sm"/>
            <a:tailEnd type="none" len="sm" w="sm"/>
          </a:ln>
        </p:spPr>
      </p:sp>
      <p:sp>
        <p:nvSpPr>
          <p:cNvPr name="Freeform 6" id="6"/>
          <p:cNvSpPr/>
          <p:nvPr/>
        </p:nvSpPr>
        <p:spPr>
          <a:xfrm flipH="false" flipV="false" rot="0">
            <a:off x="365237" y="1710060"/>
            <a:ext cx="1189922" cy="1235805"/>
          </a:xfrm>
          <a:custGeom>
            <a:avLst/>
            <a:gdLst/>
            <a:ahLst/>
            <a:cxnLst/>
            <a:rect r="r" b="b" t="t" l="l"/>
            <a:pathLst>
              <a:path h="1235805" w="1189922">
                <a:moveTo>
                  <a:pt x="0" y="0"/>
                </a:moveTo>
                <a:lnTo>
                  <a:pt x="1189922" y="0"/>
                </a:lnTo>
                <a:lnTo>
                  <a:pt x="1189922" y="1235805"/>
                </a:lnTo>
                <a:lnTo>
                  <a:pt x="0" y="12358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flipV="true">
            <a:off x="8446245" y="-22368"/>
            <a:ext cx="0" cy="10309368"/>
          </a:xfrm>
          <a:prstGeom prst="line">
            <a:avLst/>
          </a:prstGeom>
          <a:ln cap="flat" w="123825">
            <a:solidFill>
              <a:srgbClr val="FA632A"/>
            </a:solidFill>
            <a:prstDash val="solid"/>
            <a:headEnd type="none" len="sm" w="sm"/>
            <a:tailEnd type="none" len="sm" w="sm"/>
          </a:ln>
        </p:spPr>
      </p:sp>
      <p:sp>
        <p:nvSpPr>
          <p:cNvPr name="AutoShape 8" id="8"/>
          <p:cNvSpPr/>
          <p:nvPr/>
        </p:nvSpPr>
        <p:spPr>
          <a:xfrm>
            <a:off x="8446190" y="5713955"/>
            <a:ext cx="9841755" cy="19050"/>
          </a:xfrm>
          <a:prstGeom prst="line">
            <a:avLst/>
          </a:prstGeom>
          <a:ln cap="flat" w="57150">
            <a:solidFill>
              <a:srgbClr val="FA632A"/>
            </a:solidFill>
            <a:prstDash val="lgDash"/>
            <a:headEnd type="none" len="sm" w="sm"/>
            <a:tailEnd type="none" len="sm" w="sm"/>
          </a:ln>
        </p:spPr>
      </p:sp>
      <p:sp>
        <p:nvSpPr>
          <p:cNvPr name="Freeform 9" id="9"/>
          <p:cNvSpPr/>
          <p:nvPr/>
        </p:nvSpPr>
        <p:spPr>
          <a:xfrm flipH="false" flipV="false" rot="0">
            <a:off x="8557008" y="-21018"/>
            <a:ext cx="9676765" cy="5706398"/>
          </a:xfrm>
          <a:custGeom>
            <a:avLst/>
            <a:gdLst/>
            <a:ahLst/>
            <a:cxnLst/>
            <a:rect r="r" b="b" t="t" l="l"/>
            <a:pathLst>
              <a:path h="5706398" w="9676765">
                <a:moveTo>
                  <a:pt x="0" y="0"/>
                </a:moveTo>
                <a:lnTo>
                  <a:pt x="9676765" y="0"/>
                </a:lnTo>
                <a:lnTo>
                  <a:pt x="9676765" y="5706398"/>
                </a:lnTo>
                <a:lnTo>
                  <a:pt x="0" y="5706398"/>
                </a:lnTo>
                <a:lnTo>
                  <a:pt x="0" y="0"/>
                </a:lnTo>
                <a:close/>
              </a:path>
            </a:pathLst>
          </a:custGeom>
          <a:blipFill>
            <a:blip r:embed="rId5"/>
            <a:stretch>
              <a:fillRect l="0" t="0" r="0" b="0"/>
            </a:stretch>
          </a:blipFill>
        </p:spPr>
      </p:sp>
      <p:sp>
        <p:nvSpPr>
          <p:cNvPr name="TextBox 10" id="10"/>
          <p:cNvSpPr txBox="true"/>
          <p:nvPr/>
        </p:nvSpPr>
        <p:spPr>
          <a:xfrm rot="0">
            <a:off x="1555159" y="1913307"/>
            <a:ext cx="4538269" cy="762635"/>
          </a:xfrm>
          <a:prstGeom prst="rect">
            <a:avLst/>
          </a:prstGeom>
        </p:spPr>
        <p:txBody>
          <a:bodyPr anchor="t" rtlCol="false" tIns="0" lIns="0" bIns="0" rIns="0">
            <a:spAutoFit/>
          </a:bodyPr>
          <a:lstStyle/>
          <a:p>
            <a:pPr algn="ctr">
              <a:lnSpc>
                <a:spcPts val="2860"/>
              </a:lnSpc>
              <a:spcBef>
                <a:spcPct val="0"/>
              </a:spcBef>
            </a:pPr>
            <a:r>
              <a:rPr lang="en-US" b="true" sz="2200">
                <a:solidFill>
                  <a:srgbClr val="14110F"/>
                </a:solidFill>
                <a:latin typeface="Times New Roman MT Bold"/>
                <a:ea typeface="Times New Roman MT Bold"/>
                <a:cs typeface="Times New Roman MT Bold"/>
                <a:sym typeface="Times New Roman MT Bold"/>
              </a:rPr>
              <a:t>Para comprobar la Homocedasticidad es necesario la tabla ANOVA</a:t>
            </a:r>
          </a:p>
        </p:txBody>
      </p:sp>
      <p:sp>
        <p:nvSpPr>
          <p:cNvPr name="TextBox 11" id="11"/>
          <p:cNvSpPr txBox="true"/>
          <p:nvPr/>
        </p:nvSpPr>
        <p:spPr>
          <a:xfrm rot="0">
            <a:off x="9496664" y="6046265"/>
            <a:ext cx="7946434" cy="3996627"/>
          </a:xfrm>
          <a:prstGeom prst="rect">
            <a:avLst/>
          </a:prstGeom>
        </p:spPr>
        <p:txBody>
          <a:bodyPr anchor="t" rtlCol="false" tIns="0" lIns="0" bIns="0" rIns="0">
            <a:spAutoFit/>
          </a:bodyPr>
          <a:lstStyle/>
          <a:p>
            <a:pPr algn="ctr">
              <a:lnSpc>
                <a:spcPts val="2626"/>
              </a:lnSpc>
              <a:spcBef>
                <a:spcPct val="0"/>
              </a:spcBef>
            </a:pPr>
            <a:r>
              <a:rPr lang="en-US" b="true" sz="2020">
                <a:solidFill>
                  <a:srgbClr val="14110F"/>
                </a:solidFill>
                <a:latin typeface="Times New Roman MT Bold"/>
                <a:ea typeface="Times New Roman MT Bold"/>
                <a:cs typeface="Times New Roman MT Bold"/>
                <a:sym typeface="Times New Roman MT Bold"/>
              </a:rPr>
              <a:t>X: Residuos estandarizados </a:t>
            </a:r>
          </a:p>
          <a:p>
            <a:pPr algn="ctr">
              <a:lnSpc>
                <a:spcPts val="2626"/>
              </a:lnSpc>
              <a:spcBef>
                <a:spcPct val="0"/>
              </a:spcBef>
            </a:pPr>
          </a:p>
          <a:p>
            <a:pPr algn="ctr">
              <a:lnSpc>
                <a:spcPts val="2626"/>
              </a:lnSpc>
              <a:spcBef>
                <a:spcPct val="0"/>
              </a:spcBef>
            </a:pPr>
            <a:r>
              <a:rPr lang="en-US" sz="2020">
                <a:solidFill>
                  <a:srgbClr val="14110F"/>
                </a:solidFill>
                <a:latin typeface="Times New Roman MT"/>
                <a:ea typeface="Times New Roman MT"/>
                <a:cs typeface="Times New Roman MT"/>
                <a:sym typeface="Times New Roman MT"/>
              </a:rPr>
              <a:t>Ho: las varianzas de los residuos son iguales </a:t>
            </a:r>
          </a:p>
          <a:p>
            <a:pPr algn="ctr">
              <a:lnSpc>
                <a:spcPts val="2626"/>
              </a:lnSpc>
              <a:spcBef>
                <a:spcPct val="0"/>
              </a:spcBef>
            </a:pPr>
            <a:r>
              <a:rPr lang="en-US" sz="2020">
                <a:solidFill>
                  <a:srgbClr val="14110F"/>
                </a:solidFill>
                <a:latin typeface="Times New Roman MT"/>
                <a:ea typeface="Times New Roman MT"/>
                <a:cs typeface="Times New Roman MT"/>
                <a:sym typeface="Times New Roman MT"/>
              </a:rPr>
              <a:t>H1: las varianzas de los residuos son diferentes</a:t>
            </a:r>
          </a:p>
          <a:p>
            <a:pPr algn="ctr">
              <a:lnSpc>
                <a:spcPts val="2626"/>
              </a:lnSpc>
              <a:spcBef>
                <a:spcPct val="0"/>
              </a:spcBef>
            </a:pPr>
            <a:r>
              <a:rPr lang="en-US" sz="2020">
                <a:solidFill>
                  <a:srgbClr val="14110F"/>
                </a:solidFill>
                <a:latin typeface="Times New Roman MT"/>
                <a:ea typeface="Times New Roman MT"/>
                <a:cs typeface="Times New Roman MT"/>
                <a:sym typeface="Times New Roman MT"/>
              </a:rPr>
              <a:t>α = 0,05 </a:t>
            </a:r>
          </a:p>
          <a:p>
            <a:pPr algn="ctr">
              <a:lnSpc>
                <a:spcPts val="2626"/>
              </a:lnSpc>
              <a:spcBef>
                <a:spcPct val="0"/>
              </a:spcBef>
            </a:pPr>
            <a:r>
              <a:rPr lang="en-US" sz="2020">
                <a:solidFill>
                  <a:srgbClr val="14110F"/>
                </a:solidFill>
                <a:latin typeface="Times New Roman MT"/>
                <a:ea typeface="Times New Roman MT"/>
                <a:cs typeface="Times New Roman MT"/>
                <a:sym typeface="Times New Roman MT"/>
              </a:rPr>
              <a:t> Se rechaza Ho sii: </a:t>
            </a:r>
          </a:p>
          <a:p>
            <a:pPr algn="ctr">
              <a:lnSpc>
                <a:spcPts val="2626"/>
              </a:lnSpc>
              <a:spcBef>
                <a:spcPct val="0"/>
              </a:spcBef>
            </a:pPr>
            <a:r>
              <a:rPr lang="en-US" sz="2020">
                <a:solidFill>
                  <a:srgbClr val="14110F"/>
                </a:solidFill>
                <a:latin typeface="Times New Roman MT"/>
                <a:ea typeface="Times New Roman MT"/>
                <a:cs typeface="Times New Roman MT"/>
                <a:sym typeface="Times New Roman MT"/>
              </a:rPr>
              <a:t>P-valor &lt; α </a:t>
            </a:r>
          </a:p>
          <a:p>
            <a:pPr algn="ctr">
              <a:lnSpc>
                <a:spcPts val="2626"/>
              </a:lnSpc>
              <a:spcBef>
                <a:spcPct val="0"/>
              </a:spcBef>
            </a:pPr>
          </a:p>
          <a:p>
            <a:pPr algn="ctr">
              <a:lnSpc>
                <a:spcPts val="2626"/>
              </a:lnSpc>
              <a:spcBef>
                <a:spcPct val="0"/>
              </a:spcBef>
            </a:pPr>
            <a:r>
              <a:rPr lang="en-US" sz="2020">
                <a:solidFill>
                  <a:srgbClr val="14110F"/>
                </a:solidFill>
                <a:latin typeface="Times New Roman MT"/>
                <a:ea typeface="Times New Roman MT"/>
                <a:cs typeface="Times New Roman MT"/>
                <a:sym typeface="Times New Roman MT"/>
              </a:rPr>
              <a:t>Ya que el P-valor es menor que el nivel de significación con un nivel de significación de 5% se rechaza que la varianza de los residuos son iguales, es decir, no se cumple el supuesto de homocedasticidad.</a:t>
            </a:r>
          </a:p>
          <a:p>
            <a:pPr algn="ctr">
              <a:lnSpc>
                <a:spcPts val="2626"/>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3600450"/>
            <a:ext cx="16230600" cy="3977262"/>
            <a:chOff x="0" y="0"/>
            <a:chExt cx="4274726" cy="1047509"/>
          </a:xfrm>
        </p:grpSpPr>
        <p:sp>
          <p:nvSpPr>
            <p:cNvPr name="Freeform 3" id="3"/>
            <p:cNvSpPr/>
            <p:nvPr/>
          </p:nvSpPr>
          <p:spPr>
            <a:xfrm flipH="false" flipV="false" rot="0">
              <a:off x="0" y="0"/>
              <a:ext cx="4274726" cy="1047509"/>
            </a:xfrm>
            <a:custGeom>
              <a:avLst/>
              <a:gdLst/>
              <a:ahLst/>
              <a:cxnLst/>
              <a:rect r="r" b="b" t="t" l="l"/>
              <a:pathLst>
                <a:path h="1047509" w="4274726">
                  <a:moveTo>
                    <a:pt x="6201" y="0"/>
                  </a:moveTo>
                  <a:lnTo>
                    <a:pt x="4268525" y="0"/>
                  </a:lnTo>
                  <a:cubicBezTo>
                    <a:pt x="4271950" y="0"/>
                    <a:pt x="4274726" y="2776"/>
                    <a:pt x="4274726" y="6201"/>
                  </a:cubicBezTo>
                  <a:lnTo>
                    <a:pt x="4274726" y="1041308"/>
                  </a:lnTo>
                  <a:cubicBezTo>
                    <a:pt x="4274726" y="1044733"/>
                    <a:pt x="4271950" y="1047509"/>
                    <a:pt x="4268525" y="1047509"/>
                  </a:cubicBezTo>
                  <a:lnTo>
                    <a:pt x="6201" y="1047509"/>
                  </a:lnTo>
                  <a:cubicBezTo>
                    <a:pt x="4556" y="1047509"/>
                    <a:pt x="2979" y="1046856"/>
                    <a:pt x="1816" y="1045693"/>
                  </a:cubicBezTo>
                  <a:cubicBezTo>
                    <a:pt x="653" y="1044530"/>
                    <a:pt x="0" y="1042953"/>
                    <a:pt x="0" y="1041308"/>
                  </a:cubicBezTo>
                  <a:lnTo>
                    <a:pt x="0" y="6201"/>
                  </a:lnTo>
                  <a:cubicBezTo>
                    <a:pt x="0" y="4556"/>
                    <a:pt x="653" y="2979"/>
                    <a:pt x="1816" y="1816"/>
                  </a:cubicBezTo>
                  <a:cubicBezTo>
                    <a:pt x="2979" y="653"/>
                    <a:pt x="4556" y="0"/>
                    <a:pt x="6201" y="0"/>
                  </a:cubicBezTo>
                  <a:close/>
                </a:path>
              </a:pathLst>
            </a:custGeom>
            <a:ln w="38100" cap="sq">
              <a:solidFill>
                <a:srgbClr val="000000"/>
              </a:solidFill>
              <a:prstDash val="solid"/>
              <a:miter/>
            </a:ln>
          </p:spPr>
        </p:sp>
        <p:sp>
          <p:nvSpPr>
            <p:cNvPr name="TextBox 4" id="4"/>
            <p:cNvSpPr txBox="true"/>
            <p:nvPr/>
          </p:nvSpPr>
          <p:spPr>
            <a:xfrm>
              <a:off x="0" y="-66675"/>
              <a:ext cx="4274726" cy="1114184"/>
            </a:xfrm>
            <a:prstGeom prst="rect">
              <a:avLst/>
            </a:prstGeom>
          </p:spPr>
          <p:txBody>
            <a:bodyPr anchor="ctr" rtlCol="false" tIns="50800" lIns="50800" bIns="50800" rIns="50800"/>
            <a:lstStyle/>
            <a:p>
              <a:pPr algn="ctr">
                <a:lnSpc>
                  <a:spcPts val="2886"/>
                </a:lnSpc>
              </a:pPr>
            </a:p>
          </p:txBody>
        </p:sp>
      </p:grpSp>
      <p:sp>
        <p:nvSpPr>
          <p:cNvPr name="TextBox 5" id="5"/>
          <p:cNvSpPr txBox="true"/>
          <p:nvPr/>
        </p:nvSpPr>
        <p:spPr>
          <a:xfrm rot="0">
            <a:off x="9139238" y="4819650"/>
            <a:ext cx="9525" cy="552450"/>
          </a:xfrm>
          <a:prstGeom prst="rect">
            <a:avLst/>
          </a:prstGeom>
        </p:spPr>
        <p:txBody>
          <a:bodyPr anchor="t" rtlCol="false" tIns="0" lIns="0" bIns="0" rIns="0">
            <a:spAutoFit/>
          </a:bodyPr>
          <a:lstStyle/>
          <a:p>
            <a:pPr algn="ctr">
              <a:lnSpc>
                <a:spcPts val="3900"/>
              </a:lnSpc>
              <a:spcBef>
                <a:spcPct val="0"/>
              </a:spcBef>
            </a:pPr>
          </a:p>
        </p:txBody>
      </p:sp>
      <p:sp>
        <p:nvSpPr>
          <p:cNvPr name="TextBox 6" id="6"/>
          <p:cNvSpPr txBox="true"/>
          <p:nvPr/>
        </p:nvSpPr>
        <p:spPr>
          <a:xfrm rot="0">
            <a:off x="511948" y="9295"/>
            <a:ext cx="7235295" cy="1753061"/>
          </a:xfrm>
          <a:prstGeom prst="rect">
            <a:avLst/>
          </a:prstGeom>
        </p:spPr>
        <p:txBody>
          <a:bodyPr anchor="t" rtlCol="false" tIns="0" lIns="0" bIns="0" rIns="0">
            <a:spAutoFit/>
          </a:bodyPr>
          <a:lstStyle/>
          <a:p>
            <a:pPr algn="ctr">
              <a:lnSpc>
                <a:spcPts val="12516"/>
              </a:lnSpc>
              <a:spcBef>
                <a:spcPct val="0"/>
              </a:spcBef>
            </a:pPr>
            <a:r>
              <a:rPr lang="en-US" sz="9628">
                <a:solidFill>
                  <a:srgbClr val="000000"/>
                </a:solidFill>
                <a:latin typeface="Times New Roman MT"/>
                <a:ea typeface="Times New Roman MT"/>
                <a:cs typeface="Times New Roman MT"/>
                <a:sym typeface="Times New Roman MT"/>
              </a:rPr>
              <a:t>Conclusiones </a:t>
            </a:r>
          </a:p>
        </p:txBody>
      </p:sp>
      <p:sp>
        <p:nvSpPr>
          <p:cNvPr name="TextBox 7" id="7"/>
          <p:cNvSpPr txBox="true"/>
          <p:nvPr/>
        </p:nvSpPr>
        <p:spPr>
          <a:xfrm rot="0">
            <a:off x="1331173" y="3806077"/>
            <a:ext cx="15616129" cy="3524250"/>
          </a:xfrm>
          <a:prstGeom prst="rect">
            <a:avLst/>
          </a:prstGeom>
        </p:spPr>
        <p:txBody>
          <a:bodyPr anchor="t" rtlCol="false" tIns="0" lIns="0" bIns="0" rIns="0">
            <a:spAutoFit/>
          </a:bodyPr>
          <a:lstStyle/>
          <a:p>
            <a:pPr algn="just">
              <a:lnSpc>
                <a:spcPts val="3900"/>
              </a:lnSpc>
              <a:spcBef>
                <a:spcPct val="0"/>
              </a:spcBef>
            </a:pPr>
            <a:r>
              <a:rPr lang="en-US" sz="3000">
                <a:solidFill>
                  <a:srgbClr val="000000"/>
                </a:solidFill>
                <a:latin typeface="Times New Roman MT"/>
                <a:ea typeface="Times New Roman MT"/>
                <a:cs typeface="Times New Roman MT"/>
                <a:sym typeface="Times New Roman MT"/>
              </a:rPr>
              <a:t>Tras concluir la investigación para la muestra que se seleccionó para este estudio, se llevó a cabo un modelo de regresión lineal bivariante, usando como variable dependiente  la variable precio en USD y variable independiente los Ghz del procesador, se llegó a la conclusión de que existe una corelación positiva moderada entre dichas variables, por lo que mientras una crece la otra tambien lo hace, sin embargo el modelo no es óptimo ya que no cumple todos los supuestos para la predicción. Por lo que se recomienda aplicar técnicas estadísticas más avanzadas para hacer un modelo más ajustado a la realidad </a:t>
            </a:r>
          </a:p>
        </p:txBody>
      </p:sp>
      <p:sp>
        <p:nvSpPr>
          <p:cNvPr name="AutoShape 8" id="8"/>
          <p:cNvSpPr/>
          <p:nvPr/>
        </p:nvSpPr>
        <p:spPr>
          <a:xfrm>
            <a:off x="-369228" y="1762355"/>
            <a:ext cx="18657228" cy="0"/>
          </a:xfrm>
          <a:prstGeom prst="line">
            <a:avLst/>
          </a:prstGeom>
          <a:ln cap="flat" w="133350">
            <a:solidFill>
              <a:srgbClr val="FA632A"/>
            </a:solidFill>
            <a:prstDash val="solid"/>
            <a:headEnd type="none" len="sm" w="sm"/>
            <a:tailEnd type="none" len="sm" w="sm"/>
          </a:ln>
        </p:spPr>
      </p:sp>
      <p:sp>
        <p:nvSpPr>
          <p:cNvPr name="TextBox 9" id="9"/>
          <p:cNvSpPr txBox="true"/>
          <p:nvPr/>
        </p:nvSpPr>
        <p:spPr>
          <a:xfrm rot="0">
            <a:off x="12327932" y="3080513"/>
            <a:ext cx="1648844" cy="454025"/>
          </a:xfrm>
          <a:prstGeom prst="rect">
            <a:avLst/>
          </a:prstGeom>
        </p:spPr>
        <p:txBody>
          <a:bodyPr anchor="t" rtlCol="false" tIns="0" lIns="0" bIns="0" rIns="0">
            <a:spAutoFit/>
          </a:bodyPr>
          <a:lstStyle/>
          <a:p>
            <a:pPr algn="ctr" marL="0" indent="0" lvl="0">
              <a:lnSpc>
                <a:spcPts val="3249"/>
              </a:lnSpc>
              <a:spcBef>
                <a:spcPct val="0"/>
              </a:spcBef>
            </a:pPr>
            <a:r>
              <a:rPr lang="en-US" sz="2499" u="none">
                <a:solidFill>
                  <a:srgbClr val="FFFFFF"/>
                </a:solidFill>
                <a:latin typeface="Times New Roman MT"/>
                <a:ea typeface="Times New Roman MT"/>
                <a:cs typeface="Times New Roman MT"/>
                <a:sym typeface="Times New Roman MT"/>
              </a:rPr>
              <a:t>MONTH 3</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two people in a boxing ring at night"/>
          <p:cNvSpPr/>
          <p:nvPr/>
        </p:nvSpPr>
        <p:spPr>
          <a:xfrm flipH="false" flipV="false" rot="0">
            <a:off x="271999" y="271999"/>
            <a:ext cx="7908899" cy="9743002"/>
          </a:xfrm>
          <a:custGeom>
            <a:avLst/>
            <a:gdLst/>
            <a:ahLst/>
            <a:cxnLst/>
            <a:rect r="r" b="b" t="t" l="l"/>
            <a:pathLst>
              <a:path h="9743002" w="7908899">
                <a:moveTo>
                  <a:pt x="0" y="0"/>
                </a:moveTo>
                <a:lnTo>
                  <a:pt x="7908899" y="0"/>
                </a:lnTo>
                <a:lnTo>
                  <a:pt x="7908899" y="9743002"/>
                </a:lnTo>
                <a:lnTo>
                  <a:pt x="0" y="9743002"/>
                </a:lnTo>
                <a:lnTo>
                  <a:pt x="0" y="0"/>
                </a:lnTo>
                <a:close/>
              </a:path>
            </a:pathLst>
          </a:custGeom>
          <a:blipFill>
            <a:blip r:embed="rId2"/>
            <a:stretch>
              <a:fillRect l="-92920" t="-2299" r="0" b="-2299"/>
            </a:stretch>
          </a:blipFill>
        </p:spPr>
      </p:sp>
      <p:grpSp>
        <p:nvGrpSpPr>
          <p:cNvPr name="Group 3" id="3"/>
          <p:cNvGrpSpPr/>
          <p:nvPr/>
        </p:nvGrpSpPr>
        <p:grpSpPr>
          <a:xfrm rot="0">
            <a:off x="9256123" y="3251323"/>
            <a:ext cx="8384422" cy="3523098"/>
            <a:chOff x="0" y="0"/>
            <a:chExt cx="11179230" cy="4697464"/>
          </a:xfrm>
        </p:grpSpPr>
        <p:sp>
          <p:nvSpPr>
            <p:cNvPr name="TextBox 4" id="4"/>
            <p:cNvSpPr txBox="true"/>
            <p:nvPr/>
          </p:nvSpPr>
          <p:spPr>
            <a:xfrm rot="0">
              <a:off x="161667" y="-180975"/>
              <a:ext cx="10356836" cy="2009775"/>
            </a:xfrm>
            <a:prstGeom prst="rect">
              <a:avLst/>
            </a:prstGeom>
          </p:spPr>
          <p:txBody>
            <a:bodyPr anchor="t" rtlCol="false" tIns="0" lIns="0" bIns="0" rIns="0">
              <a:spAutoFit/>
            </a:bodyPr>
            <a:lstStyle/>
            <a:p>
              <a:pPr algn="l">
                <a:lnSpc>
                  <a:spcPts val="10800"/>
                </a:lnSpc>
              </a:pPr>
              <a:r>
                <a:rPr lang="en-US" sz="9000">
                  <a:solidFill>
                    <a:srgbClr val="191919"/>
                  </a:solidFill>
                  <a:latin typeface="Times New Roman MT"/>
                  <a:ea typeface="Times New Roman MT"/>
                  <a:cs typeface="Times New Roman MT"/>
                  <a:sym typeface="Times New Roman MT"/>
                </a:rPr>
                <a:t>Thank you!</a:t>
              </a:r>
            </a:p>
          </p:txBody>
        </p:sp>
        <p:sp>
          <p:nvSpPr>
            <p:cNvPr name="TextBox 5" id="5"/>
            <p:cNvSpPr txBox="true"/>
            <p:nvPr/>
          </p:nvSpPr>
          <p:spPr>
            <a:xfrm rot="0">
              <a:off x="161667" y="2671814"/>
              <a:ext cx="10356836" cy="2025650"/>
            </a:xfrm>
            <a:prstGeom prst="rect">
              <a:avLst/>
            </a:prstGeom>
          </p:spPr>
          <p:txBody>
            <a:bodyPr anchor="t" rtlCol="false" tIns="0" lIns="0" bIns="0" rIns="0">
              <a:spAutoFit/>
            </a:bodyPr>
            <a:lstStyle/>
            <a:p>
              <a:pPr algn="l">
                <a:lnSpc>
                  <a:spcPts val="3900"/>
                </a:lnSpc>
              </a:pPr>
              <a:r>
                <a:rPr lang="en-US" sz="3000">
                  <a:solidFill>
                    <a:srgbClr val="191919"/>
                  </a:solidFill>
                  <a:latin typeface="Times New Roman MT"/>
                  <a:ea typeface="Times New Roman MT"/>
                  <a:cs typeface="Times New Roman MT"/>
                  <a:sym typeface="Times New Roman MT"/>
                </a:rPr>
                <a:t>Thank you for watching my exhibition beautiful little friends of mine and those who don't like it too</a:t>
              </a:r>
            </a:p>
          </p:txBody>
        </p:sp>
        <p:sp>
          <p:nvSpPr>
            <p:cNvPr name="AutoShape 6" id="6"/>
            <p:cNvSpPr/>
            <p:nvPr/>
          </p:nvSpPr>
          <p:spPr>
            <a:xfrm>
              <a:off x="0" y="2249853"/>
              <a:ext cx="11179230" cy="0"/>
            </a:xfrm>
            <a:prstGeom prst="line">
              <a:avLst/>
            </a:prstGeom>
            <a:ln cap="flat" w="139700">
              <a:solidFill>
                <a:srgbClr val="FA632A"/>
              </a:solidFill>
              <a:prstDash val="solid"/>
              <a:headEnd type="none" len="sm" w="sm"/>
              <a:tailEnd type="none" len="sm" w="sm"/>
            </a:ln>
          </p:spPr>
        </p:sp>
      </p:grpSp>
      <p:sp>
        <p:nvSpPr>
          <p:cNvPr name="Freeform 7" id="7"/>
          <p:cNvSpPr/>
          <p:nvPr/>
        </p:nvSpPr>
        <p:spPr>
          <a:xfrm flipH="false" flipV="false" rot="0">
            <a:off x="11788417" y="6992710"/>
            <a:ext cx="2415305" cy="2415305"/>
          </a:xfrm>
          <a:custGeom>
            <a:avLst/>
            <a:gdLst/>
            <a:ahLst/>
            <a:cxnLst/>
            <a:rect r="r" b="b" t="t" l="l"/>
            <a:pathLst>
              <a:path h="2415305" w="2415305">
                <a:moveTo>
                  <a:pt x="0" y="0"/>
                </a:moveTo>
                <a:lnTo>
                  <a:pt x="2415305" y="0"/>
                </a:lnTo>
                <a:lnTo>
                  <a:pt x="2415305" y="2415306"/>
                </a:lnTo>
                <a:lnTo>
                  <a:pt x="0" y="2415306"/>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DAGg0EUmqNc</dc:identifier>
  <dcterms:modified xsi:type="dcterms:W3CDTF">2011-08-01T06:04:30Z</dcterms:modified>
  <cp:revision>1</cp:revision>
  <dc:title>Re</dc:title>
</cp:coreProperties>
</file>